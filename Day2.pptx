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28"/>
  </p:normalViewPr>
  <p:slideViewPr>
    <p:cSldViewPr snapToGrid="0">
      <p:cViewPr varScale="1">
        <p:scale>
          <a:sx n="114" d="100"/>
          <a:sy n="114" d="100"/>
        </p:scale>
        <p:origin x="6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Welcome to Day 2 of the AI Coding Workshop. Yesterday, we worked with tools and a prototype. Today, we turn the first useful feature into a web application. Our small product is SmartLearn Lite. A student uploads a PDF, asks a question, receives an answer, and checks the answer against a page in the source. I will spend about one hour giving you the map. After that, the teaching assistants will guide the hands-on work. You do not need to memorize code from the slides. Your goal is to understand how the pieces connect, so that when something works or fails in the lab, you know where to look.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one simple user journey in mind for the whole day. First, a user sends a request. Second, the system preserves evidence from the PDF. Third, React turns results and errors into visible interface states. Fourth, deployment makes the same flow available through public URLs. These are not four separate mini-projects. They are four pieces of one product.</a:t>
            </a:r>
          </a:p>
          <a:p>
            <a:endParaRPr/>
          </a:p>
          <a:p>
            <a:r>
              <a:t>The same chat_id connects upload and chat. The same API contract connects the backend and the frontend. Deployment changes where the services live, but it does not change the logic of the requests. During this briefing, we will predict what should happen at each connection. During the labs, you will prove that it happened by using Swagger, browser Network, the source PDF, and a peer test. If you can explain the connection and show evidence, you understand the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page connects today to the four-day project. Day 1 gave us tools, requirements, and a prototype. Day 2 adds a real backend, a real React interface, and a simple deployment path. We deliberately use full text in the prompt because our classroom documents are small. On Day 3, we will replace that simple approach with retrieval, embeddings, and FAISS. The important point is that today is the first complete vertical slice: backend endpoints, visible UI state, and a handoff that another person can reproduce. You can return to this page later if you want to see where today fits in the larger project.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By the end of Day 2, you should be able to prove four things. First, the backend reads the PDF as page-numbered text. Second, the system answers a question using that document. Third, the answer includes page evidence and stops honestly when the document does not support a claim. Fourth, another student can understand and run what you built. Notice that these are observable outcomes, not claims about effort. If deployment is blocked, record the real blocker. If a feature works only on your computer, it is not yet a peer handoff. Progress is clear when another person can see exactly what happened.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structure of the day. From nine thirty to ten thirty, we build one shared mental model. We will follow the complete flow from request to evidence, then to React state, and finally to delivery. From ten forty to twelve fifteen, Lab A builds the backend request and evidence path. You will use Swagger and page tags as proof. From two o'clock to three fifteen, Lab B connects React state to the same API contract. You will use browser Network and the visible UI as proof. From three fifteen to five fifteen, Lab C prepares the pull request, deploys the two services, connects CORS, and asks a peer to test the public flow.</a:t>
            </a:r>
          </a:p>
          <a:p>
            <a:endParaRPr/>
          </a:p>
          <a:p>
            <a:r>
              <a:t>The sequence matters. First understand. Then build the backend. Then connect the UI. Then make the same product public. Each lab reuses the result of the previous one, so do not treat the sessions as independent exercises.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write code, we need a clear boundary. The full SmartLearn project contains authentication, server-sent events, retrieval, Redis, and a database. Those features show where the product can grow, but they are not today's assignment. If we copy them now, we create too many variables and make debugging harder.</a:t>
            </a:r>
          </a:p>
          <a:p>
            <a:endParaRPr/>
          </a:p>
          <a:p>
            <a:r>
              <a:t>Today's bounded slice has only four technical pieces: the upload and chat routes, page-aware PDF text, browser fetch, and two public services on Railway and Vercel. We also have three rules. Keep the same chat_id between upload and chat. Treat advanced production features as read-only references. Work in your own Day 2 fork.</a:t>
            </a:r>
          </a:p>
          <a:p>
            <a:endParaRPr/>
          </a:p>
          <a:p>
            <a:r>
              <a:t>This boundary is a design decision. We are not building a small system because the larger system is unimportant. We are building a small system because every connection must be understandable and testable. Tomorrow, we can add retrieval and multi-turn conversation on top of a flow that already works.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begin with the backend because it gives us the smallest number of moving parts. A browser or Swagger sends a request to a route. FastAPI receives it, performs one bounded job, and returns a response. That round trip is the foundation for everything else. If the backend contract is unclear, the React interface will only hide the confusion behind buttons. Our first goal is therefore simple: identify the input, the route, the response, and the first meaningful error. Once you can draw that round trip, the detailed code becomes much easier to understand.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Lab A begins, start with the actual classroom repository. It contains guardrails, environment examples, and test files, but no application code. That empty starting point is intentional. Read CLAUDE.md, the environment example, the gitignore file, and the test_files folder before generating anything. Do not copy authentication, retrieval, Redis, or database code from the full project. Your first piece of evidence is not a running app. It is being able to explain why the repository starts empty and what constraints you must preserve.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 the environment in a bounded order. Fork and clone the classroom repository. Create a feature branch. Copy the environment example to a local .env file, and keep the API key only there. Create only the backend skeleton first. Then install the requirements and prove the smallest health route before adding upload, chat, or frontend code. Review each diff before accepting it. This order protects secrets and reduces debugging variables. If something fails, trust the first real error instead of asking an AI tool to change several unrelated files at once.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comparison prevents us from mixing the classroom contract with the production reference. Both systems point in the same product direction, but their complexity is different. In the classroom version, upload uses a chat_id in the query and stores page records in memory. Chat uses the same path as the full project, but the body is simply chat_id plus message. Evidence comes from full page-numbered text rather than vector retrieval. The frontend uses ordinary browser fetch for both requests.</a:t>
            </a:r>
          </a:p>
          <a:p>
            <a:endParaRPr/>
          </a:p>
          <a:p>
            <a:r>
              <a:t>The rule is consistency. Every slide, notebook, and code file should agree on the path, fields, and response shape. If one place uses a different identifier or a different route, the pieces will not connect. For today, say it as one sentence: upload with a chat_id, then chat with the same chat_id.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most important backend picture. We have two HTTP requests, but they form one product flow. The upload request sends a PDF file and a chat_id. The backend parses the file and stores page-numbered records in memory under that chat_id. The chat request then sends a message with the same chat_id. The backend uses the identifier to retrieve the correct pages, asks the model, and returns an answer with page tags.</a:t>
            </a:r>
          </a:p>
          <a:p>
            <a:endParaRPr/>
          </a:p>
          <a:p>
            <a:r>
              <a:t>Think of chat_id as a label on a temporary folder. Upload puts evidence into the folder. Chat opens the same folder. If the two requests use different labels, chat cannot find the document, even if both requests are individually valid.</a:t>
            </a:r>
          </a:p>
          <a:p>
            <a:endParaRPr/>
          </a:p>
          <a:p>
            <a:r>
              <a:t>Also notice the two body formats. Upload uses multipart form data because it carries a file. Chat uses JSON because it carries structured text fields. The response from upload confirms what was read. The response from chat separates the answer from the citations. Upload creates the evidence; chat reuses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During Lab A, your first route is GET /health. It does not perform PDF work. It simply proves that FastAPI can start, receive a request, and return a known result. Run Uvicorn, open the generated Swagger page, and call /health. Passing means that you see status 200 and the JSON object with ok set to true. If it fails, read the first backend error before adding more code. A green health route is the stable base for the next feature.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Pydantic defines the shape of a valid chat request before the route performs any work. The request contains a chat_id and a message. The classroom ID defaults to day2-demo, and the message length is bounded. FastAPI uses this model to generate Swagger documentation and to reject invalid JSON with a 422 response. In the lab, try one valid message, then a message that is too short and one that is too long. The error is useful evidence: it shows that the contract is protecting the route before the model is called.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we move from requests to evidence. A PDF is not useful to our system merely because it was uploaded. We need readable text, and we need to preserve the page number that each piece of text came from. That page number is the bridge between a generated answer and the original source. If the text is missing, or if the page identity is lost, a page citation becomes decoration rather than evidence. Our goal is to produce page-aware records and to stop clearly when the document cannot provide readable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upload route follows four gates. First, check that the file is a PDF. Second, read the bytes in memory. Third, parse the document page by page and reject invalid, empty, too-long, or unreadable input. Fourth, store the page records under the chat_id only after parsing succeeds. The app does not write the uploaded PDF to disk. A successful response reports the filename, page count, and character count. In the lab, do not only test a good PDF. Also try a non-PDF and a scanned document so that you can see where the boundary 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evidence structure we need from pypdf. The function receives bytes, creates a PdfReader, checks the thirty-page limit, and returns one record per page. Each record contains a page number and the extracted text. We start numbering at one because that is how a student reads the PDF.</a:t>
            </a:r>
          </a:p>
          <a:p>
            <a:endParaRPr/>
          </a:p>
          <a:p>
            <a:r>
              <a:t>The page record must exist even when the extracted text is empty. Later, the upload route checks whether the document contains any readable text at all. This distinction helps us explain scanned PDFs. pypdf extracts embedded text; it does not perform OCR. A scanned page may look perfectly readable to a person but still produce an empty string.</a:t>
            </a:r>
          </a:p>
          <a:p>
            <a:endParaRPr/>
          </a:p>
          <a:p>
            <a:r>
              <a:t>The important design choice is that page and text travel together from this point forward. When we build the prompt, we can add a visible Page N marker. When we validate an answer, we know which page numbers are real.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frontend and backend must speak the same language. Read every API interaction in the same order: method, path, content type, body, status, and response. For upload, the browser sends a multipart file and a chat_id. FastAPI returns status, pages, and characters. For chat, the browser sends JSON containing chat_id and message. FastAPI returns answer and citations.</a:t>
            </a:r>
          </a:p>
          <a:p>
            <a:endParaRPr/>
          </a:p>
          <a:p>
            <a:r>
              <a:t>This checklist turns vague debugging into a comparison. If the backend expects message but the frontend sends question, the request fails even though both words sound reasonable. If the frontend sends JSON to a route expecting multipart form data, the path may be correct but the content type is wrong. If you see 422, compare the fields before changing the model or the server.</a:t>
            </a:r>
          </a:p>
          <a:p>
            <a:endParaRPr/>
          </a:p>
          <a:p>
            <a:r>
              <a:t>Swagger is our backend view of the contract. Browser Network is our frontend view. When both views show the same six items, the two pieces agree.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During Lab A, page-numbered records become a grounded prompt. Each readable page is added with a marker such as Page 1 before its text. The student's message is placed after the document text. The system prompt asks the model to use the supplied source and to cite pages. The key point is not the specific model call. The key point is that the model receives both the content and the page identity. If an answer has no page numbers, return to the page records and the constructed prompt before changing the frontend.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chat route connects the temporary document state to the model. First, retrieve the pages using request.chat_id. If no pages exist, return 404 and tell the user to upload first. Do not allow the model to guess without a document. Next, call the grounded answer function. Then extract only valid page tags, remove invalid tags from the answer, and return answer and citations as separate fields. In the lab, reuse exactly the same chat_id from upload. A 404 points to state or identity. A safe 502 points to the model service.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page tag is not automatically trustworthy. We apply three gates. First, does the answer mention a page number in the expected format? Second, does that page number exist in the current PDF? The program can answer these two questions. It can remove Page 99 when the document has only three pages.</a:t>
            </a:r>
          </a:p>
          <a:p>
            <a:endParaRPr/>
          </a:p>
          <a:p>
            <a:r>
              <a:t>The third gate requires human judgment: does the cited source actually support the claim? A real page number can still point to an unrelated sentence. That is why our acceptance evidence includes opening the page and reading it.</a:t>
            </a:r>
          </a:p>
          <a:p>
            <a:endParaRPr/>
          </a:p>
          <a:p>
            <a:r>
              <a:t>Think of citation validation as a partnership. Code checks format and range. The student checks meaning. If the page exists but does not support the answer, record the result as incorrect. Do not turn a plausible answer into a pass simply because it contains a bracketed number.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test the flow with four families of questions. Family A has a known answer on page 1. Family B covers known answers on later pages, so we know that page identity is preserved across the document. Family C asks something outside the document. The correct behavior is to stop honestly, not to invent a confident answer. Family D tests invalid input or a service failure, such as a non-PDF, an empty message, an unknown chat_id, or a safe model error.</a:t>
            </a:r>
          </a:p>
          <a:p>
            <a:endParaRPr/>
          </a:p>
          <a:p>
            <a:r>
              <a:t>Before each test, predict the expected page or expected error. Then run the system. Record the actual page and decide whether the source supports the answer. Prediction makes the test meaningful; otherwise, we are only clicking and accepting whatever appears. A peer should be able to read your row and understand what happened.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A asks whether the backend can complete the full flow independently of the frontend. Show a successful health request. Upload the shared PDF with day2-demo and keep the returned page information. Send a known-answer chat request and show answer plus citations. Then send an unanswerable message and deliberately use an unknown chat_id. To pass, another student should be able to repeat these actions in Swagger and explain one error response. Once this is stable, we are ready to make the process visible in React.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working backend is not yet a usable product. The user needs to know whether the app is idle, uploading, waiting for an answer, successful, or blocked by an error. React state is how we represent those facts. The UI is how we communicate them. Our goal is not decoration. Our goal is to make the same backend process understandable without opening Swagger or reading a terminal. A peer should be able to upload, ask, and verify a page using only the interface.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React can be understood as one causal chain: event, request, state, and UI. A user selects a file or clicks a button. The handler uses fetch to send the API contract. The API returns either a result or an error. React stores that change with setState. The next render changes what the user can see and do.</a:t>
            </a:r>
          </a:p>
          <a:p>
            <a:endParaRPr/>
          </a:p>
          <a:p>
            <a:r>
              <a:t>This means React does not create a second product contract. It follows the backend contract. The upload result becomes upload state. The chat result becomes answer state. An error becomes an actionable message. While a request is busy, both buttons should be disabled so that overlapping actions do not create confusing state. Before a new action begins, clear the old result so that yesterday's answer, or the previous document's answer, is never presented as a new response.</a:t>
            </a:r>
          </a:p>
          <a:p>
            <a:endParaRPr/>
          </a:p>
          <a:p>
            <a:r>
              <a:t>When debugging, ask which arrow in this chain did not happen.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Lab B begins from the same repository, with the backend still running. Create only the minimal Vite files in smartlearn-frontend and review the diff. App.jsx owns the six user-visible states and the interface timeline. The api.js helper owns the browser fetch calls. Run the frontend on port 5173 and keep FastAPI healthy on port 8000. Both services must run at the same time. If the page is blank, read the first frontend error before changing backend 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interface tells one story in a fixed order. First, select and upload a PDF. Show uploading while the request runs, then show the page receipt when it succeeds. Only after a successful upload should the question action become available. Next, send a question, show waiting, display the answer, and show the page tags. Finally, return to the PDF and verify the source. Before upload, question controls are disabled. During a request, old results must not masquerade as new ones. This sequence makes the technical contract understandable to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useState variable represents a fact the user may need to see. File is the selected PDF. Upload is the receipt proving that the backend read it. Message is the current question. Answer contains the returned answer and citations. Status tells us whether the app is idle, uploading, or asking. Error explains a failure. When you read the code, do not memorize six hooks. Ask what information would disappear from the interface if one state were removed.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 asynchronous request follows the same timeline. Clear the old error and old result. Set a visible busy status. Await the request. On success, store the new result and return to idle. On failure, store an actionable message and also return to idle. This pattern prevents stale answers and silent waiting. During the lab, deliberately trigger an error and confirm that the interface displays the real cause. If an old answer remains on screen, fix the clearing step before changing the 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upload helper uses FormData because a PDF is a file. Append the file under the field name expected by FastAPI. Send the request to /upload with the fixed classroom chat_id in the query. Do not manually set the multipart Content-Type header; the browser supplies the correct boundary. App.jsx clears old results, sets the uploading state, and awaits this helper. Browser Network should show a multipart POST and a 200 response. A 400 response usually points to the file field, file type, or readable 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chat helper sends JSON because the body contains structured text fields rather than a file. It posts message and the same chat_id to /chat, then reads the JSON result. App.jsx owns the timeline: clear the old answer, set asking, await the helper, and display answer plus citation chips. The same busy condition protects upload and chat from overlapping. A 422 response means that the JSON shape or field constraints do not match the backend contract. Compare Network with Swagger before changing code.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frontend and backend run at different origins. Locally, the UI is on port 5173 and the API is on port 8000. VITE_API_URL tells the browser where the backend lives. ALLOWED_ORIGINS tells FastAPI which browser origins may read responses. The API key belongs only in the backend environment and must never use a VITE prefix, because VITE variables are visible in the browser. CORS is a browser permission rule between origins; it is not login and it is not API authorization.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 something fails, debug the same system map instead of changing random files. Start with the UI. Did the button, waiting message, or error state change? Next, open Network. Did the request leave the browser, and did it use the correct URL? Then compare the API contract. Do the path, content type, chat_id, file, and message match? Next, inspect the PDF layer. Were page records created, and did upload and chat use the same in-memory state? Finally, inspect the model layer. Is the service available, and is the answer grounded?</a:t>
            </a:r>
          </a:p>
          <a:p>
            <a:endParaRPr/>
          </a:p>
          <a:p>
            <a:r>
              <a:t>Stop at the first failed layer. That location is more useful than the final symptom. Change one thing, then repeat exactly the same action. If you change the frontend URL, CORS, and backend code at the same time, you lose the ability to learn which change mattered.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B aligns three views of the same action. The UI should show truthful state. Browser Network should show the upload and chat requests. The backend should receive the same chat_id and return the expected fields. Test upload, chat, page citations, and one error. Then the author steps away from the keyboard. A peer uses only the UI prompts to ask one known-answer question and one question outside the document. If the peer succeeds, the interface is communicating the process rather than relying on the author.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piece is delivery. Running on your own computer is useful evidence, but it is not the end of the workflow. A peer needs to understand what changed, how to run it, what proof exists, and what limitations remain. We use a pull request to make the change reviewable. We use public services to make the system reachable. We use a peer test to discover assumptions that were invisible on the author's machine. Delivery is complete only when the result can be explained and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Lab C, prepare the backend Dockerfile before the pull request. Confirm the remote, branch, and staged files. Stage only the backend and frontend directories, and verify that environment files, virtual environments, node_modules, and build output remain ignored. Write a commit that describes the Day 2 feature, push the branch, and open a pull request with what changed, how to test it, the evidence, and the limitation that documents remain in memory. After review, merge into your own fork's main branch and sync local main before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Deployment has four ordered steps. First, the reviewed Dockerfile and application code must be on the merged main branch. Second, Railway builds the backend from smartlearn-backend. Do not continue until the public /health endpoint returns 200. Third, Vercel builds smartlearn-frontend with VITE_API_URL pointing to the real Railway backend. Fourth, add the actual Vercel origin to the backend CORS setting, wait for the backend to restart, upload the PDF again, and ask a peer to test.</a:t>
            </a:r>
          </a:p>
          <a:p>
            <a:endParaRPr/>
          </a:p>
          <a:p>
            <a:r>
              <a:t>The important connection to the rest of the day is this: the API contract stays the same. Upload still sends a file and chat_id. Chat still sends message and chat_id. Only the service URLs change. Because Railway restarts can clear in-memory documents, re-upload before testing chat. The public test should begin from the entry point, not from a browser tab that already contains old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Deploy the backend first. Railway should use smartlearn-backend as the root directory and the committed Dockerfile as the runtime definition. The Dockerfile command starts Uvicorn on all interfaces and uses the platform PORT. Add the model key as a secret. Do not set PORT yourself, and leave the Railway Start Command blank because the Dockerfile already provides it. Read build logs first, then startup logs, then open public /health. Continue only after you see 200 and ok true.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Vercel builds the frontend after the backend URL exists. Use smartlearn-frontend as the root directory and Vite as the framework. Set VITE_API_URL to the real Railway URL before the build. This variable is written into the browser bundle, so changing it requires a redeploy; refreshing an old bundle is not enough. Never put an API key in a VITE variable. A passing deployment loads the page and does not send requests to localhost.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connect the two public origins. Add the exact Vercel origin to ALLOWED_ORIGINS on Railway. Use only the origin, with no /upload path or other suffix. Saving the variable restarts the backend, so wait for public /health to return 200 again. Then upload the PDF again because the in-memory document may have been cleared. Ask the question again and confirm two successful requests in Network. If /health works directly but the browser reports a CORS block, compare the complete frontend origin character by character.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Checkpoint C begins from scratch on another device or in an incognito window. A peer opens the public frontend without your help, uploads the classroom PDF, asks one locatable question, and asks one question that the document cannot answer. Record the actual observations and the first blocker. If public deployment is blocked, preserve the evidence that the local flow passed and state the exact external failure. Do not report a public success that another person could not reproduce.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page as a routing guide, not as a list of fixes to try all at once. If the page will not open, read the frontend startup or build error. If clicking does nothing, open Network. If the browser blocks a request, inspect CORS and the URL. If the backend cannot answer, read the first backend error and check pages, message, chat_id, and the model service. If an answer lacks page evidence, return to parsing and grounding. If it works locally but not publicly, test the frontend and backend URLs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full document text goes into the prompt. That choice is easy to understand and works for small documents, but it becomes slow and noisy as documents grow. Tomorrow, we will split documents into chunks, create embeddings, store them in FAISS, retrieve the most relevant passages, and answer from those passages. The Day 2 contract gives us a working product flow. Day 3 upgrades how evidence is selected without discarding the request, state, and delivery ideas we learned today.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this learning receipt after the final TA lab. Record one flow that you can explain, one answer that you verified against a page, and one honest delivery result such as a commit, pull request, public URL, or real blocker. Then try a different, non-sensitive, text-based PDF of at most thirty pages. Create one question with a locatable answer and one question outside the document. The goal is transfer: a peer should still be able to complete the flow without relying on the shared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now have one shared map for the day. A request uploads the document. Page-aware parsing preserves evidence. Chat reuses that evidence through the same chat_id. React turns results and errors into visible state. Deployment changes the URLs while keeping the contract stable. A peer test tells us whether the product really works beyond the author's computer.</a:t>
            </a:r>
          </a:p>
          <a:p>
            <a:endParaRPr/>
          </a:p>
          <a:p>
            <a:r>
              <a:t>The teacher briefing ends here. Start Lab A from the entry point: open your Day 2 fork, protect the environment file, create the bounded backend skeleton, and prove /health first. Keep chat_id equal to day2-demo throughout the classroom flow. If you are blocked, record the first real clue and ask for help at that layer. Do not jump ahead and do not claim an outcome that did not happen. Now let us build the request and evidence path with the teaching assistants.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endParaRPr/>
          </a:p>
        </p:txBody>
      </p:sp>
      <p:sp>
        <p:nvSpPr>
          <p:cNvPr id="3" name="矩形 2"/>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0–1 MIN</a:t>
            </a:r>
          </a:p>
        </p:txBody>
      </p:sp>
      <p:sp>
        <p:nvSpPr>
          <p:cNvPr id="4" name="矩形 3"/>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5" name="矩形 4"/>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6" name="矩形 5"/>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7" name="矩形 6"/>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a:t>
            </a:r>
          </a:p>
        </p:txBody>
      </p:sp>
      <p:sp>
        <p:nvSpPr>
          <p:cNvPr id="8" name="矩形 7"/>
          <p:cNvSpPr>
            <a:spLocks noGrp="1"/>
          </p:cNvSpPr>
          <p:nvPr/>
        </p:nvSpPr>
        <p:spPr>
          <a:xfrm>
            <a:off x="0" y="0"/>
            <a:ext cx="762000" cy="2000250"/>
          </a:xfrm>
          <a:prstGeom prst="rect">
            <a:avLst/>
          </a:prstGeom>
          <a:solidFill>
            <a:srgbClr val="FFFFFF"/>
          </a:solidFill>
          <a:ln w="0">
            <a:solidFill>
              <a:srgbClr val="FFFFFF"/>
            </a:solidFill>
            <a:prstDash val="solid"/>
          </a:ln>
        </p:spPr>
        <p:txBody>
          <a:bodyPr/>
          <a:lstStyle/>
          <a:p>
            <a:endParaRPr/>
          </a:p>
        </p:txBody>
      </p:sp>
      <p:sp>
        <p:nvSpPr>
          <p:cNvPr id="9" name="矩形 8"/>
          <p:cNvSpPr>
            <a:spLocks noGrp="1"/>
          </p:cNvSpPr>
          <p:nvPr/>
        </p:nvSpPr>
        <p:spPr>
          <a:xfrm>
            <a:off x="0" y="685800"/>
            <a:ext cx="762000" cy="1028700"/>
          </a:xfrm>
          <a:prstGeom prst="rect">
            <a:avLst/>
          </a:prstGeom>
          <a:solidFill>
            <a:srgbClr val="FFFFFF"/>
          </a:solidFill>
          <a:ln w="0">
            <a:solidFill>
              <a:srgbClr val="FFFFFF"/>
            </a:solidFill>
            <a:prstDash val="solid"/>
          </a:ln>
        </p:spPr>
        <p:txBody>
          <a:bodyPr/>
          <a:lstStyle/>
          <a:p>
            <a:endParaRPr/>
          </a:p>
        </p:txBody>
      </p:sp>
      <p:sp>
        <p:nvSpPr>
          <p:cNvPr id="10" name="矩形 9"/>
          <p:cNvSpPr>
            <a:spLocks noGrp="1"/>
          </p:cNvSpPr>
          <p:nvPr/>
        </p:nvSpPr>
        <p:spPr>
          <a:xfrm>
            <a:off x="2000250" y="1428750"/>
            <a:ext cx="8191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200" b="1">
                <a:solidFill>
                  <a:srgbClr val="1F5284"/>
                </a:solidFill>
                <a:latin typeface="Lato"/>
                <a:ea typeface="Lato"/>
                <a:cs typeface="Lato"/>
              </a:defRPr>
            </a:pPr>
            <a:r>
              <a:rPr sz="1200" b="1">
                <a:solidFill>
                  <a:srgbClr val="1F5284"/>
                </a:solidFill>
                <a:latin typeface="Lato"/>
                <a:ea typeface="Lato"/>
                <a:cs typeface="Lato"/>
              </a:rPr>
              <a:t>AI CODING WORKSHOP · DAY 02</a:t>
            </a:r>
          </a:p>
        </p:txBody>
      </p:sp>
      <p:sp>
        <p:nvSpPr>
          <p:cNvPr id="11" name="矩形 10"/>
          <p:cNvSpPr>
            <a:spLocks noGrp="1"/>
          </p:cNvSpPr>
          <p:nvPr/>
        </p:nvSpPr>
        <p:spPr>
          <a:xfrm>
            <a:off x="1714500" y="1962150"/>
            <a:ext cx="8763000" cy="1162050"/>
          </a:xfrm>
          <a:prstGeom prst="rect">
            <a:avLst/>
          </a:prstGeom>
          <a:solidFill>
            <a:srgbClr val="FFFFFF">
              <a:alpha val="0"/>
            </a:srgbClr>
          </a:solidFill>
          <a:ln w="0">
            <a:solidFill>
              <a:srgbClr val="000000">
                <a:alpha val="0"/>
              </a:srgbClr>
            </a:solidFill>
            <a:prstDash val="solid"/>
          </a:ln>
        </p:spPr>
        <p:txBody>
          <a:bodyPr lIns="0" tIns="0" rIns="0" bIns="0" anchor="t">
            <a:normAutofit fontScale="97756"/>
          </a:bodyPr>
          <a:lstStyle/>
          <a:p>
            <a:pPr algn="ctr">
              <a:buNone/>
              <a:defRPr sz="3900" b="1">
                <a:solidFill>
                  <a:srgbClr val="163F68"/>
                </a:solidFill>
                <a:latin typeface="Lato"/>
                <a:ea typeface="Lato"/>
                <a:cs typeface="Lato"/>
              </a:defRPr>
            </a:pPr>
            <a:r>
              <a:rPr sz="3900" b="1">
                <a:solidFill>
                  <a:srgbClr val="163F68"/>
                </a:solidFill>
                <a:latin typeface="Lato"/>
                <a:ea typeface="Lato"/>
                <a:cs typeface="Lato"/>
              </a:rPr>
              <a:t>SmartLearn Lite</a:t>
            </a:r>
          </a:p>
          <a:p>
            <a:pPr algn="ctr">
              <a:buNone/>
              <a:defRPr sz="3900" b="1">
                <a:solidFill>
                  <a:srgbClr val="163F68"/>
                </a:solidFill>
                <a:latin typeface="Lato"/>
                <a:ea typeface="Lato"/>
                <a:cs typeface="Lato"/>
              </a:defRPr>
            </a:pPr>
            <a:r>
              <a:rPr sz="3900" b="1">
                <a:solidFill>
                  <a:srgbClr val="163F68"/>
                </a:solidFill>
                <a:latin typeface="Lato"/>
                <a:ea typeface="Lato"/>
                <a:cs typeface="Lato"/>
              </a:rPr>
              <a:t>Turn the first feature into a web app</a:t>
            </a:r>
          </a:p>
        </p:txBody>
      </p:sp>
      <p:sp>
        <p:nvSpPr>
          <p:cNvPr id="12" name="矩形 11"/>
          <p:cNvSpPr>
            <a:spLocks noGrp="1"/>
          </p:cNvSpPr>
          <p:nvPr/>
        </p:nvSpPr>
        <p:spPr>
          <a:xfrm>
            <a:off x="1714500" y="3429000"/>
            <a:ext cx="87630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650" b="0">
                <a:solidFill>
                  <a:srgbClr val="637788"/>
                </a:solidFill>
                <a:latin typeface="Lato"/>
                <a:ea typeface="Lato"/>
                <a:cs typeface="Lato"/>
              </a:defRPr>
            </a:pPr>
            <a:r>
              <a:rPr sz="1650" b="0">
                <a:solidFill>
                  <a:srgbClr val="637788"/>
                </a:solidFill>
                <a:latin typeface="Lato"/>
                <a:ea typeface="Lato"/>
                <a:cs typeface="Lato"/>
              </a:rPr>
              <a:t>FastAPI × React/Vite × PDF Upload and Simple Q&amp;A</a:t>
            </a:r>
          </a:p>
        </p:txBody>
      </p:sp>
      <p:sp>
        <p:nvSpPr>
          <p:cNvPr id="13" name="圆角矩形 12"/>
          <p:cNvSpPr>
            <a:spLocks noGrp="1"/>
          </p:cNvSpPr>
          <p:nvPr/>
        </p:nvSpPr>
        <p:spPr>
          <a:xfrm>
            <a:off x="2000250" y="4095750"/>
            <a:ext cx="8191500" cy="781050"/>
          </a:xfrm>
          <a:prstGeom prst="roundRect">
            <a:avLst>
              <a:gd name="adj" fmla="val 9756"/>
            </a:avLst>
          </a:prstGeom>
          <a:solidFill>
            <a:srgbClr val="F1F6FA"/>
          </a:solidFill>
          <a:ln w="9525">
            <a:solidFill>
              <a:srgbClr val="0070C0"/>
            </a:solidFill>
            <a:prstDash val="solid"/>
          </a:ln>
        </p:spPr>
        <p:txBody>
          <a:bodyPr/>
          <a:lstStyle/>
          <a:p>
            <a:endParaRPr/>
          </a:p>
        </p:txBody>
      </p:sp>
      <p:sp>
        <p:nvSpPr>
          <p:cNvPr id="14" name="矩形 13"/>
          <p:cNvSpPr>
            <a:spLocks noGrp="1"/>
          </p:cNvSpPr>
          <p:nvPr/>
        </p:nvSpPr>
        <p:spPr>
          <a:xfrm>
            <a:off x="2152650" y="4276725"/>
            <a:ext cx="7886700" cy="400050"/>
          </a:xfrm>
          <a:prstGeom prst="rect">
            <a:avLst/>
          </a:prstGeom>
          <a:solidFill>
            <a:srgbClr val="FFFFFF">
              <a:alpha val="0"/>
            </a:srgbClr>
          </a:solidFill>
          <a:ln w="0">
            <a:solidFill>
              <a:srgbClr val="000000">
                <a:alpha val="0"/>
              </a:srgbClr>
            </a:solidFill>
            <a:prstDash val="solid"/>
          </a:ln>
        </p:spPr>
        <p:txBody>
          <a:bodyPr lIns="0" tIns="0" rIns="0" bIns="0" anchor="t">
            <a:normAutofit fontScale="97222"/>
          </a:bodyPr>
          <a:lstStyle/>
          <a:p>
            <a:pPr algn="ctr">
              <a:buNone/>
              <a:defRPr sz="1350" b="1">
                <a:solidFill>
                  <a:srgbClr val="163F68"/>
                </a:solidFill>
                <a:latin typeface="Lato"/>
                <a:ea typeface="Lato"/>
                <a:cs typeface="Lato"/>
              </a:defRPr>
            </a:pPr>
            <a:r>
              <a:rPr lang="en-US" altLang="zh-CN" sz="1350" dirty="0">
                <a:solidFill>
                  <a:srgbClr val="163F68"/>
                </a:solidFill>
                <a:latin typeface="Lato"/>
                <a:ea typeface="Lato"/>
                <a:cs typeface="Lato"/>
              </a:rPr>
              <a:t>B</a:t>
            </a:r>
            <a:r>
              <a:rPr sz="1350" dirty="0">
                <a:solidFill>
                  <a:srgbClr val="163F68"/>
                </a:solidFill>
                <a:latin typeface="Lato"/>
                <a:ea typeface="Lato"/>
                <a:cs typeface="Lato"/>
              </a:rPr>
              <a:t>riefing (about 1 hour): Understand four causal chains</a:t>
            </a:r>
          </a:p>
          <a:p>
            <a:pPr algn="ctr">
              <a:buNone/>
              <a:defRPr sz="1350" b="1">
                <a:solidFill>
                  <a:srgbClr val="163F68"/>
                </a:solidFill>
                <a:latin typeface="Lato"/>
                <a:ea typeface="Lato"/>
                <a:cs typeface="Lato"/>
              </a:defRPr>
            </a:pPr>
            <a:r>
              <a:rPr sz="1350" dirty="0">
                <a:solidFill>
                  <a:srgbClr val="163F68"/>
                </a:solidFill>
                <a:latin typeface="Lato"/>
                <a:ea typeface="Lato"/>
                <a:cs typeface="Lato"/>
              </a:rPr>
              <a:t>TA-led labs: Build real evidence from a minimal starting point</a:t>
            </a:r>
          </a:p>
        </p:txBody>
      </p:sp>
      <p:sp>
        <p:nvSpPr>
          <p:cNvPr id="15" name="矩形 14"/>
          <p:cNvSpPr>
            <a:spLocks noGrp="1"/>
          </p:cNvSpPr>
          <p:nvPr/>
        </p:nvSpPr>
        <p:spPr>
          <a:xfrm>
            <a:off x="1619250" y="5181600"/>
            <a:ext cx="8953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0">
                <a:solidFill>
                  <a:srgbClr val="637788"/>
                </a:solidFill>
                <a:latin typeface="Lato"/>
                <a:ea typeface="Lato"/>
                <a:cs typeface="Lato"/>
              </a:defRPr>
            </a:pPr>
            <a:r>
              <a:rPr sz="1125" b="0">
                <a:solidFill>
                  <a:srgbClr val="637788"/>
                </a:solidFill>
                <a:latin typeface="Lato"/>
                <a:ea typeface="Lato"/>
                <a:cs typeface="Lato"/>
              </a:rPr>
              <a:t>Yao SHU · AI Thrust, The Hong Kong University of Science and Technology (Guangzhou) · 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矩形 33"/>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LEARNING OUTCOMES</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Understand the big picture in one hour, then build with TAs</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1–4 MIN</a:t>
            </a:r>
          </a:p>
        </p:txBody>
      </p:sp>
      <p:sp>
        <p:nvSpPr>
          <p:cNvPr id="5" name="矩形 4"/>
          <p:cNvSpPr>
            <a:spLocks noGrp="1"/>
          </p:cNvSpPr>
          <p:nvPr/>
        </p:nvSpPr>
        <p:spPr>
          <a:xfrm>
            <a:off x="8667750" y="647700"/>
            <a:ext cx="400050" cy="28575"/>
          </a:xfrm>
          <a:prstGeom prst="rect">
            <a:avLst/>
          </a:prstGeom>
          <a:solidFill>
            <a:srgbClr val="0070C0"/>
          </a:solidFill>
          <a:ln w="9525">
            <a:solidFill>
              <a:srgbClr val="0070C0"/>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A7B8C8"/>
          </a:solidFill>
          <a:ln w="9525">
            <a:solidFill>
              <a:srgbClr val="A7B8C8"/>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a:t>
            </a:r>
          </a:p>
        </p:txBody>
      </p:sp>
      <p:sp>
        <p:nvSpPr>
          <p:cNvPr id="14" name="圆角矩形 13"/>
          <p:cNvSpPr>
            <a:spLocks noGrp="1"/>
          </p:cNvSpPr>
          <p:nvPr/>
        </p:nvSpPr>
        <p:spPr>
          <a:xfrm>
            <a:off x="723900" y="1466850"/>
            <a:ext cx="2419350" cy="2343150"/>
          </a:xfrm>
          <a:prstGeom prst="roundRect">
            <a:avLst>
              <a:gd name="adj" fmla="val 3252"/>
            </a:avLst>
          </a:prstGeom>
          <a:solidFill>
            <a:srgbClr val="F1F6FA"/>
          </a:solidFill>
          <a:ln w="9525">
            <a:solidFill>
              <a:srgbClr val="1F5284"/>
            </a:solidFill>
            <a:prstDash val="solid"/>
          </a:ln>
        </p:spPr>
        <p:txBody>
          <a:bodyPr/>
          <a:lstStyle/>
          <a:p>
            <a:endParaRPr/>
          </a:p>
        </p:txBody>
      </p:sp>
      <p:sp>
        <p:nvSpPr>
          <p:cNvPr id="15" name="椭圆 14"/>
          <p:cNvSpPr>
            <a:spLocks noGrp="1"/>
          </p:cNvSpPr>
          <p:nvPr/>
        </p:nvSpPr>
        <p:spPr>
          <a:xfrm>
            <a:off x="1524000" y="1695450"/>
            <a:ext cx="819150" cy="819150"/>
          </a:xfrm>
          <a:prstGeom prst="ellipse">
            <a:avLst/>
          </a:prstGeom>
          <a:solidFill>
            <a:srgbClr val="1F5284"/>
          </a:solidFill>
          <a:ln w="9525">
            <a:solidFill>
              <a:srgbClr val="1F5284"/>
            </a:solidFill>
            <a:prstDash val="solid"/>
          </a:ln>
        </p:spPr>
        <p:txBody>
          <a:bodyPr/>
          <a:lstStyle/>
          <a:p>
            <a:endParaRPr/>
          </a:p>
        </p:txBody>
      </p:sp>
      <p:sp>
        <p:nvSpPr>
          <p:cNvPr id="16" name="矩形 15"/>
          <p:cNvSpPr>
            <a:spLocks noGrp="1"/>
          </p:cNvSpPr>
          <p:nvPr/>
        </p:nvSpPr>
        <p:spPr>
          <a:xfrm>
            <a:off x="1333500" y="2018665"/>
            <a:ext cx="12001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800" b="1">
                <a:solidFill>
                  <a:srgbClr val="FFFFFF"/>
                </a:solidFill>
                <a:latin typeface="Lato"/>
                <a:ea typeface="Lato"/>
                <a:cs typeface="Lato"/>
              </a:defRPr>
            </a:pPr>
            <a:r>
              <a:rPr sz="1200" b="1">
                <a:solidFill>
                  <a:srgbClr val="FFFFFF"/>
                </a:solidFill>
                <a:latin typeface="Lato"/>
                <a:ea typeface="Lato"/>
                <a:cs typeface="Lato"/>
              </a:rPr>
              <a:t>REQUEST</a:t>
            </a:r>
          </a:p>
        </p:txBody>
      </p:sp>
      <p:sp>
        <p:nvSpPr>
          <p:cNvPr id="17" name="矩形 16"/>
          <p:cNvSpPr>
            <a:spLocks noGrp="1"/>
          </p:cNvSpPr>
          <p:nvPr/>
        </p:nvSpPr>
        <p:spPr>
          <a:xfrm>
            <a:off x="895350" y="2762250"/>
            <a:ext cx="2076450" cy="838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1">
                <a:solidFill>
                  <a:srgbClr val="163F68"/>
                </a:solidFill>
                <a:latin typeface="Lato"/>
                <a:ea typeface="Lato"/>
                <a:cs typeface="Lato"/>
              </a:defRPr>
            </a:pPr>
            <a:r>
              <a:rPr sz="1125" b="1">
                <a:solidFill>
                  <a:srgbClr val="163F68"/>
                </a:solidFill>
                <a:latin typeface="Lato"/>
                <a:ea typeface="Lato"/>
                <a:cs typeface="Lato"/>
              </a:rPr>
              <a:t>Teacher briefing: Explain the Request–Response Flow</a:t>
            </a:r>
          </a:p>
          <a:p>
            <a:pPr algn="ctr">
              <a:buNone/>
              <a:defRPr sz="1125" b="1">
                <a:solidFill>
                  <a:srgbClr val="163F68"/>
                </a:solidFill>
                <a:latin typeface="Lato"/>
                <a:ea typeface="Lato"/>
                <a:cs typeface="Lato"/>
              </a:defRPr>
            </a:pPr>
            <a:r>
              <a:rPr sz="1125" b="1">
                <a:solidFill>
                  <a:srgbClr val="163F68"/>
                </a:solidFill>
                <a:latin typeface="Lato"/>
                <a:ea typeface="Lato"/>
                <a:cs typeface="Lato"/>
              </a:rPr>
              <a:t>TA labs: Run /health, /upload, and /chat</a:t>
            </a:r>
          </a:p>
        </p:txBody>
      </p:sp>
      <p:sp>
        <p:nvSpPr>
          <p:cNvPr id="18" name="圆角矩形 17"/>
          <p:cNvSpPr>
            <a:spLocks noGrp="1"/>
          </p:cNvSpPr>
          <p:nvPr/>
        </p:nvSpPr>
        <p:spPr>
          <a:xfrm>
            <a:off x="3371850" y="1466850"/>
            <a:ext cx="2419350" cy="2343150"/>
          </a:xfrm>
          <a:prstGeom prst="roundRect">
            <a:avLst>
              <a:gd name="adj" fmla="val 3252"/>
            </a:avLst>
          </a:prstGeom>
          <a:solidFill>
            <a:srgbClr val="FFFFFF"/>
          </a:solidFill>
          <a:ln w="9525">
            <a:solidFill>
              <a:srgbClr val="0070C0"/>
            </a:solidFill>
            <a:prstDash val="solid"/>
          </a:ln>
        </p:spPr>
        <p:txBody>
          <a:bodyPr/>
          <a:lstStyle/>
          <a:p>
            <a:endParaRPr/>
          </a:p>
        </p:txBody>
      </p:sp>
      <p:sp>
        <p:nvSpPr>
          <p:cNvPr id="19" name="椭圆 18"/>
          <p:cNvSpPr>
            <a:spLocks noGrp="1"/>
          </p:cNvSpPr>
          <p:nvPr/>
        </p:nvSpPr>
        <p:spPr>
          <a:xfrm>
            <a:off x="4171950" y="1695450"/>
            <a:ext cx="819150" cy="819150"/>
          </a:xfrm>
          <a:prstGeom prst="ellipse">
            <a:avLst/>
          </a:prstGeom>
          <a:solidFill>
            <a:srgbClr val="0070C0"/>
          </a:solidFill>
          <a:ln w="9525">
            <a:solidFill>
              <a:srgbClr val="0070C0"/>
            </a:solidFill>
            <a:prstDash val="solid"/>
          </a:ln>
        </p:spPr>
        <p:txBody>
          <a:bodyPr/>
          <a:lstStyle/>
          <a:p>
            <a:endParaRPr/>
          </a:p>
        </p:txBody>
      </p:sp>
      <p:sp>
        <p:nvSpPr>
          <p:cNvPr id="20" name="矩形 19"/>
          <p:cNvSpPr>
            <a:spLocks noGrp="1"/>
          </p:cNvSpPr>
          <p:nvPr/>
        </p:nvSpPr>
        <p:spPr>
          <a:xfrm>
            <a:off x="3987165" y="2014855"/>
            <a:ext cx="12001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ClrTx/>
              <a:buSzTx/>
              <a:buFontTx/>
              <a:buNone/>
              <a:defRPr sz="1800" b="1">
                <a:solidFill>
                  <a:srgbClr val="FFFFFF"/>
                </a:solidFill>
                <a:latin typeface="Lato"/>
                <a:ea typeface="Lato"/>
                <a:cs typeface="Lato"/>
              </a:defRPr>
            </a:pPr>
            <a:r>
              <a:rPr sz="1200"/>
              <a:t>EVIDENCE</a:t>
            </a:r>
          </a:p>
        </p:txBody>
      </p:sp>
      <p:sp>
        <p:nvSpPr>
          <p:cNvPr id="21" name="矩形 20"/>
          <p:cNvSpPr>
            <a:spLocks noGrp="1"/>
          </p:cNvSpPr>
          <p:nvPr/>
        </p:nvSpPr>
        <p:spPr>
          <a:xfrm>
            <a:off x="3543300" y="2762250"/>
            <a:ext cx="2076450" cy="838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1">
                <a:solidFill>
                  <a:srgbClr val="163F68"/>
                </a:solidFill>
                <a:latin typeface="Lato"/>
                <a:ea typeface="Lato"/>
                <a:cs typeface="Lato"/>
              </a:defRPr>
            </a:pPr>
            <a:r>
              <a:rPr sz="1125" b="1">
                <a:solidFill>
                  <a:srgbClr val="163F68"/>
                </a:solidFill>
                <a:latin typeface="Lato"/>
                <a:ea typeface="Lato"/>
                <a:cs typeface="Lato"/>
              </a:rPr>
              <a:t>Teacher briefing: Explain How Page Numbers Are Preserved</a:t>
            </a:r>
          </a:p>
          <a:p>
            <a:pPr algn="ctr">
              <a:buNone/>
              <a:defRPr sz="1125" b="1">
                <a:solidFill>
                  <a:srgbClr val="163F68"/>
                </a:solidFill>
                <a:latin typeface="Lato"/>
                <a:ea typeface="Lato"/>
                <a:cs typeface="Lato"/>
              </a:defRPr>
            </a:pPr>
            <a:r>
              <a:rPr sz="1125" b="1">
                <a:solidFill>
                  <a:srgbClr val="163F68"/>
                </a:solidFill>
                <a:latin typeface="Lato"/>
                <a:ea typeface="Lato"/>
                <a:cs typeface="Lato"/>
              </a:rPr>
              <a:t>TA labs: Verify the Source in the Shared PDF</a:t>
            </a:r>
          </a:p>
        </p:txBody>
      </p:sp>
      <p:sp>
        <p:nvSpPr>
          <p:cNvPr id="22" name="圆角矩形 21"/>
          <p:cNvSpPr>
            <a:spLocks noGrp="1"/>
          </p:cNvSpPr>
          <p:nvPr/>
        </p:nvSpPr>
        <p:spPr>
          <a:xfrm>
            <a:off x="6019800" y="1466850"/>
            <a:ext cx="2419350" cy="2343150"/>
          </a:xfrm>
          <a:prstGeom prst="roundRect">
            <a:avLst>
              <a:gd name="adj" fmla="val 3252"/>
            </a:avLst>
          </a:prstGeom>
          <a:solidFill>
            <a:srgbClr val="EEF7EE"/>
          </a:solidFill>
          <a:ln w="9525">
            <a:solidFill>
              <a:srgbClr val="39825B"/>
            </a:solidFill>
            <a:prstDash val="solid"/>
          </a:ln>
        </p:spPr>
        <p:txBody>
          <a:bodyPr/>
          <a:lstStyle/>
          <a:p>
            <a:endParaRPr/>
          </a:p>
        </p:txBody>
      </p:sp>
      <p:sp>
        <p:nvSpPr>
          <p:cNvPr id="23" name="椭圆 22"/>
          <p:cNvSpPr>
            <a:spLocks noGrp="1"/>
          </p:cNvSpPr>
          <p:nvPr/>
        </p:nvSpPr>
        <p:spPr>
          <a:xfrm>
            <a:off x="6819900" y="1695450"/>
            <a:ext cx="819150" cy="819150"/>
          </a:xfrm>
          <a:prstGeom prst="ellipse">
            <a:avLst/>
          </a:prstGeom>
          <a:solidFill>
            <a:srgbClr val="39825B"/>
          </a:solidFill>
          <a:ln w="9525">
            <a:solidFill>
              <a:srgbClr val="39825B"/>
            </a:solidFill>
            <a:prstDash val="solid"/>
          </a:ln>
        </p:spPr>
        <p:txBody>
          <a:bodyPr/>
          <a:lstStyle/>
          <a:p>
            <a:endParaRPr/>
          </a:p>
        </p:txBody>
      </p:sp>
      <p:sp>
        <p:nvSpPr>
          <p:cNvPr id="24" name="矩形 23"/>
          <p:cNvSpPr>
            <a:spLocks noGrp="1"/>
          </p:cNvSpPr>
          <p:nvPr/>
        </p:nvSpPr>
        <p:spPr>
          <a:xfrm>
            <a:off x="6629400" y="2018665"/>
            <a:ext cx="12001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ClrTx/>
              <a:buSzTx/>
              <a:buFontTx/>
              <a:buNone/>
              <a:defRPr sz="1800" b="1">
                <a:solidFill>
                  <a:srgbClr val="FFFFFF"/>
                </a:solidFill>
                <a:latin typeface="Lato"/>
                <a:ea typeface="Lato"/>
                <a:cs typeface="Lato"/>
              </a:defRPr>
            </a:pPr>
            <a:r>
              <a:rPr sz="1200"/>
              <a:t>STATE</a:t>
            </a:r>
          </a:p>
        </p:txBody>
      </p:sp>
      <p:sp>
        <p:nvSpPr>
          <p:cNvPr id="25" name="矩形 24"/>
          <p:cNvSpPr>
            <a:spLocks noGrp="1"/>
          </p:cNvSpPr>
          <p:nvPr/>
        </p:nvSpPr>
        <p:spPr>
          <a:xfrm>
            <a:off x="6191250" y="2762250"/>
            <a:ext cx="2076450" cy="838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1">
                <a:solidFill>
                  <a:srgbClr val="163F68"/>
                </a:solidFill>
                <a:latin typeface="Lato"/>
                <a:ea typeface="Lato"/>
                <a:cs typeface="Lato"/>
              </a:defRPr>
            </a:pPr>
            <a:r>
              <a:rPr sz="1125" b="1">
                <a:solidFill>
                  <a:srgbClr val="163F68"/>
                </a:solidFill>
                <a:latin typeface="Lato"/>
                <a:ea typeface="Lato"/>
                <a:cs typeface="Lato"/>
              </a:rPr>
              <a:t>Teacher briefing: Predict How Events Change the UI</a:t>
            </a:r>
          </a:p>
          <a:p>
            <a:pPr algn="ctr">
              <a:buNone/>
              <a:defRPr sz="1125" b="1">
                <a:solidFill>
                  <a:srgbClr val="163F68"/>
                </a:solidFill>
                <a:latin typeface="Lato"/>
                <a:ea typeface="Lato"/>
                <a:cs typeface="Lato"/>
              </a:defRPr>
            </a:pPr>
            <a:r>
              <a:rPr sz="1125" b="1">
                <a:solidFill>
                  <a:srgbClr val="163F68"/>
                </a:solidFill>
                <a:latin typeface="Lato"/>
                <a:ea typeface="Lato"/>
                <a:cs typeface="Lato"/>
              </a:rPr>
              <a:t>TA labs: Verify with React + fetch</a:t>
            </a:r>
          </a:p>
        </p:txBody>
      </p:sp>
      <p:sp>
        <p:nvSpPr>
          <p:cNvPr id="26" name="圆角矩形 25"/>
          <p:cNvSpPr>
            <a:spLocks noGrp="1"/>
          </p:cNvSpPr>
          <p:nvPr/>
        </p:nvSpPr>
        <p:spPr>
          <a:xfrm>
            <a:off x="8667750" y="1466850"/>
            <a:ext cx="2419350" cy="2343150"/>
          </a:xfrm>
          <a:prstGeom prst="roundRect">
            <a:avLst>
              <a:gd name="adj" fmla="val 3252"/>
            </a:avLst>
          </a:prstGeom>
          <a:solidFill>
            <a:srgbClr val="FFF8E6"/>
          </a:solidFill>
          <a:ln w="9525">
            <a:solidFill>
              <a:srgbClr val="D4A72C"/>
            </a:solidFill>
            <a:prstDash val="solid"/>
          </a:ln>
        </p:spPr>
        <p:txBody>
          <a:bodyPr/>
          <a:lstStyle/>
          <a:p>
            <a:endParaRPr/>
          </a:p>
        </p:txBody>
      </p:sp>
      <p:sp>
        <p:nvSpPr>
          <p:cNvPr id="27" name="椭圆 26"/>
          <p:cNvSpPr>
            <a:spLocks noGrp="1"/>
          </p:cNvSpPr>
          <p:nvPr/>
        </p:nvSpPr>
        <p:spPr>
          <a:xfrm>
            <a:off x="9467850" y="1695450"/>
            <a:ext cx="819150" cy="819150"/>
          </a:xfrm>
          <a:prstGeom prst="ellipse">
            <a:avLst/>
          </a:prstGeom>
          <a:solidFill>
            <a:srgbClr val="D4A72C"/>
          </a:solidFill>
          <a:ln w="9525">
            <a:solidFill>
              <a:srgbClr val="D4A72C"/>
            </a:solidFill>
            <a:prstDash val="solid"/>
          </a:ln>
        </p:spPr>
        <p:txBody>
          <a:bodyPr/>
          <a:lstStyle/>
          <a:p>
            <a:endParaRPr/>
          </a:p>
        </p:txBody>
      </p:sp>
      <p:sp>
        <p:nvSpPr>
          <p:cNvPr id="28" name="矩形 27"/>
          <p:cNvSpPr>
            <a:spLocks noGrp="1"/>
          </p:cNvSpPr>
          <p:nvPr/>
        </p:nvSpPr>
        <p:spPr>
          <a:xfrm>
            <a:off x="9288780" y="2018665"/>
            <a:ext cx="12001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ClrTx/>
              <a:buSzTx/>
              <a:buFontTx/>
              <a:buNone/>
              <a:defRPr sz="1800" b="1">
                <a:solidFill>
                  <a:srgbClr val="FFFFFF"/>
                </a:solidFill>
                <a:latin typeface="Lato"/>
                <a:ea typeface="Lato"/>
                <a:cs typeface="Lato"/>
              </a:defRPr>
            </a:pPr>
            <a:r>
              <a:rPr sz="1200"/>
              <a:t>DELIVERY</a:t>
            </a:r>
          </a:p>
        </p:txBody>
      </p:sp>
      <p:sp>
        <p:nvSpPr>
          <p:cNvPr id="29" name="矩形 28"/>
          <p:cNvSpPr>
            <a:spLocks noGrp="1"/>
          </p:cNvSpPr>
          <p:nvPr/>
        </p:nvSpPr>
        <p:spPr>
          <a:xfrm>
            <a:off x="8839200" y="2762250"/>
            <a:ext cx="2076450" cy="838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1">
                <a:solidFill>
                  <a:srgbClr val="163F68"/>
                </a:solidFill>
                <a:latin typeface="Lato"/>
                <a:ea typeface="Lato"/>
                <a:cs typeface="Lato"/>
              </a:defRPr>
            </a:pPr>
            <a:r>
              <a:rPr sz="1125" b="1">
                <a:solidFill>
                  <a:srgbClr val="163F68"/>
                </a:solidFill>
                <a:latin typeface="Lato"/>
                <a:ea typeface="Lato"/>
                <a:cs typeface="Lato"/>
              </a:rPr>
              <a:t>Teacher briefing: Explain the Deployment Order</a:t>
            </a:r>
          </a:p>
          <a:p>
            <a:pPr algn="ctr">
              <a:buNone/>
              <a:defRPr sz="1125" b="1">
                <a:solidFill>
                  <a:srgbClr val="163F68"/>
                </a:solidFill>
                <a:latin typeface="Lato"/>
                <a:ea typeface="Lato"/>
                <a:cs typeface="Lato"/>
              </a:defRPr>
            </a:pPr>
            <a:r>
              <a:rPr sz="1125" b="1">
                <a:solidFill>
                  <a:srgbClr val="163F68"/>
                </a:solidFill>
                <a:latin typeface="Lato"/>
                <a:ea typeface="Lato"/>
                <a:cs typeface="Lato"/>
              </a:rPr>
              <a:t>TA labs: Open a PR, Retest, or Record a Real Blocker</a:t>
            </a:r>
          </a:p>
        </p:txBody>
      </p:sp>
      <p:sp>
        <p:nvSpPr>
          <p:cNvPr id="30" name="圆角矩形 29"/>
          <p:cNvSpPr>
            <a:spLocks noGrp="1"/>
          </p:cNvSpPr>
          <p:nvPr/>
        </p:nvSpPr>
        <p:spPr>
          <a:xfrm>
            <a:off x="723900" y="4095750"/>
            <a:ext cx="10363200" cy="1009650"/>
          </a:xfrm>
          <a:prstGeom prst="roundRect">
            <a:avLst>
              <a:gd name="adj" fmla="val 7547"/>
            </a:avLst>
          </a:prstGeom>
          <a:solidFill>
            <a:srgbClr val="F1F6FA"/>
          </a:solidFill>
          <a:ln w="9525">
            <a:solidFill>
              <a:srgbClr val="1F5284"/>
            </a:solidFill>
            <a:prstDash val="solid"/>
          </a:ln>
        </p:spPr>
        <p:txBody>
          <a:bodyPr/>
          <a:lstStyle/>
          <a:p>
            <a:endParaRPr/>
          </a:p>
        </p:txBody>
      </p:sp>
      <p:sp>
        <p:nvSpPr>
          <p:cNvPr id="31" name="矩形 30"/>
          <p:cNvSpPr>
            <a:spLocks noGrp="1"/>
          </p:cNvSpPr>
          <p:nvPr/>
        </p:nvSpPr>
        <p:spPr>
          <a:xfrm>
            <a:off x="933450" y="4257675"/>
            <a:ext cx="99441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Follow One Continuous Thread Throughout the Day</a:t>
            </a:r>
          </a:p>
        </p:txBody>
      </p:sp>
      <p:sp>
        <p:nvSpPr>
          <p:cNvPr id="32" name="矩形 31"/>
          <p:cNvSpPr>
            <a:spLocks noGrp="1"/>
          </p:cNvSpPr>
          <p:nvPr/>
        </p:nvSpPr>
        <p:spPr>
          <a:xfrm>
            <a:off x="933450" y="4648200"/>
            <a:ext cx="9944100" cy="323850"/>
          </a:xfrm>
          <a:prstGeom prst="rect">
            <a:avLst/>
          </a:prstGeom>
          <a:solidFill>
            <a:srgbClr val="FFFFFF">
              <a:alpha val="0"/>
            </a:srgbClr>
          </a:solidFill>
          <a:ln w="0">
            <a:solidFill>
              <a:srgbClr val="000000">
                <a:alpha val="0"/>
              </a:srgbClr>
            </a:solidFill>
            <a:prstDash val="solid"/>
          </a:ln>
        </p:spPr>
        <p:txBody>
          <a:bodyPr lIns="0" tIns="0" rIns="0" bIns="0" anchor="t">
            <a:normAutofit fontScale="88608" lnSpcReduction="20000"/>
          </a:bodyPr>
          <a:lstStyle/>
          <a:p>
            <a:pPr algn="l">
              <a:buNone/>
              <a:defRPr sz="1350" b="0">
                <a:solidFill>
                  <a:srgbClr val="637788"/>
                </a:solidFill>
                <a:latin typeface="Lato"/>
                <a:ea typeface="Lato"/>
                <a:cs typeface="Lato"/>
              </a:defRPr>
            </a:pPr>
            <a:r>
              <a:rPr sz="1350" b="0">
                <a:solidFill>
                  <a:srgbClr val="637788"/>
                </a:solidFill>
                <a:latin typeface="Lato"/>
                <a:ea typeface="Lato"/>
                <a:cs typeface="Lato"/>
              </a:rPr>
              <a:t>In the teacher briefing, predict what happens at each step; in the TA labs, prove it happened using Swagger, Network, the source text, and peer retesting.</a:t>
            </a:r>
          </a:p>
        </p:txBody>
      </p:sp>
      <p:sp>
        <p:nvSpPr>
          <p:cNvPr id="33" name="矩形 32"/>
          <p:cNvSpPr>
            <a:spLocks noGrp="1"/>
          </p:cNvSpPr>
          <p:nvPr/>
        </p:nvSpPr>
        <p:spPr>
          <a:xfrm>
            <a:off x="781050" y="5314950"/>
            <a:ext cx="100965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1500" b="1">
                <a:solidFill>
                  <a:srgbClr val="39825B"/>
                </a:solidFill>
                <a:latin typeface="Lato"/>
                <a:ea typeface="Lato"/>
                <a:cs typeface="Lato"/>
              </a:defRPr>
            </a:pPr>
            <a:r>
              <a:rPr sz="1500" b="1">
                <a:solidFill>
                  <a:srgbClr val="39825B"/>
                </a:solidFill>
                <a:latin typeface="Lato"/>
                <a:ea typeface="Lato"/>
                <a:cs typeface="Lato"/>
              </a:rPr>
              <a:t>Evidence of learning: you can do more than click buttons—you can explain what happened, locate blockers, and hand the work to a peer.</a:t>
            </a:r>
          </a:p>
        </p:txBody>
      </p:sp>
      <p:sp>
        <p:nvSpPr>
          <p:cNvPr id="35" name="矩形 34"/>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36" name="矩形 35"/>
          <p:cNvSpPr>
            <a:spLocks noGrp="1"/>
          </p:cNvSpPr>
          <p:nvPr/>
        </p:nvSpPr>
        <p:spPr>
          <a:xfrm>
            <a:off x="781050" y="1638300"/>
            <a:ext cx="390525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1">
                <a:solidFill>
                  <a:srgbClr val="F59E0B"/>
                </a:solidFill>
                <a:latin typeface="Aptos"/>
                <a:ea typeface="Aptos"/>
                <a:cs typeface="Aptos"/>
              </a:defRPr>
            </a:pPr>
            <a:r>
              <a:rPr sz="1350" b="1">
                <a:solidFill>
                  <a:srgbClr val="F59E0B"/>
                </a:solidFill>
                <a:latin typeface="Aptos"/>
                <a:ea typeface="Aptos"/>
                <a:cs typeface="Aptos"/>
              </a:rPr>
              <a:t>One user journey</a:t>
            </a:r>
          </a:p>
        </p:txBody>
      </p:sp>
      <p:sp>
        <p:nvSpPr>
          <p:cNvPr id="37" name="矩形 36"/>
          <p:cNvSpPr>
            <a:spLocks noGrp="1"/>
          </p:cNvSpPr>
          <p:nvPr/>
        </p:nvSpPr>
        <p:spPr>
          <a:xfrm>
            <a:off x="781050" y="1981200"/>
            <a:ext cx="4095750" cy="819150"/>
          </a:xfrm>
          <a:prstGeom prst="rect">
            <a:avLst/>
          </a:prstGeom>
          <a:solidFill>
            <a:srgbClr val="FFFFFF">
              <a:alpha val="0"/>
            </a:srgbClr>
          </a:solidFill>
          <a:ln w="0">
            <a:solidFill>
              <a:srgbClr val="FFFFFF">
                <a:alpha val="0"/>
              </a:srgbClr>
            </a:solidFill>
            <a:prstDash val="solid"/>
          </a:ln>
        </p:spPr>
        <p:txBody>
          <a:bodyPr lIns="0" tIns="0" rIns="0" bIns="0" anchor="t">
            <a:normAutofit/>
          </a:bodyPr>
          <a:lstStyle/>
          <a:p>
            <a:pPr algn="l">
              <a:buNone/>
              <a:defRPr sz="2100" b="1">
                <a:solidFill>
                  <a:srgbClr val="123F6D"/>
                </a:solidFill>
                <a:latin typeface="Aptos"/>
                <a:ea typeface="Aptos"/>
                <a:cs typeface="Aptos"/>
              </a:defRPr>
            </a:pPr>
            <a:r>
              <a:rPr sz="2100" b="1">
                <a:solidFill>
                  <a:srgbClr val="123F6D"/>
                </a:solidFill>
                <a:latin typeface="Aptos"/>
                <a:ea typeface="Aptos"/>
                <a:cs typeface="Aptos"/>
              </a:rPr>
              <a:t>Upload → ask → see evidence → use the public app</a:t>
            </a:r>
          </a:p>
        </p:txBody>
      </p:sp>
      <p:sp>
        <p:nvSpPr>
          <p:cNvPr id="38" name="矩形 37"/>
          <p:cNvSpPr>
            <a:spLocks noGrp="1"/>
          </p:cNvSpPr>
          <p:nvPr/>
        </p:nvSpPr>
        <p:spPr>
          <a:xfrm>
            <a:off x="781050" y="3009900"/>
            <a:ext cx="3905250" cy="2857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0">
                <a:solidFill>
                  <a:srgbClr val="123F6D"/>
                </a:solidFill>
                <a:latin typeface="Aptos"/>
                <a:ea typeface="Aptos"/>
                <a:cs typeface="Aptos"/>
              </a:defRPr>
            </a:pPr>
            <a:r>
              <a:rPr sz="1350" b="0">
                <a:solidFill>
                  <a:srgbClr val="123F6D"/>
                </a:solidFill>
                <a:latin typeface="Aptos"/>
                <a:ea typeface="Aptos"/>
                <a:cs typeface="Aptos"/>
              </a:rPr>
              <a:t>Same chat_id connects upload and chat.</a:t>
            </a:r>
          </a:p>
        </p:txBody>
      </p:sp>
      <p:sp>
        <p:nvSpPr>
          <p:cNvPr id="39" name="矩形 38"/>
          <p:cNvSpPr>
            <a:spLocks noGrp="1"/>
          </p:cNvSpPr>
          <p:nvPr/>
        </p:nvSpPr>
        <p:spPr>
          <a:xfrm>
            <a:off x="781050" y="3371850"/>
            <a:ext cx="3905250" cy="2857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0">
                <a:solidFill>
                  <a:srgbClr val="123F6D"/>
                </a:solidFill>
                <a:latin typeface="Aptos"/>
                <a:ea typeface="Aptos"/>
                <a:cs typeface="Aptos"/>
              </a:defRPr>
            </a:pPr>
            <a:r>
              <a:rPr sz="1350" b="0">
                <a:solidFill>
                  <a:srgbClr val="123F6D"/>
                </a:solidFill>
                <a:latin typeface="Aptos"/>
                <a:ea typeface="Aptos"/>
                <a:cs typeface="Aptos"/>
              </a:rPr>
              <a:t>Same API contract drives React.</a:t>
            </a:r>
          </a:p>
        </p:txBody>
      </p:sp>
      <p:sp>
        <p:nvSpPr>
          <p:cNvPr id="40" name="矩形 39"/>
          <p:cNvSpPr>
            <a:spLocks noGrp="1"/>
          </p:cNvSpPr>
          <p:nvPr/>
        </p:nvSpPr>
        <p:spPr>
          <a:xfrm>
            <a:off x="781050" y="3733800"/>
            <a:ext cx="4095750" cy="2857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0">
                <a:solidFill>
                  <a:srgbClr val="123F6D"/>
                </a:solidFill>
                <a:latin typeface="Aptos"/>
                <a:ea typeface="Aptos"/>
                <a:cs typeface="Aptos"/>
              </a:defRPr>
            </a:pPr>
            <a:r>
              <a:rPr sz="1350" b="0">
                <a:solidFill>
                  <a:srgbClr val="123F6D"/>
                </a:solidFill>
                <a:latin typeface="Aptos"/>
                <a:ea typeface="Aptos"/>
                <a:cs typeface="Aptos"/>
              </a:rPr>
              <a:t>Deployment changes the URLs—not the logic.</a:t>
            </a:r>
          </a:p>
        </p:txBody>
      </p:sp>
      <p:pic>
        <p:nvPicPr>
          <p:cNvPr id="90" name="图片 89"/>
          <p:cNvPicPr>
            <a:picLocks noChangeAspect="1"/>
          </p:cNvPicPr>
          <p:nvPr/>
        </p:nvPicPr>
        <p:blipFill>
          <a:blip r:embed="rId3"/>
          <a:stretch>
            <a:fillRect/>
          </a:stretch>
        </p:blipFill>
        <p:spPr>
          <a:xfrm>
            <a:off x="5208485" y="1524000"/>
            <a:ext cx="5585031" cy="3143250"/>
          </a:xfrm>
          <a:prstGeom prst="rect">
            <a:avLst/>
          </a:prstGeom>
        </p:spPr>
      </p:pic>
      <p:sp>
        <p:nvSpPr>
          <p:cNvPr id="42" name="圆角矩形 41"/>
          <p:cNvSpPr>
            <a:spLocks noGrp="1"/>
          </p:cNvSpPr>
          <p:nvPr/>
        </p:nvSpPr>
        <p:spPr>
          <a:xfrm>
            <a:off x="781050" y="504825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43" name="矩形 42"/>
          <p:cNvSpPr>
            <a:spLocks noGrp="1"/>
          </p:cNvSpPr>
          <p:nvPr/>
        </p:nvSpPr>
        <p:spPr>
          <a:xfrm>
            <a:off x="3124200" y="50768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4" name="圆角矩形 43"/>
          <p:cNvSpPr>
            <a:spLocks noGrp="1"/>
          </p:cNvSpPr>
          <p:nvPr/>
        </p:nvSpPr>
        <p:spPr>
          <a:xfrm>
            <a:off x="3429000" y="504825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45" name="矩形 44"/>
          <p:cNvSpPr>
            <a:spLocks noGrp="1"/>
          </p:cNvSpPr>
          <p:nvPr/>
        </p:nvSpPr>
        <p:spPr>
          <a:xfrm>
            <a:off x="5772150" y="50768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6" name="圆角矩形 45"/>
          <p:cNvSpPr>
            <a:spLocks noGrp="1"/>
          </p:cNvSpPr>
          <p:nvPr/>
        </p:nvSpPr>
        <p:spPr>
          <a:xfrm>
            <a:off x="6076950" y="5048250"/>
            <a:ext cx="2305050" cy="361950"/>
          </a:xfrm>
          <a:prstGeom prst="roundRect">
            <a:avLst>
              <a:gd name="adj" fmla="val 21053"/>
            </a:avLst>
          </a:prstGeom>
          <a:solidFill>
            <a:srgbClr val="7557C8"/>
          </a:solidFill>
          <a:ln w="10478">
            <a:solidFill>
              <a:srgbClr val="7557C8"/>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React state</a:t>
            </a:r>
          </a:p>
        </p:txBody>
      </p:sp>
      <p:sp>
        <p:nvSpPr>
          <p:cNvPr id="47" name="矩形 46"/>
          <p:cNvSpPr>
            <a:spLocks noGrp="1"/>
          </p:cNvSpPr>
          <p:nvPr/>
        </p:nvSpPr>
        <p:spPr>
          <a:xfrm>
            <a:off x="8420100" y="50768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8" name="圆角矩形 47"/>
          <p:cNvSpPr>
            <a:spLocks noGrp="1"/>
          </p:cNvSpPr>
          <p:nvPr/>
        </p:nvSpPr>
        <p:spPr>
          <a:xfrm>
            <a:off x="8724900" y="5048250"/>
            <a:ext cx="2305050" cy="361950"/>
          </a:xfrm>
          <a:prstGeom prst="roundRect">
            <a:avLst>
              <a:gd name="adj" fmla="val 21053"/>
            </a:avLst>
          </a:prstGeom>
          <a:solidFill>
            <a:srgbClr val="3A8B61"/>
          </a:solidFill>
          <a:ln w="10478">
            <a:solidFill>
              <a:srgbClr val="3A8B61"/>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Delivery</a:t>
            </a:r>
          </a:p>
        </p:txBody>
      </p:sp>
      <p:sp>
        <p:nvSpPr>
          <p:cNvPr id="49" name="矩形 48"/>
          <p:cNvSpPr>
            <a:spLocks noGrp="1"/>
          </p:cNvSpPr>
          <p:nvPr/>
        </p:nvSpPr>
        <p:spPr>
          <a:xfrm>
            <a:off x="781050" y="5562600"/>
            <a:ext cx="1045845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3A8B61"/>
                </a:solidFill>
                <a:latin typeface="Aptos"/>
                <a:ea typeface="Aptos"/>
                <a:cs typeface="Aptos"/>
              </a:defRPr>
            </a:pPr>
            <a:r>
              <a:rPr sz="1350" b="1">
                <a:solidFill>
                  <a:srgbClr val="3A8B61"/>
                </a:solidFill>
                <a:latin typeface="Aptos"/>
                <a:ea typeface="Aptos"/>
                <a:cs typeface="Aptos"/>
              </a:rPr>
              <a:t>Teacher: explain the connections.  TAs: help students prove each connection.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CONTINUING FROM YESTERDAY</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fontScale="89924"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Four-day project: turn the prototype into its first web feature today</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STUDENT SELF-READ</a:t>
            </a:r>
          </a:p>
        </p:txBody>
      </p:sp>
      <p:sp>
        <p:nvSpPr>
          <p:cNvPr id="5" name="矩形 4"/>
          <p:cNvSpPr>
            <a:spLocks noGrp="1"/>
          </p:cNvSpPr>
          <p:nvPr/>
        </p:nvSpPr>
        <p:spPr>
          <a:xfrm>
            <a:off x="8667750" y="647700"/>
            <a:ext cx="400050" cy="28575"/>
          </a:xfrm>
          <a:prstGeom prst="rect">
            <a:avLst/>
          </a:prstGeom>
          <a:solidFill>
            <a:srgbClr val="0070C0"/>
          </a:solidFill>
          <a:ln w="9525">
            <a:solidFill>
              <a:srgbClr val="0070C0"/>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A7B8C8"/>
          </a:solidFill>
          <a:ln w="9525">
            <a:solidFill>
              <a:srgbClr val="A7B8C8"/>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a:t>
            </a:r>
          </a:p>
        </p:txBody>
      </p:sp>
      <p:sp>
        <p:nvSpPr>
          <p:cNvPr id="14" name="圆角矩形 13"/>
          <p:cNvSpPr>
            <a:spLocks noGrp="1"/>
          </p:cNvSpPr>
          <p:nvPr/>
        </p:nvSpPr>
        <p:spPr>
          <a:xfrm>
            <a:off x="762000" y="1676400"/>
            <a:ext cx="247650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15" name="矩形 14"/>
          <p:cNvSpPr>
            <a:spLocks noGrp="1"/>
          </p:cNvSpPr>
          <p:nvPr/>
        </p:nvSpPr>
        <p:spPr>
          <a:xfrm>
            <a:off x="895350" y="1847850"/>
            <a:ext cx="2209800" cy="3048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ctr">
              <a:buNone/>
              <a:defRPr sz="1500" b="1">
                <a:solidFill>
                  <a:srgbClr val="163F68"/>
                </a:solidFill>
                <a:latin typeface="Lato"/>
                <a:ea typeface="Lato"/>
                <a:cs typeface="Lato"/>
              </a:defRPr>
            </a:pPr>
            <a:r>
              <a:rPr sz="1500" b="1">
                <a:solidFill>
                  <a:srgbClr val="163F68"/>
                </a:solidFill>
                <a:latin typeface="Lato"/>
                <a:ea typeface="Lato"/>
                <a:cs typeface="Lato"/>
              </a:rPr>
              <a:t>Day 1 · Tools and Prototype</a:t>
            </a:r>
          </a:p>
        </p:txBody>
      </p:sp>
      <p:sp>
        <p:nvSpPr>
          <p:cNvPr id="16" name="矩形 15"/>
          <p:cNvSpPr>
            <a:spLocks noGrp="1"/>
          </p:cNvSpPr>
          <p:nvPr/>
        </p:nvSpPr>
        <p:spPr>
          <a:xfrm>
            <a:off x="895350" y="2266950"/>
            <a:ext cx="2209800" cy="704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0">
                <a:solidFill>
                  <a:srgbClr val="637788"/>
                </a:solidFill>
                <a:latin typeface="Lato"/>
                <a:ea typeface="Lato"/>
                <a:cs typeface="Lato"/>
              </a:defRPr>
            </a:pPr>
            <a:r>
              <a:rPr sz="1125" b="0">
                <a:solidFill>
                  <a:srgbClr val="637788"/>
                </a:solidFill>
                <a:latin typeface="Lato"/>
                <a:ea typeface="Lato"/>
                <a:cs typeface="Lato"/>
              </a:rPr>
              <a:t>Vibe Coding</a:t>
            </a:r>
          </a:p>
          <a:p>
            <a:pPr algn="ctr">
              <a:buNone/>
              <a:defRPr sz="1125" b="0">
                <a:solidFill>
                  <a:srgbClr val="637788"/>
                </a:solidFill>
                <a:latin typeface="Lato"/>
                <a:ea typeface="Lato"/>
                <a:cs typeface="Lato"/>
              </a:defRPr>
            </a:pPr>
            <a:r>
              <a:rPr sz="1125" b="0">
                <a:solidFill>
                  <a:srgbClr val="637788"/>
                </a:solidFill>
                <a:latin typeface="Lato"/>
                <a:ea typeface="Lato"/>
                <a:cs typeface="Lato"/>
              </a:rPr>
              <a:t>Git · Python · LLM API</a:t>
            </a:r>
          </a:p>
          <a:p>
            <a:pPr algn="ctr">
              <a:buNone/>
              <a:defRPr sz="1125" b="0">
                <a:solidFill>
                  <a:srgbClr val="637788"/>
                </a:solidFill>
                <a:latin typeface="Lato"/>
                <a:ea typeface="Lato"/>
                <a:cs typeface="Lato"/>
              </a:defRPr>
            </a:pPr>
            <a:r>
              <a:rPr sz="1125" b="0">
                <a:solidFill>
                  <a:srgbClr val="637788"/>
                </a:solidFill>
                <a:latin typeface="Lato"/>
                <a:ea typeface="Lato"/>
                <a:cs typeface="Lato"/>
              </a:rPr>
              <a:t>Requirements Analysis + Product Design</a:t>
            </a:r>
          </a:p>
        </p:txBody>
      </p:sp>
      <p:sp>
        <p:nvSpPr>
          <p:cNvPr id="17" name="右箭头 16"/>
          <p:cNvSpPr>
            <a:spLocks noGrp="1"/>
          </p:cNvSpPr>
          <p:nvPr/>
        </p:nvSpPr>
        <p:spPr>
          <a:xfrm>
            <a:off x="3524250" y="2190750"/>
            <a:ext cx="609600" cy="400050"/>
          </a:xfrm>
          <a:prstGeom prst="rightArrow">
            <a:avLst/>
          </a:prstGeom>
          <a:solidFill>
            <a:srgbClr val="0070C0"/>
          </a:solidFill>
          <a:ln w="9525">
            <a:solidFill>
              <a:srgbClr val="0070C0"/>
            </a:solidFill>
            <a:prstDash val="solid"/>
          </a:ln>
        </p:spPr>
        <p:txBody>
          <a:bodyPr/>
          <a:lstStyle/>
          <a:p>
            <a:endParaRPr/>
          </a:p>
        </p:txBody>
      </p:sp>
      <p:sp>
        <p:nvSpPr>
          <p:cNvPr id="18" name="圆角矩形 17"/>
          <p:cNvSpPr>
            <a:spLocks noGrp="1"/>
          </p:cNvSpPr>
          <p:nvPr/>
        </p:nvSpPr>
        <p:spPr>
          <a:xfrm>
            <a:off x="4419600" y="1676400"/>
            <a:ext cx="2857500" cy="1428750"/>
          </a:xfrm>
          <a:prstGeom prst="roundRect">
            <a:avLst>
              <a:gd name="adj" fmla="val 5333"/>
            </a:avLst>
          </a:prstGeom>
          <a:solidFill>
            <a:srgbClr val="0070C0"/>
          </a:solidFill>
          <a:ln w="9525">
            <a:solidFill>
              <a:srgbClr val="0070C0"/>
            </a:solidFill>
            <a:prstDash val="solid"/>
          </a:ln>
        </p:spPr>
        <p:txBody>
          <a:bodyPr/>
          <a:lstStyle/>
          <a:p>
            <a:endParaRPr/>
          </a:p>
        </p:txBody>
      </p:sp>
      <p:sp>
        <p:nvSpPr>
          <p:cNvPr id="19" name="矩形 18"/>
          <p:cNvSpPr>
            <a:spLocks noGrp="1"/>
          </p:cNvSpPr>
          <p:nvPr/>
        </p:nvSpPr>
        <p:spPr>
          <a:xfrm>
            <a:off x="4552950" y="1847850"/>
            <a:ext cx="25908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500" b="1">
                <a:solidFill>
                  <a:srgbClr val="FFFFFF"/>
                </a:solidFill>
                <a:latin typeface="Lato"/>
                <a:ea typeface="Lato"/>
                <a:cs typeface="Lato"/>
              </a:defRPr>
            </a:pPr>
            <a:r>
              <a:rPr sz="1500" b="1">
                <a:solidFill>
                  <a:srgbClr val="FFFFFF"/>
                </a:solidFill>
                <a:latin typeface="Lato"/>
                <a:ea typeface="Lato"/>
                <a:cs typeface="Lato"/>
              </a:rPr>
              <a:t>Day 2 · Today</a:t>
            </a:r>
          </a:p>
        </p:txBody>
      </p:sp>
      <p:sp>
        <p:nvSpPr>
          <p:cNvPr id="20" name="矩形 19"/>
          <p:cNvSpPr>
            <a:spLocks noGrp="1"/>
          </p:cNvSpPr>
          <p:nvPr/>
        </p:nvSpPr>
        <p:spPr>
          <a:xfrm>
            <a:off x="4552950" y="2266950"/>
            <a:ext cx="2590800" cy="704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0">
                <a:solidFill>
                  <a:srgbClr val="FFFFFF"/>
                </a:solidFill>
                <a:latin typeface="Lato"/>
                <a:ea typeface="Lato"/>
                <a:cs typeface="Lato"/>
              </a:defRPr>
            </a:pPr>
            <a:r>
              <a:rPr sz="1125" b="0">
                <a:solidFill>
                  <a:srgbClr val="FFFFFF"/>
                </a:solidFill>
                <a:latin typeface="Lato"/>
                <a:ea typeface="Lato"/>
                <a:cs typeface="Lato"/>
              </a:rPr>
              <a:t>PDF Upload + Simple Q&amp;A</a:t>
            </a:r>
          </a:p>
          <a:p>
            <a:pPr algn="ctr">
              <a:buNone/>
              <a:defRPr sz="1125" b="0">
                <a:solidFill>
                  <a:srgbClr val="FFFFFF"/>
                </a:solidFill>
                <a:latin typeface="Lato"/>
                <a:ea typeface="Lato"/>
                <a:cs typeface="Lato"/>
              </a:defRPr>
            </a:pPr>
            <a:r>
              <a:rPr sz="1125" b="0">
                <a:solidFill>
                  <a:srgbClr val="FFFFFF"/>
                </a:solidFill>
                <a:latin typeface="Lato"/>
                <a:ea typeface="Lato"/>
                <a:cs typeface="Lato"/>
              </a:rPr>
              <a:t>FastAPI + React/Vite</a:t>
            </a:r>
          </a:p>
          <a:p>
            <a:pPr algn="ctr">
              <a:buNone/>
              <a:defRPr sz="1125" b="0">
                <a:solidFill>
                  <a:srgbClr val="FFFFFF"/>
                </a:solidFill>
                <a:latin typeface="Lato"/>
                <a:ea typeface="Lato"/>
                <a:cs typeface="Lato"/>
              </a:defRPr>
            </a:pPr>
            <a:r>
              <a:rPr sz="1125" b="0">
                <a:solidFill>
                  <a:srgbClr val="FFFFFF"/>
                </a:solidFill>
                <a:latin typeface="Lato"/>
                <a:ea typeface="Lato"/>
                <a:cs typeface="Lato"/>
              </a:rPr>
              <a:t>Small Documents: Full Text in the Prompt</a:t>
            </a:r>
          </a:p>
        </p:txBody>
      </p:sp>
      <p:sp>
        <p:nvSpPr>
          <p:cNvPr id="21" name="右箭头 20"/>
          <p:cNvSpPr>
            <a:spLocks noGrp="1"/>
          </p:cNvSpPr>
          <p:nvPr/>
        </p:nvSpPr>
        <p:spPr>
          <a:xfrm>
            <a:off x="7562850" y="2190750"/>
            <a:ext cx="609600" cy="400050"/>
          </a:xfrm>
          <a:prstGeom prst="rightArrow">
            <a:avLst/>
          </a:prstGeom>
          <a:solidFill>
            <a:srgbClr val="0070C0"/>
          </a:solidFill>
          <a:ln w="9525">
            <a:solidFill>
              <a:srgbClr val="0070C0"/>
            </a:solidFill>
            <a:prstDash val="solid"/>
          </a:ln>
        </p:spPr>
        <p:txBody>
          <a:bodyPr/>
          <a:lstStyle/>
          <a:p>
            <a:endParaRPr/>
          </a:p>
        </p:txBody>
      </p:sp>
      <p:sp>
        <p:nvSpPr>
          <p:cNvPr id="22" name="圆角矩形 21"/>
          <p:cNvSpPr>
            <a:spLocks noGrp="1"/>
          </p:cNvSpPr>
          <p:nvPr/>
        </p:nvSpPr>
        <p:spPr>
          <a:xfrm>
            <a:off x="8458200" y="1676400"/>
            <a:ext cx="285750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23" name="矩形 22"/>
          <p:cNvSpPr>
            <a:spLocks noGrp="1"/>
          </p:cNvSpPr>
          <p:nvPr/>
        </p:nvSpPr>
        <p:spPr>
          <a:xfrm>
            <a:off x="8591550" y="1847850"/>
            <a:ext cx="25908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500" b="1">
                <a:solidFill>
                  <a:srgbClr val="163F68"/>
                </a:solidFill>
                <a:latin typeface="Lato"/>
                <a:ea typeface="Lato"/>
                <a:cs typeface="Lato"/>
              </a:defRPr>
            </a:pPr>
            <a:r>
              <a:rPr sz="1500" b="1">
                <a:solidFill>
                  <a:srgbClr val="163F68"/>
                </a:solidFill>
                <a:latin typeface="Lato"/>
                <a:ea typeface="Lato"/>
                <a:cs typeface="Lato"/>
              </a:rPr>
              <a:t>Day 3 · Next Step</a:t>
            </a:r>
          </a:p>
        </p:txBody>
      </p:sp>
      <p:sp>
        <p:nvSpPr>
          <p:cNvPr id="24" name="矩形 23"/>
          <p:cNvSpPr>
            <a:spLocks noGrp="1"/>
          </p:cNvSpPr>
          <p:nvPr/>
        </p:nvSpPr>
        <p:spPr>
          <a:xfrm>
            <a:off x="8591550" y="2266950"/>
            <a:ext cx="2590800" cy="704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0">
                <a:solidFill>
                  <a:srgbClr val="637788"/>
                </a:solidFill>
                <a:latin typeface="Lato"/>
                <a:ea typeface="Lato"/>
                <a:cs typeface="Lato"/>
              </a:defRPr>
            </a:pPr>
            <a:r>
              <a:rPr sz="1125" b="0">
                <a:solidFill>
                  <a:srgbClr val="637788"/>
                </a:solidFill>
                <a:latin typeface="Lato"/>
                <a:ea typeface="Lato"/>
                <a:cs typeface="Lato"/>
              </a:rPr>
              <a:t>RAG Retrieval</a:t>
            </a:r>
          </a:p>
          <a:p>
            <a:pPr algn="ctr">
              <a:buNone/>
              <a:defRPr sz="1125" b="0">
                <a:solidFill>
                  <a:srgbClr val="637788"/>
                </a:solidFill>
                <a:latin typeface="Lato"/>
                <a:ea typeface="Lato"/>
                <a:cs typeface="Lato"/>
              </a:defRPr>
            </a:pPr>
            <a:r>
              <a:rPr sz="1125" b="0">
                <a:solidFill>
                  <a:srgbClr val="637788"/>
                </a:solidFill>
                <a:latin typeface="Lato"/>
                <a:ea typeface="Lato"/>
                <a:cs typeface="Lato"/>
              </a:rPr>
              <a:t>Chunking · Embeddings · FAISS</a:t>
            </a:r>
          </a:p>
          <a:p>
            <a:pPr algn="ctr">
              <a:buNone/>
              <a:defRPr sz="1125" b="0">
                <a:solidFill>
                  <a:srgbClr val="637788"/>
                </a:solidFill>
                <a:latin typeface="Lato"/>
                <a:ea typeface="Lato"/>
                <a:cs typeface="Lato"/>
              </a:defRPr>
            </a:pPr>
            <a:r>
              <a:rPr sz="1125" b="0">
                <a:solidFill>
                  <a:srgbClr val="637788"/>
                </a:solidFill>
                <a:latin typeface="Lato"/>
                <a:ea typeface="Lato"/>
                <a:cs typeface="Lato"/>
              </a:rPr>
              <a:t>Multi-Turn Conversation / Demo</a:t>
            </a:r>
          </a:p>
        </p:txBody>
      </p:sp>
      <p:sp>
        <p:nvSpPr>
          <p:cNvPr id="25" name="矩形 24"/>
          <p:cNvSpPr>
            <a:spLocks noGrp="1"/>
          </p:cNvSpPr>
          <p:nvPr/>
        </p:nvSpPr>
        <p:spPr>
          <a:xfrm>
            <a:off x="800100" y="3676650"/>
            <a:ext cx="3467735"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725" b="1">
                <a:solidFill>
                  <a:srgbClr val="163F68"/>
                </a:solidFill>
                <a:latin typeface="Lato"/>
                <a:ea typeface="Lato"/>
                <a:cs typeface="Lato"/>
              </a:defRPr>
            </a:pPr>
            <a:r>
              <a:rPr sz="1725" b="1">
                <a:solidFill>
                  <a:srgbClr val="163F68"/>
                </a:solidFill>
                <a:latin typeface="Lato"/>
                <a:ea typeface="Lato"/>
                <a:cs typeface="Lato"/>
              </a:rPr>
              <a:t>Three New Concepts Today</a:t>
            </a:r>
          </a:p>
        </p:txBody>
      </p:sp>
      <p:sp>
        <p:nvSpPr>
          <p:cNvPr id="26" name="圆角矩形 25"/>
          <p:cNvSpPr>
            <a:spLocks noGrp="1"/>
          </p:cNvSpPr>
          <p:nvPr/>
        </p:nvSpPr>
        <p:spPr>
          <a:xfrm>
            <a:off x="781050" y="4171950"/>
            <a:ext cx="3238500" cy="1123950"/>
          </a:xfrm>
          <a:prstGeom prst="roundRect">
            <a:avLst>
              <a:gd name="adj" fmla="val 6780"/>
            </a:avLst>
          </a:prstGeom>
          <a:solidFill>
            <a:srgbClr val="F1F6FA"/>
          </a:solidFill>
          <a:ln w="9525">
            <a:solidFill>
              <a:srgbClr val="1F5284"/>
            </a:solidFill>
            <a:prstDash val="solid"/>
          </a:ln>
        </p:spPr>
        <p:txBody>
          <a:bodyPr/>
          <a:lstStyle/>
          <a:p>
            <a:endParaRPr/>
          </a:p>
        </p:txBody>
      </p:sp>
      <p:sp>
        <p:nvSpPr>
          <p:cNvPr id="27" name="矩形 26"/>
          <p:cNvSpPr>
            <a:spLocks noGrp="1"/>
          </p:cNvSpPr>
          <p:nvPr/>
        </p:nvSpPr>
        <p:spPr>
          <a:xfrm>
            <a:off x="990600" y="4333875"/>
            <a:ext cx="2819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Backend Endpoints</a:t>
            </a:r>
          </a:p>
        </p:txBody>
      </p:sp>
      <p:sp>
        <p:nvSpPr>
          <p:cNvPr id="28" name="矩形 27"/>
          <p:cNvSpPr>
            <a:spLocks noGrp="1"/>
          </p:cNvSpPr>
          <p:nvPr/>
        </p:nvSpPr>
        <p:spPr>
          <a:xfrm>
            <a:off x="990600" y="4724400"/>
            <a:ext cx="2819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FastAPI Handles Uploads and Questions</a:t>
            </a:r>
          </a:p>
        </p:txBody>
      </p:sp>
      <p:sp>
        <p:nvSpPr>
          <p:cNvPr id="29" name="圆角矩形 28"/>
          <p:cNvSpPr>
            <a:spLocks noGrp="1"/>
          </p:cNvSpPr>
          <p:nvPr/>
        </p:nvSpPr>
        <p:spPr>
          <a:xfrm>
            <a:off x="4267200" y="4171950"/>
            <a:ext cx="3238500" cy="1123950"/>
          </a:xfrm>
          <a:prstGeom prst="roundRect">
            <a:avLst>
              <a:gd name="adj" fmla="val 6780"/>
            </a:avLst>
          </a:prstGeom>
          <a:solidFill>
            <a:srgbClr val="F1F6FA"/>
          </a:solidFill>
          <a:ln w="9525">
            <a:solidFill>
              <a:srgbClr val="0070C0"/>
            </a:solidFill>
            <a:prstDash val="solid"/>
          </a:ln>
        </p:spPr>
        <p:txBody>
          <a:bodyPr/>
          <a:lstStyle/>
          <a:p>
            <a:endParaRPr/>
          </a:p>
        </p:txBody>
      </p:sp>
      <p:sp>
        <p:nvSpPr>
          <p:cNvPr id="30" name="矩形 29"/>
          <p:cNvSpPr>
            <a:spLocks noGrp="1"/>
          </p:cNvSpPr>
          <p:nvPr/>
        </p:nvSpPr>
        <p:spPr>
          <a:xfrm>
            <a:off x="4476750" y="4333875"/>
            <a:ext cx="2819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UI State</a:t>
            </a:r>
          </a:p>
        </p:txBody>
      </p:sp>
      <p:sp>
        <p:nvSpPr>
          <p:cNvPr id="31" name="矩形 30"/>
          <p:cNvSpPr>
            <a:spLocks noGrp="1"/>
          </p:cNvSpPr>
          <p:nvPr/>
        </p:nvSpPr>
        <p:spPr>
          <a:xfrm>
            <a:off x="4476750" y="4724400"/>
            <a:ext cx="2819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React Communicates Uploading, Waiting, Success, and Failure</a:t>
            </a:r>
          </a:p>
        </p:txBody>
      </p:sp>
      <p:sp>
        <p:nvSpPr>
          <p:cNvPr id="32" name="圆角矩形 31"/>
          <p:cNvSpPr>
            <a:spLocks noGrp="1"/>
          </p:cNvSpPr>
          <p:nvPr/>
        </p:nvSpPr>
        <p:spPr>
          <a:xfrm>
            <a:off x="7753350" y="4171950"/>
            <a:ext cx="3238500" cy="1123950"/>
          </a:xfrm>
          <a:prstGeom prst="roundRect">
            <a:avLst>
              <a:gd name="adj" fmla="val 6780"/>
            </a:avLst>
          </a:prstGeom>
          <a:solidFill>
            <a:srgbClr val="F1F6FA"/>
          </a:solidFill>
          <a:ln w="9525">
            <a:solidFill>
              <a:srgbClr val="72AD47"/>
            </a:solidFill>
            <a:prstDash val="solid"/>
          </a:ln>
        </p:spPr>
        <p:txBody>
          <a:bodyPr/>
          <a:lstStyle/>
          <a:p>
            <a:endParaRPr/>
          </a:p>
        </p:txBody>
      </p:sp>
      <p:sp>
        <p:nvSpPr>
          <p:cNvPr id="33" name="矩形 32"/>
          <p:cNvSpPr>
            <a:spLocks noGrp="1"/>
          </p:cNvSpPr>
          <p:nvPr/>
        </p:nvSpPr>
        <p:spPr>
          <a:xfrm>
            <a:off x="7962900" y="4333875"/>
            <a:ext cx="2819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Deployment and PR</a:t>
            </a:r>
          </a:p>
        </p:txBody>
      </p:sp>
      <p:sp>
        <p:nvSpPr>
          <p:cNvPr id="34" name="矩形 33"/>
          <p:cNvSpPr>
            <a:spLocks noGrp="1"/>
          </p:cNvSpPr>
          <p:nvPr/>
        </p:nvSpPr>
        <p:spPr>
          <a:xfrm>
            <a:off x="7962900" y="4724400"/>
            <a:ext cx="2819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Hand Today's Changes to a Peer for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矩形 31"/>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WHAT TO ACHIEVE BY THE END OF CLASS</a:t>
            </a:r>
          </a:p>
        </p:txBody>
      </p:sp>
      <p:sp>
        <p:nvSpPr>
          <p:cNvPr id="3" name="矩形 2"/>
          <p:cNvSpPr>
            <a:spLocks noGrp="1"/>
          </p:cNvSpPr>
          <p:nvPr/>
        </p:nvSpPr>
        <p:spPr>
          <a:xfrm>
            <a:off x="781050" y="781050"/>
            <a:ext cx="1099185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By the end of Day 2, prove four things you can really do</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STUDENT SELF-READ</a:t>
            </a:r>
          </a:p>
        </p:txBody>
      </p:sp>
      <p:sp>
        <p:nvSpPr>
          <p:cNvPr id="5" name="矩形 4"/>
          <p:cNvSpPr>
            <a:spLocks noGrp="1"/>
          </p:cNvSpPr>
          <p:nvPr/>
        </p:nvSpPr>
        <p:spPr>
          <a:xfrm>
            <a:off x="8667750" y="647700"/>
            <a:ext cx="400050" cy="28575"/>
          </a:xfrm>
          <a:prstGeom prst="rect">
            <a:avLst/>
          </a:prstGeom>
          <a:solidFill>
            <a:srgbClr val="0070C0"/>
          </a:solidFill>
          <a:ln w="9525">
            <a:solidFill>
              <a:srgbClr val="0070C0"/>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A7B8C8"/>
          </a:solidFill>
          <a:ln w="9525">
            <a:solidFill>
              <a:srgbClr val="A7B8C8"/>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The Path Is Truly Clear Only When a Peer Can Reproduce It</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a:t>
            </a:r>
          </a:p>
        </p:txBody>
      </p:sp>
      <p:sp>
        <p:nvSpPr>
          <p:cNvPr id="15" name="圆角矩形 14"/>
          <p:cNvSpPr>
            <a:spLocks noGrp="1"/>
          </p:cNvSpPr>
          <p:nvPr/>
        </p:nvSpPr>
        <p:spPr>
          <a:xfrm>
            <a:off x="781050" y="1562100"/>
            <a:ext cx="485775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16" name="矩形 15"/>
          <p:cNvSpPr>
            <a:spLocks noGrp="1"/>
          </p:cNvSpPr>
          <p:nvPr/>
        </p:nvSpPr>
        <p:spPr>
          <a:xfrm>
            <a:off x="1009650" y="1800225"/>
            <a:ext cx="762000" cy="5238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150" b="1">
                <a:solidFill>
                  <a:srgbClr val="0070C0"/>
                </a:solidFill>
                <a:latin typeface="Lato"/>
                <a:ea typeface="Lato"/>
                <a:cs typeface="Lato"/>
              </a:defRPr>
            </a:pPr>
            <a:r>
              <a:rPr sz="3150" b="1">
                <a:solidFill>
                  <a:srgbClr val="0070C0"/>
                </a:solidFill>
                <a:latin typeface="Lato"/>
                <a:ea typeface="Lato"/>
                <a:cs typeface="Lato"/>
              </a:rPr>
              <a:t>01</a:t>
            </a:r>
          </a:p>
        </p:txBody>
      </p:sp>
      <p:sp>
        <p:nvSpPr>
          <p:cNvPr id="17" name="矩形 16"/>
          <p:cNvSpPr>
            <a:spLocks noGrp="1"/>
          </p:cNvSpPr>
          <p:nvPr/>
        </p:nvSpPr>
        <p:spPr>
          <a:xfrm>
            <a:off x="1981200" y="1828800"/>
            <a:ext cx="2857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READ THE PDF</a:t>
            </a:r>
          </a:p>
        </p:txBody>
      </p:sp>
      <p:sp>
        <p:nvSpPr>
          <p:cNvPr id="18" name="矩形 17"/>
          <p:cNvSpPr>
            <a:spLocks noGrp="1"/>
          </p:cNvSpPr>
          <p:nvPr/>
        </p:nvSpPr>
        <p:spPr>
          <a:xfrm>
            <a:off x="1981200" y="2276475"/>
            <a:ext cx="323850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Explain that the file has been parsed into page numbers and text</a:t>
            </a:r>
          </a:p>
        </p:txBody>
      </p:sp>
      <p:sp>
        <p:nvSpPr>
          <p:cNvPr id="19" name="圆角矩形 18"/>
          <p:cNvSpPr>
            <a:spLocks noGrp="1"/>
          </p:cNvSpPr>
          <p:nvPr/>
        </p:nvSpPr>
        <p:spPr>
          <a:xfrm>
            <a:off x="6038850" y="1562100"/>
            <a:ext cx="485775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20" name="矩形 19"/>
          <p:cNvSpPr>
            <a:spLocks noGrp="1"/>
          </p:cNvSpPr>
          <p:nvPr/>
        </p:nvSpPr>
        <p:spPr>
          <a:xfrm>
            <a:off x="6267450" y="1800225"/>
            <a:ext cx="762000" cy="5238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150" b="1">
                <a:solidFill>
                  <a:srgbClr val="0070C0"/>
                </a:solidFill>
                <a:latin typeface="Lato"/>
                <a:ea typeface="Lato"/>
                <a:cs typeface="Lato"/>
              </a:defRPr>
            </a:pPr>
            <a:r>
              <a:rPr sz="3150" b="1">
                <a:solidFill>
                  <a:srgbClr val="0070C0"/>
                </a:solidFill>
                <a:latin typeface="Lato"/>
                <a:ea typeface="Lato"/>
                <a:cs typeface="Lato"/>
              </a:rPr>
              <a:t>02</a:t>
            </a:r>
          </a:p>
        </p:txBody>
      </p:sp>
      <p:sp>
        <p:nvSpPr>
          <p:cNvPr id="21" name="矩形 20"/>
          <p:cNvSpPr>
            <a:spLocks noGrp="1"/>
          </p:cNvSpPr>
          <p:nvPr/>
        </p:nvSpPr>
        <p:spPr>
          <a:xfrm>
            <a:off x="7239000" y="1828800"/>
            <a:ext cx="2857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ANSWER QUESTIONS</a:t>
            </a:r>
          </a:p>
        </p:txBody>
      </p:sp>
      <p:sp>
        <p:nvSpPr>
          <p:cNvPr id="22" name="矩形 21"/>
          <p:cNvSpPr>
            <a:spLocks noGrp="1"/>
          </p:cNvSpPr>
          <p:nvPr/>
        </p:nvSpPr>
        <p:spPr>
          <a:xfrm>
            <a:off x="7239000" y="2276475"/>
            <a:ext cx="323850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Explain that the question received an answer grounded in the PDF</a:t>
            </a:r>
          </a:p>
        </p:txBody>
      </p:sp>
      <p:sp>
        <p:nvSpPr>
          <p:cNvPr id="23" name="圆角矩形 22"/>
          <p:cNvSpPr>
            <a:spLocks noGrp="1"/>
          </p:cNvSpPr>
          <p:nvPr/>
        </p:nvSpPr>
        <p:spPr>
          <a:xfrm>
            <a:off x="781050" y="3371850"/>
            <a:ext cx="485775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24" name="矩形 23"/>
          <p:cNvSpPr>
            <a:spLocks noGrp="1"/>
          </p:cNvSpPr>
          <p:nvPr/>
        </p:nvSpPr>
        <p:spPr>
          <a:xfrm>
            <a:off x="1009650" y="3609975"/>
            <a:ext cx="762000" cy="5238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150" b="1">
                <a:solidFill>
                  <a:srgbClr val="0070C0"/>
                </a:solidFill>
                <a:latin typeface="Lato"/>
                <a:ea typeface="Lato"/>
                <a:cs typeface="Lato"/>
              </a:defRPr>
            </a:pPr>
            <a:r>
              <a:rPr sz="3150" b="1">
                <a:solidFill>
                  <a:srgbClr val="0070C0"/>
                </a:solidFill>
                <a:latin typeface="Lato"/>
                <a:ea typeface="Lato"/>
                <a:cs typeface="Lato"/>
              </a:rPr>
              <a:t>03</a:t>
            </a:r>
          </a:p>
        </p:txBody>
      </p:sp>
      <p:sp>
        <p:nvSpPr>
          <p:cNvPr id="25" name="矩形 24"/>
          <p:cNvSpPr>
            <a:spLocks noGrp="1"/>
          </p:cNvSpPr>
          <p:nvPr/>
        </p:nvSpPr>
        <p:spPr>
          <a:xfrm>
            <a:off x="1981200" y="3638550"/>
            <a:ext cx="2857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PAGE EVIDENCE</a:t>
            </a:r>
          </a:p>
        </p:txBody>
      </p:sp>
      <p:sp>
        <p:nvSpPr>
          <p:cNvPr id="26" name="矩形 25"/>
          <p:cNvSpPr>
            <a:spLocks noGrp="1"/>
          </p:cNvSpPr>
          <p:nvPr/>
        </p:nvSpPr>
        <p:spPr>
          <a:xfrm>
            <a:off x="1981200" y="4086225"/>
            <a:ext cx="323850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The answer cites page numbers and honestly stops when evidence is missing</a:t>
            </a:r>
          </a:p>
        </p:txBody>
      </p:sp>
      <p:sp>
        <p:nvSpPr>
          <p:cNvPr id="27" name="圆角矩形 26"/>
          <p:cNvSpPr>
            <a:spLocks noGrp="1"/>
          </p:cNvSpPr>
          <p:nvPr/>
        </p:nvSpPr>
        <p:spPr>
          <a:xfrm>
            <a:off x="6038850" y="3371850"/>
            <a:ext cx="4857750" cy="1428750"/>
          </a:xfrm>
          <a:prstGeom prst="roundRect">
            <a:avLst>
              <a:gd name="adj" fmla="val 5333"/>
            </a:avLst>
          </a:prstGeom>
          <a:solidFill>
            <a:srgbClr val="FFFFFF"/>
          </a:solidFill>
          <a:ln w="9525">
            <a:solidFill>
              <a:srgbClr val="A7B8C8"/>
            </a:solidFill>
            <a:prstDash val="solid"/>
          </a:ln>
        </p:spPr>
        <p:txBody>
          <a:bodyPr/>
          <a:lstStyle/>
          <a:p>
            <a:endParaRPr/>
          </a:p>
        </p:txBody>
      </p:sp>
      <p:sp>
        <p:nvSpPr>
          <p:cNvPr id="28" name="矩形 27"/>
          <p:cNvSpPr>
            <a:spLocks noGrp="1"/>
          </p:cNvSpPr>
          <p:nvPr/>
        </p:nvSpPr>
        <p:spPr>
          <a:xfrm>
            <a:off x="6267450" y="3609975"/>
            <a:ext cx="762000" cy="5238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150" b="1">
                <a:solidFill>
                  <a:srgbClr val="72AD47"/>
                </a:solidFill>
                <a:latin typeface="Lato"/>
                <a:ea typeface="Lato"/>
                <a:cs typeface="Lato"/>
              </a:defRPr>
            </a:pPr>
            <a:r>
              <a:rPr sz="3150" b="1">
                <a:solidFill>
                  <a:srgbClr val="72AD47"/>
                </a:solidFill>
                <a:latin typeface="Lato"/>
                <a:ea typeface="Lato"/>
                <a:cs typeface="Lato"/>
              </a:rPr>
              <a:t>04</a:t>
            </a:r>
          </a:p>
        </p:txBody>
      </p:sp>
      <p:sp>
        <p:nvSpPr>
          <p:cNvPr id="29" name="矩形 28"/>
          <p:cNvSpPr>
            <a:spLocks noGrp="1"/>
          </p:cNvSpPr>
          <p:nvPr/>
        </p:nvSpPr>
        <p:spPr>
          <a:xfrm>
            <a:off x="7239000" y="3638550"/>
            <a:ext cx="2857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HAND OFF TO A PEER</a:t>
            </a:r>
          </a:p>
        </p:txBody>
      </p:sp>
      <p:sp>
        <p:nvSpPr>
          <p:cNvPr id="30" name="矩形 29"/>
          <p:cNvSpPr>
            <a:spLocks noGrp="1"/>
          </p:cNvSpPr>
          <p:nvPr/>
        </p:nvSpPr>
        <p:spPr>
          <a:xfrm>
            <a:off x="7239000" y="4086225"/>
            <a:ext cx="323850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Open the first PR; deploy if conditions allow, or record a real blocker</a:t>
            </a:r>
          </a:p>
        </p:txBody>
      </p:sp>
      <p:sp>
        <p:nvSpPr>
          <p:cNvPr id="31" name="矩形 30"/>
          <p:cNvSpPr>
            <a:spLocks noGrp="1"/>
          </p:cNvSpPr>
          <p:nvPr/>
        </p:nvSpPr>
        <p:spPr>
          <a:xfrm>
            <a:off x="819150" y="5257800"/>
            <a:ext cx="100965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500" b="1">
                <a:solidFill>
                  <a:srgbClr val="39825B"/>
                </a:solidFill>
                <a:latin typeface="Lato"/>
                <a:ea typeface="Lato"/>
                <a:cs typeface="Lato"/>
              </a:defRPr>
            </a:pPr>
            <a:r>
              <a:rPr sz="1500" b="1">
                <a:solidFill>
                  <a:srgbClr val="39825B"/>
                </a:solidFill>
                <a:latin typeface="Lato"/>
                <a:ea typeface="Lato"/>
                <a:cs typeface="Lato"/>
              </a:rPr>
              <a:t>You do not need to finish everything at once; first make sure the next student can see exactly how far you have progressed.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矩形 46"/>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LEARNING PATH</a:t>
            </a:r>
          </a:p>
        </p:txBody>
      </p:sp>
      <p:sp>
        <p:nvSpPr>
          <p:cNvPr id="3" name="矩形 2"/>
          <p:cNvSpPr>
            <a:spLocks noGrp="1"/>
          </p:cNvSpPr>
          <p:nvPr/>
        </p:nvSpPr>
        <p:spPr>
          <a:xfrm>
            <a:off x="781050" y="781050"/>
            <a:ext cx="1060958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One hour of core concepts, then TA-led labs</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4–8 MIN</a:t>
            </a:r>
          </a:p>
        </p:txBody>
      </p:sp>
      <p:sp>
        <p:nvSpPr>
          <p:cNvPr id="5" name="矩形 4"/>
          <p:cNvSpPr>
            <a:spLocks noGrp="1"/>
          </p:cNvSpPr>
          <p:nvPr/>
        </p:nvSpPr>
        <p:spPr>
          <a:xfrm>
            <a:off x="8667750" y="647700"/>
            <a:ext cx="400050" cy="28575"/>
          </a:xfrm>
          <a:prstGeom prst="rect">
            <a:avLst/>
          </a:prstGeom>
          <a:solidFill>
            <a:srgbClr val="0070C0"/>
          </a:solidFill>
          <a:ln w="9525">
            <a:solidFill>
              <a:srgbClr val="0070C0"/>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A7B8C8"/>
          </a:solidFill>
          <a:ln w="9525">
            <a:solidFill>
              <a:srgbClr val="A7B8C8"/>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5</a:t>
            </a:r>
          </a:p>
        </p:txBody>
      </p:sp>
      <p:sp>
        <p:nvSpPr>
          <p:cNvPr id="14" name="矩形 13"/>
          <p:cNvSpPr>
            <a:spLocks noGrp="1"/>
          </p:cNvSpPr>
          <p:nvPr/>
        </p:nvSpPr>
        <p:spPr>
          <a:xfrm>
            <a:off x="800100" y="1409700"/>
            <a:ext cx="18097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F5284"/>
                </a:solidFill>
                <a:latin typeface="Lato"/>
                <a:ea typeface="Lato"/>
                <a:cs typeface="Lato"/>
              </a:defRPr>
            </a:pPr>
            <a:r>
              <a:rPr sz="1050" b="1">
                <a:solidFill>
                  <a:srgbClr val="1F5284"/>
                </a:solidFill>
                <a:latin typeface="Lato"/>
                <a:ea typeface="Lato"/>
                <a:cs typeface="Lato"/>
              </a:rPr>
              <a:t>SECTION</a:t>
            </a:r>
          </a:p>
        </p:txBody>
      </p:sp>
      <p:sp>
        <p:nvSpPr>
          <p:cNvPr id="15" name="矩形 14"/>
          <p:cNvSpPr>
            <a:spLocks noGrp="1"/>
          </p:cNvSpPr>
          <p:nvPr/>
        </p:nvSpPr>
        <p:spPr>
          <a:xfrm>
            <a:off x="2990850" y="1409700"/>
            <a:ext cx="14287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F5284"/>
                </a:solidFill>
                <a:latin typeface="Lato"/>
                <a:ea typeface="Lato"/>
                <a:cs typeface="Lato"/>
              </a:defRPr>
            </a:pPr>
            <a:r>
              <a:rPr sz="1050" b="1">
                <a:solidFill>
                  <a:srgbClr val="1F5284"/>
                </a:solidFill>
                <a:latin typeface="Lato"/>
                <a:ea typeface="Lato"/>
                <a:cs typeface="Lato"/>
              </a:rPr>
              <a:t>TOPIC</a:t>
            </a:r>
          </a:p>
        </p:txBody>
      </p:sp>
      <p:sp>
        <p:nvSpPr>
          <p:cNvPr id="16" name="矩形 15"/>
          <p:cNvSpPr>
            <a:spLocks noGrp="1"/>
          </p:cNvSpPr>
          <p:nvPr/>
        </p:nvSpPr>
        <p:spPr>
          <a:xfrm>
            <a:off x="4610100" y="1409700"/>
            <a:ext cx="3048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F5284"/>
                </a:solidFill>
                <a:latin typeface="Lato"/>
                <a:ea typeface="Lato"/>
                <a:cs typeface="Lato"/>
              </a:defRPr>
            </a:pPr>
            <a:r>
              <a:rPr sz="1050" b="1">
                <a:solidFill>
                  <a:srgbClr val="1F5284"/>
                </a:solidFill>
                <a:latin typeface="Lato"/>
                <a:ea typeface="Lato"/>
                <a:cs typeface="Lato"/>
              </a:rPr>
              <a:t>WHAT THE TEACHER EXPLAINS IN 1 HOUR</a:t>
            </a:r>
          </a:p>
        </p:txBody>
      </p:sp>
      <p:sp>
        <p:nvSpPr>
          <p:cNvPr id="17" name="矩形 16"/>
          <p:cNvSpPr>
            <a:spLocks noGrp="1"/>
          </p:cNvSpPr>
          <p:nvPr/>
        </p:nvSpPr>
        <p:spPr>
          <a:xfrm>
            <a:off x="7848600" y="1409700"/>
            <a:ext cx="3048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HOW STUDENTS PROVE IT IN TA LABS</a:t>
            </a:r>
          </a:p>
        </p:txBody>
      </p:sp>
      <p:sp>
        <p:nvSpPr>
          <p:cNvPr id="18" name="圆角矩形 17"/>
          <p:cNvSpPr>
            <a:spLocks noGrp="1"/>
          </p:cNvSpPr>
          <p:nvPr/>
        </p:nvSpPr>
        <p:spPr>
          <a:xfrm>
            <a:off x="723900" y="1676400"/>
            <a:ext cx="10287000" cy="704850"/>
          </a:xfrm>
          <a:prstGeom prst="roundRect">
            <a:avLst>
              <a:gd name="adj" fmla="val 10811"/>
            </a:avLst>
          </a:prstGeom>
          <a:solidFill>
            <a:srgbClr val="F1F6FA"/>
          </a:solidFill>
          <a:ln w="9525">
            <a:solidFill>
              <a:srgbClr val="A7B8C8"/>
            </a:solidFill>
            <a:prstDash val="solid"/>
          </a:ln>
        </p:spPr>
        <p:txBody>
          <a:bodyPr/>
          <a:lstStyle/>
          <a:p>
            <a:endParaRPr/>
          </a:p>
        </p:txBody>
      </p:sp>
      <p:sp>
        <p:nvSpPr>
          <p:cNvPr id="19" name="矩形 18"/>
          <p:cNvSpPr>
            <a:spLocks noGrp="1"/>
          </p:cNvSpPr>
          <p:nvPr/>
        </p:nvSpPr>
        <p:spPr>
          <a:xfrm>
            <a:off x="723900" y="1676400"/>
            <a:ext cx="57150" cy="704850"/>
          </a:xfrm>
          <a:prstGeom prst="rect">
            <a:avLst/>
          </a:prstGeom>
          <a:solidFill>
            <a:srgbClr val="0070C0"/>
          </a:solidFill>
          <a:ln w="9525">
            <a:solidFill>
              <a:srgbClr val="0070C0"/>
            </a:solidFill>
            <a:prstDash val="solid"/>
          </a:ln>
        </p:spPr>
        <p:txBody>
          <a:bodyPr/>
          <a:lstStyle/>
          <a:p>
            <a:endParaRPr/>
          </a:p>
        </p:txBody>
      </p:sp>
      <p:sp>
        <p:nvSpPr>
          <p:cNvPr id="20" name="矩形 19"/>
          <p:cNvSpPr>
            <a:spLocks noGrp="1"/>
          </p:cNvSpPr>
          <p:nvPr/>
        </p:nvSpPr>
        <p:spPr>
          <a:xfrm>
            <a:off x="914400" y="1790700"/>
            <a:ext cx="4000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F5284"/>
                </a:solidFill>
                <a:latin typeface="Lato"/>
                <a:ea typeface="Lato"/>
                <a:cs typeface="Lato"/>
              </a:defRPr>
            </a:pPr>
            <a:r>
              <a:rPr sz="1350" b="1">
                <a:solidFill>
                  <a:srgbClr val="1F5284"/>
                </a:solidFill>
                <a:latin typeface="Lato"/>
                <a:ea typeface="Lato"/>
                <a:cs typeface="Lato"/>
              </a:rPr>
              <a:t>01</a:t>
            </a:r>
          </a:p>
        </p:txBody>
      </p:sp>
      <p:sp>
        <p:nvSpPr>
          <p:cNvPr id="21" name="矩形 20"/>
          <p:cNvSpPr>
            <a:spLocks noGrp="1"/>
          </p:cNvSpPr>
          <p:nvPr/>
        </p:nvSpPr>
        <p:spPr>
          <a:xfrm>
            <a:off x="1428750" y="1800225"/>
            <a:ext cx="14668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LAB A · REQUEST</a:t>
            </a:r>
          </a:p>
        </p:txBody>
      </p:sp>
      <p:sp>
        <p:nvSpPr>
          <p:cNvPr id="22" name="矩形 21"/>
          <p:cNvSpPr>
            <a:spLocks noGrp="1"/>
          </p:cNvSpPr>
          <p:nvPr/>
        </p:nvSpPr>
        <p:spPr>
          <a:xfrm>
            <a:off x="2990850" y="1809750"/>
            <a:ext cx="14668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0000" lnSpcReduction="20000"/>
          </a:bodyPr>
          <a:lstStyle/>
          <a:p>
            <a:pPr algn="l">
              <a:buNone/>
              <a:defRPr sz="1125" b="1">
                <a:solidFill>
                  <a:srgbClr val="637788"/>
                </a:solidFill>
                <a:latin typeface="Lato"/>
                <a:ea typeface="Lato"/>
                <a:cs typeface="Lato"/>
              </a:defRPr>
            </a:pPr>
            <a:r>
              <a:rPr sz="1125" b="1">
                <a:solidFill>
                  <a:srgbClr val="637788"/>
                </a:solidFill>
                <a:latin typeface="Lato"/>
                <a:ea typeface="Lato"/>
                <a:cs typeface="Lato"/>
              </a:rPr>
              <a:t>How a Request Travels and Returns</a:t>
            </a:r>
          </a:p>
        </p:txBody>
      </p:sp>
      <p:sp>
        <p:nvSpPr>
          <p:cNvPr id="23" name="矩形 22"/>
          <p:cNvSpPr>
            <a:spLocks noGrp="1"/>
          </p:cNvSpPr>
          <p:nvPr/>
        </p:nvSpPr>
        <p:spPr>
          <a:xfrm>
            <a:off x="4610100" y="1771650"/>
            <a:ext cx="304800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Identify the input, route, response, and errors</a:t>
            </a:r>
          </a:p>
        </p:txBody>
      </p:sp>
      <p:sp>
        <p:nvSpPr>
          <p:cNvPr id="24" name="矩形 23"/>
          <p:cNvSpPr>
            <a:spLocks noGrp="1"/>
          </p:cNvSpPr>
          <p:nvPr/>
        </p:nvSpPr>
        <p:spPr>
          <a:xfrm>
            <a:off x="7848600" y="1771650"/>
            <a:ext cx="29146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39825B"/>
                </a:solidFill>
                <a:latin typeface="Lato"/>
                <a:ea typeface="Lato"/>
                <a:cs typeface="Lato"/>
              </a:defRPr>
            </a:pPr>
            <a:r>
              <a:rPr sz="1200" b="1">
                <a:solidFill>
                  <a:srgbClr val="39825B"/>
                </a:solidFill>
                <a:latin typeface="Lato"/>
                <a:ea typeface="Lato"/>
                <a:cs typeface="Lato"/>
              </a:rPr>
              <a:t>Use Swagger to explain 200 / 422</a:t>
            </a:r>
          </a:p>
        </p:txBody>
      </p:sp>
      <p:sp>
        <p:nvSpPr>
          <p:cNvPr id="25" name="圆角矩形 24"/>
          <p:cNvSpPr>
            <a:spLocks noGrp="1"/>
          </p:cNvSpPr>
          <p:nvPr/>
        </p:nvSpPr>
        <p:spPr>
          <a:xfrm>
            <a:off x="723900" y="2457450"/>
            <a:ext cx="10287000" cy="704850"/>
          </a:xfrm>
          <a:prstGeom prst="roundRect">
            <a:avLst>
              <a:gd name="adj" fmla="val 10811"/>
            </a:avLst>
          </a:prstGeom>
          <a:solidFill>
            <a:srgbClr val="FFFFFF"/>
          </a:solidFill>
          <a:ln w="9525">
            <a:solidFill>
              <a:srgbClr val="A7B8C8"/>
            </a:solidFill>
            <a:prstDash val="solid"/>
          </a:ln>
        </p:spPr>
        <p:txBody>
          <a:bodyPr/>
          <a:lstStyle/>
          <a:p>
            <a:endParaRPr/>
          </a:p>
        </p:txBody>
      </p:sp>
      <p:sp>
        <p:nvSpPr>
          <p:cNvPr id="26" name="矩形 25"/>
          <p:cNvSpPr>
            <a:spLocks noGrp="1"/>
          </p:cNvSpPr>
          <p:nvPr/>
        </p:nvSpPr>
        <p:spPr>
          <a:xfrm>
            <a:off x="723900" y="2457450"/>
            <a:ext cx="57150" cy="704850"/>
          </a:xfrm>
          <a:prstGeom prst="rect">
            <a:avLst/>
          </a:prstGeom>
          <a:solidFill>
            <a:srgbClr val="0070C0"/>
          </a:solidFill>
          <a:ln w="9525">
            <a:solidFill>
              <a:srgbClr val="0070C0"/>
            </a:solidFill>
            <a:prstDash val="solid"/>
          </a:ln>
        </p:spPr>
        <p:txBody>
          <a:bodyPr/>
          <a:lstStyle/>
          <a:p>
            <a:endParaRPr/>
          </a:p>
        </p:txBody>
      </p:sp>
      <p:sp>
        <p:nvSpPr>
          <p:cNvPr id="27" name="矩形 26"/>
          <p:cNvSpPr>
            <a:spLocks noGrp="1"/>
          </p:cNvSpPr>
          <p:nvPr/>
        </p:nvSpPr>
        <p:spPr>
          <a:xfrm>
            <a:off x="914400" y="2571750"/>
            <a:ext cx="4000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F5284"/>
                </a:solidFill>
                <a:latin typeface="Lato"/>
                <a:ea typeface="Lato"/>
                <a:cs typeface="Lato"/>
              </a:defRPr>
            </a:pPr>
            <a:r>
              <a:rPr sz="1350" b="1">
                <a:solidFill>
                  <a:srgbClr val="1F5284"/>
                </a:solidFill>
                <a:latin typeface="Lato"/>
                <a:ea typeface="Lato"/>
                <a:cs typeface="Lato"/>
              </a:rPr>
              <a:t>02</a:t>
            </a:r>
          </a:p>
        </p:txBody>
      </p:sp>
      <p:sp>
        <p:nvSpPr>
          <p:cNvPr id="28" name="矩形 27"/>
          <p:cNvSpPr>
            <a:spLocks noGrp="1"/>
          </p:cNvSpPr>
          <p:nvPr/>
        </p:nvSpPr>
        <p:spPr>
          <a:xfrm>
            <a:off x="1428750" y="2581275"/>
            <a:ext cx="146685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86321"/>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LAB A · PDF EVIDENCE</a:t>
            </a:r>
          </a:p>
        </p:txBody>
      </p:sp>
      <p:sp>
        <p:nvSpPr>
          <p:cNvPr id="29" name="矩形 28"/>
          <p:cNvSpPr>
            <a:spLocks noGrp="1"/>
          </p:cNvSpPr>
          <p:nvPr/>
        </p:nvSpPr>
        <p:spPr>
          <a:xfrm>
            <a:off x="2990850" y="2590800"/>
            <a:ext cx="14668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0000" lnSpcReduction="20000"/>
          </a:bodyPr>
          <a:lstStyle/>
          <a:p>
            <a:pPr algn="l">
              <a:buNone/>
              <a:defRPr sz="1125" b="1">
                <a:solidFill>
                  <a:srgbClr val="637788"/>
                </a:solidFill>
                <a:latin typeface="Lato"/>
                <a:ea typeface="Lato"/>
                <a:cs typeface="Lato"/>
              </a:defRPr>
            </a:pPr>
            <a:r>
              <a:rPr sz="1125" b="1">
                <a:solidFill>
                  <a:srgbClr val="637788"/>
                </a:solidFill>
                <a:latin typeface="Lato"/>
                <a:ea typeface="Lato"/>
                <a:cs typeface="Lato"/>
              </a:rPr>
              <a:t>How Page Numbers Are Preserved</a:t>
            </a:r>
          </a:p>
        </p:txBody>
      </p:sp>
      <p:sp>
        <p:nvSpPr>
          <p:cNvPr id="30" name="矩形 29"/>
          <p:cNvSpPr>
            <a:spLocks noGrp="1"/>
          </p:cNvSpPr>
          <p:nvPr/>
        </p:nvSpPr>
        <p:spPr>
          <a:xfrm>
            <a:off x="4610100" y="2552700"/>
            <a:ext cx="304800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Explain how page + text enter the prompt</a:t>
            </a:r>
          </a:p>
        </p:txBody>
      </p:sp>
      <p:sp>
        <p:nvSpPr>
          <p:cNvPr id="31" name="矩形 30"/>
          <p:cNvSpPr>
            <a:spLocks noGrp="1"/>
          </p:cNvSpPr>
          <p:nvPr/>
        </p:nvSpPr>
        <p:spPr>
          <a:xfrm>
            <a:off x="7848600" y="2552700"/>
            <a:ext cx="29146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39825B"/>
                </a:solidFill>
                <a:latin typeface="Lato"/>
                <a:ea typeface="Lato"/>
                <a:cs typeface="Lato"/>
              </a:defRPr>
            </a:pPr>
            <a:r>
              <a:rPr sz="1200" b="1">
                <a:solidFill>
                  <a:srgbClr val="39825B"/>
                </a:solidFill>
                <a:latin typeface="Lato"/>
                <a:ea typeface="Lato"/>
                <a:cs typeface="Lato"/>
              </a:rPr>
              <a:t>Return to the shared PDF; stop when there is no answer</a:t>
            </a:r>
          </a:p>
        </p:txBody>
      </p:sp>
      <p:sp>
        <p:nvSpPr>
          <p:cNvPr id="32" name="圆角矩形 31"/>
          <p:cNvSpPr>
            <a:spLocks noGrp="1"/>
          </p:cNvSpPr>
          <p:nvPr/>
        </p:nvSpPr>
        <p:spPr>
          <a:xfrm>
            <a:off x="723900" y="3238500"/>
            <a:ext cx="10287000" cy="704850"/>
          </a:xfrm>
          <a:prstGeom prst="roundRect">
            <a:avLst>
              <a:gd name="adj" fmla="val 10811"/>
            </a:avLst>
          </a:prstGeom>
          <a:solidFill>
            <a:srgbClr val="F1F6FA"/>
          </a:solidFill>
          <a:ln w="9525">
            <a:solidFill>
              <a:srgbClr val="A7B8C8"/>
            </a:solidFill>
            <a:prstDash val="solid"/>
          </a:ln>
        </p:spPr>
        <p:txBody>
          <a:bodyPr/>
          <a:lstStyle/>
          <a:p>
            <a:endParaRPr/>
          </a:p>
        </p:txBody>
      </p:sp>
      <p:sp>
        <p:nvSpPr>
          <p:cNvPr id="33" name="矩形 32"/>
          <p:cNvSpPr>
            <a:spLocks noGrp="1"/>
          </p:cNvSpPr>
          <p:nvPr/>
        </p:nvSpPr>
        <p:spPr>
          <a:xfrm>
            <a:off x="723900" y="3238500"/>
            <a:ext cx="57150" cy="704850"/>
          </a:xfrm>
          <a:prstGeom prst="rect">
            <a:avLst/>
          </a:prstGeom>
          <a:solidFill>
            <a:srgbClr val="39825B"/>
          </a:solidFill>
          <a:ln w="9525">
            <a:solidFill>
              <a:srgbClr val="39825B"/>
            </a:solidFill>
            <a:prstDash val="solid"/>
          </a:ln>
        </p:spPr>
        <p:txBody>
          <a:bodyPr/>
          <a:lstStyle/>
          <a:p>
            <a:endParaRPr/>
          </a:p>
        </p:txBody>
      </p:sp>
      <p:sp>
        <p:nvSpPr>
          <p:cNvPr id="34" name="矩形 33"/>
          <p:cNvSpPr>
            <a:spLocks noGrp="1"/>
          </p:cNvSpPr>
          <p:nvPr/>
        </p:nvSpPr>
        <p:spPr>
          <a:xfrm>
            <a:off x="914400" y="3352800"/>
            <a:ext cx="4000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F5284"/>
                </a:solidFill>
                <a:latin typeface="Lato"/>
                <a:ea typeface="Lato"/>
                <a:cs typeface="Lato"/>
              </a:defRPr>
            </a:pPr>
            <a:r>
              <a:rPr sz="1350" b="1">
                <a:solidFill>
                  <a:srgbClr val="1F5284"/>
                </a:solidFill>
                <a:latin typeface="Lato"/>
                <a:ea typeface="Lato"/>
                <a:cs typeface="Lato"/>
              </a:rPr>
              <a:t>03</a:t>
            </a:r>
          </a:p>
        </p:txBody>
      </p:sp>
      <p:sp>
        <p:nvSpPr>
          <p:cNvPr id="35" name="矩形 34"/>
          <p:cNvSpPr>
            <a:spLocks noGrp="1"/>
          </p:cNvSpPr>
          <p:nvPr/>
        </p:nvSpPr>
        <p:spPr>
          <a:xfrm>
            <a:off x="1428750" y="3362325"/>
            <a:ext cx="146685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94038"/>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LAB B · REACT STATE</a:t>
            </a:r>
          </a:p>
        </p:txBody>
      </p:sp>
      <p:sp>
        <p:nvSpPr>
          <p:cNvPr id="36" name="矩形 35"/>
          <p:cNvSpPr>
            <a:spLocks noGrp="1"/>
          </p:cNvSpPr>
          <p:nvPr/>
        </p:nvSpPr>
        <p:spPr>
          <a:xfrm>
            <a:off x="2990850" y="3371850"/>
            <a:ext cx="14668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7500" lnSpcReduction="20000"/>
          </a:bodyPr>
          <a:lstStyle/>
          <a:p>
            <a:pPr algn="l">
              <a:buNone/>
              <a:defRPr sz="1125" b="1">
                <a:solidFill>
                  <a:srgbClr val="637788"/>
                </a:solidFill>
                <a:latin typeface="Lato"/>
                <a:ea typeface="Lato"/>
                <a:cs typeface="Lato"/>
              </a:defRPr>
            </a:pPr>
            <a:r>
              <a:rPr sz="1125" b="1">
                <a:solidFill>
                  <a:srgbClr val="637788"/>
                </a:solidFill>
                <a:latin typeface="Lato"/>
                <a:ea typeface="Lato"/>
                <a:cs typeface="Lato"/>
              </a:rPr>
              <a:t>How Events Change the UI</a:t>
            </a:r>
          </a:p>
        </p:txBody>
      </p:sp>
      <p:sp>
        <p:nvSpPr>
          <p:cNvPr id="37" name="矩形 36"/>
          <p:cNvSpPr>
            <a:spLocks noGrp="1"/>
          </p:cNvSpPr>
          <p:nvPr/>
        </p:nvSpPr>
        <p:spPr>
          <a:xfrm>
            <a:off x="4610100" y="3333750"/>
            <a:ext cx="304800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Predict the causal chain of useState and fetch</a:t>
            </a:r>
          </a:p>
        </p:txBody>
      </p:sp>
      <p:sp>
        <p:nvSpPr>
          <p:cNvPr id="38" name="矩形 37"/>
          <p:cNvSpPr>
            <a:spLocks noGrp="1"/>
          </p:cNvSpPr>
          <p:nvPr/>
        </p:nvSpPr>
        <p:spPr>
          <a:xfrm>
            <a:off x="7848600" y="3333750"/>
            <a:ext cx="29146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39825B"/>
                </a:solidFill>
                <a:latin typeface="Lato"/>
                <a:ea typeface="Lato"/>
                <a:cs typeface="Lato"/>
              </a:defRPr>
            </a:pPr>
            <a:r>
              <a:rPr sz="1200" b="1">
                <a:solidFill>
                  <a:srgbClr val="39825B"/>
                </a:solidFill>
                <a:latin typeface="Lato"/>
                <a:ea typeface="Lato"/>
                <a:cs typeface="Lato"/>
              </a:rPr>
              <a:t>Align the page, Network, and backend</a:t>
            </a:r>
          </a:p>
        </p:txBody>
      </p:sp>
      <p:sp>
        <p:nvSpPr>
          <p:cNvPr id="39" name="圆角矩形 38"/>
          <p:cNvSpPr>
            <a:spLocks noGrp="1"/>
          </p:cNvSpPr>
          <p:nvPr/>
        </p:nvSpPr>
        <p:spPr>
          <a:xfrm>
            <a:off x="723900" y="4019550"/>
            <a:ext cx="10287000" cy="704850"/>
          </a:xfrm>
          <a:prstGeom prst="roundRect">
            <a:avLst>
              <a:gd name="adj" fmla="val 10811"/>
            </a:avLst>
          </a:prstGeom>
          <a:solidFill>
            <a:srgbClr val="FFFFFF"/>
          </a:solidFill>
          <a:ln w="9525">
            <a:solidFill>
              <a:srgbClr val="A7B8C8"/>
            </a:solidFill>
            <a:prstDash val="solid"/>
          </a:ln>
        </p:spPr>
        <p:txBody>
          <a:bodyPr/>
          <a:lstStyle/>
          <a:p>
            <a:endParaRPr/>
          </a:p>
        </p:txBody>
      </p:sp>
      <p:sp>
        <p:nvSpPr>
          <p:cNvPr id="40" name="矩形 39"/>
          <p:cNvSpPr>
            <a:spLocks noGrp="1"/>
          </p:cNvSpPr>
          <p:nvPr/>
        </p:nvSpPr>
        <p:spPr>
          <a:xfrm>
            <a:off x="723900" y="4019550"/>
            <a:ext cx="57150" cy="704850"/>
          </a:xfrm>
          <a:prstGeom prst="rect">
            <a:avLst/>
          </a:prstGeom>
          <a:solidFill>
            <a:srgbClr val="39825B"/>
          </a:solidFill>
          <a:ln w="9525">
            <a:solidFill>
              <a:srgbClr val="39825B"/>
            </a:solidFill>
            <a:prstDash val="solid"/>
          </a:ln>
        </p:spPr>
        <p:txBody>
          <a:bodyPr/>
          <a:lstStyle/>
          <a:p>
            <a:endParaRPr/>
          </a:p>
        </p:txBody>
      </p:sp>
      <p:sp>
        <p:nvSpPr>
          <p:cNvPr id="41" name="矩形 40"/>
          <p:cNvSpPr>
            <a:spLocks noGrp="1"/>
          </p:cNvSpPr>
          <p:nvPr/>
        </p:nvSpPr>
        <p:spPr>
          <a:xfrm>
            <a:off x="914400" y="4133850"/>
            <a:ext cx="4000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F5284"/>
                </a:solidFill>
                <a:latin typeface="Lato"/>
                <a:ea typeface="Lato"/>
                <a:cs typeface="Lato"/>
              </a:defRPr>
            </a:pPr>
            <a:r>
              <a:rPr sz="1350" b="1">
                <a:solidFill>
                  <a:srgbClr val="1F5284"/>
                </a:solidFill>
                <a:latin typeface="Lato"/>
                <a:ea typeface="Lato"/>
                <a:cs typeface="Lato"/>
              </a:rPr>
              <a:t>04</a:t>
            </a:r>
          </a:p>
        </p:txBody>
      </p:sp>
      <p:sp>
        <p:nvSpPr>
          <p:cNvPr id="42" name="矩形 41"/>
          <p:cNvSpPr>
            <a:spLocks noGrp="1"/>
          </p:cNvSpPr>
          <p:nvPr/>
        </p:nvSpPr>
        <p:spPr>
          <a:xfrm>
            <a:off x="1428750" y="4143375"/>
            <a:ext cx="14668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LAB C · DELIVERY</a:t>
            </a:r>
          </a:p>
        </p:txBody>
      </p:sp>
      <p:sp>
        <p:nvSpPr>
          <p:cNvPr id="43" name="矩形 42"/>
          <p:cNvSpPr>
            <a:spLocks noGrp="1"/>
          </p:cNvSpPr>
          <p:nvPr/>
        </p:nvSpPr>
        <p:spPr>
          <a:xfrm>
            <a:off x="2990850" y="4152900"/>
            <a:ext cx="14668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0000" lnSpcReduction="20000"/>
          </a:bodyPr>
          <a:lstStyle/>
          <a:p>
            <a:pPr algn="l">
              <a:buNone/>
              <a:defRPr sz="1125" b="1">
                <a:solidFill>
                  <a:srgbClr val="637788"/>
                </a:solidFill>
                <a:latin typeface="Lato"/>
                <a:ea typeface="Lato"/>
                <a:cs typeface="Lato"/>
              </a:defRPr>
            </a:pPr>
            <a:r>
              <a:rPr sz="1125" b="1">
                <a:solidFill>
                  <a:srgbClr val="637788"/>
                </a:solidFill>
                <a:latin typeface="Lato"/>
                <a:ea typeface="Lato"/>
                <a:cs typeface="Lato"/>
              </a:rPr>
              <a:t>How Services Find Each Other</a:t>
            </a:r>
          </a:p>
        </p:txBody>
      </p:sp>
      <p:sp>
        <p:nvSpPr>
          <p:cNvPr id="44" name="矩形 43"/>
          <p:cNvSpPr>
            <a:spLocks noGrp="1"/>
          </p:cNvSpPr>
          <p:nvPr/>
        </p:nvSpPr>
        <p:spPr>
          <a:xfrm>
            <a:off x="4610100" y="4114800"/>
            <a:ext cx="304800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Explain PRs, Root Directory, and environment variables</a:t>
            </a:r>
          </a:p>
        </p:txBody>
      </p:sp>
      <p:sp>
        <p:nvSpPr>
          <p:cNvPr id="45" name="矩形 44"/>
          <p:cNvSpPr>
            <a:spLocks noGrp="1"/>
          </p:cNvSpPr>
          <p:nvPr/>
        </p:nvSpPr>
        <p:spPr>
          <a:xfrm>
            <a:off x="7848600" y="4114800"/>
            <a:ext cx="29146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39825B"/>
                </a:solidFill>
                <a:latin typeface="Lato"/>
                <a:ea typeface="Lato"/>
                <a:cs typeface="Lato"/>
              </a:defRPr>
            </a:pPr>
            <a:r>
              <a:rPr sz="1200" b="1">
                <a:solidFill>
                  <a:srgbClr val="39825B"/>
                </a:solidFill>
                <a:latin typeface="Lato"/>
                <a:ea typeface="Lato"/>
                <a:cs typeface="Lato"/>
              </a:rPr>
              <a:t>Peer retest; record the real error if blocked</a:t>
            </a:r>
          </a:p>
        </p:txBody>
      </p:sp>
      <p:sp>
        <p:nvSpPr>
          <p:cNvPr id="46" name="矩形 45"/>
          <p:cNvSpPr>
            <a:spLocks noGrp="1"/>
          </p:cNvSpPr>
          <p:nvPr/>
        </p:nvSpPr>
        <p:spPr>
          <a:xfrm>
            <a:off x="781050" y="5334000"/>
            <a:ext cx="10096500" cy="3619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200" b="1">
                <a:solidFill>
                  <a:srgbClr val="1F5284"/>
                </a:solidFill>
                <a:latin typeface="Lato"/>
                <a:ea typeface="Lato"/>
                <a:cs typeface="Lato"/>
              </a:defRPr>
            </a:pPr>
            <a:r>
              <a:rPr sz="1200" b="1">
                <a:solidFill>
                  <a:srgbClr val="1F5284"/>
                </a:solidFill>
                <a:latin typeface="Lato"/>
                <a:ea typeface="Lato"/>
                <a:cs typeface="Lato"/>
              </a:rPr>
              <a:t>09:30–10:30 teacher briefing · 10:40–12:15 Lab A · 14:00–15:15 Lab B · 15:15–17:15 Lab C</a:t>
            </a:r>
          </a:p>
        </p:txBody>
      </p:sp>
      <p:sp>
        <p:nvSpPr>
          <p:cNvPr id="48" name="矩形 47"/>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49" name="圆角矩形 48"/>
          <p:cNvSpPr>
            <a:spLocks noGrp="1"/>
          </p:cNvSpPr>
          <p:nvPr/>
        </p:nvSpPr>
        <p:spPr>
          <a:xfrm>
            <a:off x="723900" y="1619250"/>
            <a:ext cx="2381250" cy="2952750"/>
          </a:xfrm>
          <a:prstGeom prst="roundRect">
            <a:avLst>
              <a:gd name="adj" fmla="val 3200"/>
            </a:avLst>
          </a:prstGeom>
          <a:solidFill>
            <a:srgbClr val="FFF4DE"/>
          </a:solidFill>
          <a:ln w="11430">
            <a:solidFill>
              <a:srgbClr val="F59E0B"/>
            </a:solidFill>
            <a:prstDash val="solid"/>
          </a:ln>
        </p:spPr>
        <p:txBody>
          <a:bodyPr/>
          <a:lstStyle/>
          <a:p>
            <a:endParaRPr lang="zh-CN" altLang="en-US"/>
          </a:p>
        </p:txBody>
      </p:sp>
      <p:sp>
        <p:nvSpPr>
          <p:cNvPr id="50" name="矩形 49"/>
          <p:cNvSpPr>
            <a:spLocks noGrp="1"/>
          </p:cNvSpPr>
          <p:nvPr/>
        </p:nvSpPr>
        <p:spPr>
          <a:xfrm>
            <a:off x="914400" y="1809750"/>
            <a:ext cx="200025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F59E0B"/>
                </a:solidFill>
                <a:latin typeface="Aptos"/>
                <a:ea typeface="Aptos"/>
                <a:cs typeface="Aptos"/>
              </a:defRPr>
            </a:pPr>
            <a:r>
              <a:rPr sz="1650" b="1">
                <a:solidFill>
                  <a:srgbClr val="F59E0B"/>
                </a:solidFill>
                <a:latin typeface="Aptos"/>
                <a:ea typeface="Aptos"/>
                <a:cs typeface="Aptos"/>
              </a:rPr>
              <a:t>09:30–10:30</a:t>
            </a:r>
          </a:p>
        </p:txBody>
      </p:sp>
      <p:sp>
        <p:nvSpPr>
          <p:cNvPr id="51" name="圆角矩形 50"/>
          <p:cNvSpPr>
            <a:spLocks noGrp="1"/>
          </p:cNvSpPr>
          <p:nvPr/>
        </p:nvSpPr>
        <p:spPr>
          <a:xfrm>
            <a:off x="990600" y="2343150"/>
            <a:ext cx="1847850" cy="304800"/>
          </a:xfrm>
          <a:prstGeom prst="roundRect">
            <a:avLst>
              <a:gd name="adj" fmla="val 25000"/>
            </a:avLst>
          </a:prstGeom>
          <a:solidFill>
            <a:srgbClr val="F59E0B"/>
          </a:solidFill>
          <a:ln w="10478">
            <a:solidFill>
              <a:srgbClr val="F59E0B"/>
            </a:solidFill>
            <a:prstDash val="solid"/>
          </a:ln>
        </p:spPr>
        <p:txBody>
          <a:bodyPr lIns="38100" tIns="38100" rIns="38100" bIns="3810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TEACHER</a:t>
            </a:r>
          </a:p>
        </p:txBody>
      </p:sp>
      <p:sp>
        <p:nvSpPr>
          <p:cNvPr id="52" name="矩形 51"/>
          <p:cNvSpPr>
            <a:spLocks noGrp="1"/>
          </p:cNvSpPr>
          <p:nvPr/>
        </p:nvSpPr>
        <p:spPr>
          <a:xfrm>
            <a:off x="933450" y="291465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See the whole flow</a:t>
            </a:r>
          </a:p>
        </p:txBody>
      </p:sp>
      <p:sp>
        <p:nvSpPr>
          <p:cNvPr id="53" name="矩形 52"/>
          <p:cNvSpPr>
            <a:spLocks noGrp="1"/>
          </p:cNvSpPr>
          <p:nvPr/>
        </p:nvSpPr>
        <p:spPr>
          <a:xfrm>
            <a:off x="933450" y="365760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0">
                <a:solidFill>
                  <a:srgbClr val="637A90"/>
                </a:solidFill>
                <a:latin typeface="Aptos"/>
                <a:ea typeface="Aptos"/>
                <a:cs typeface="Aptos"/>
              </a:defRPr>
            </a:pPr>
            <a:r>
              <a:rPr sz="1275" b="0">
                <a:solidFill>
                  <a:srgbClr val="637A90"/>
                </a:solidFill>
                <a:latin typeface="Aptos"/>
                <a:ea typeface="Aptos"/>
                <a:cs typeface="Aptos"/>
              </a:rPr>
              <a:t>Know where each lab fits</a:t>
            </a:r>
          </a:p>
        </p:txBody>
      </p:sp>
      <p:sp>
        <p:nvSpPr>
          <p:cNvPr id="54" name="右箭头 53"/>
          <p:cNvSpPr>
            <a:spLocks noGrp="1"/>
          </p:cNvSpPr>
          <p:nvPr/>
        </p:nvSpPr>
        <p:spPr>
          <a:xfrm>
            <a:off x="3143250" y="2914650"/>
            <a:ext cx="247650" cy="228600"/>
          </a:xfrm>
          <a:prstGeom prst="rightArrow">
            <a:avLst/>
          </a:prstGeom>
          <a:solidFill>
            <a:srgbClr val="CAD8E6"/>
          </a:solidFill>
          <a:ln w="0">
            <a:solidFill>
              <a:srgbClr val="CAD8E6"/>
            </a:solidFill>
            <a:prstDash val="solid"/>
          </a:ln>
        </p:spPr>
        <p:txBody>
          <a:bodyPr/>
          <a:lstStyle/>
          <a:p>
            <a:endParaRPr lang="zh-CN" altLang="en-US"/>
          </a:p>
        </p:txBody>
      </p:sp>
      <p:sp>
        <p:nvSpPr>
          <p:cNvPr id="55" name="圆角矩形 54"/>
          <p:cNvSpPr>
            <a:spLocks noGrp="1"/>
          </p:cNvSpPr>
          <p:nvPr/>
        </p:nvSpPr>
        <p:spPr>
          <a:xfrm>
            <a:off x="3429000" y="1619250"/>
            <a:ext cx="2381250" cy="2952750"/>
          </a:xfrm>
          <a:prstGeom prst="roundRect">
            <a:avLst>
              <a:gd name="adj" fmla="val 3200"/>
            </a:avLst>
          </a:prstGeom>
          <a:solidFill>
            <a:srgbClr val="E4F7F5"/>
          </a:solidFill>
          <a:ln w="11430">
            <a:solidFill>
              <a:srgbClr val="00A7A0"/>
            </a:solidFill>
            <a:prstDash val="solid"/>
          </a:ln>
        </p:spPr>
        <p:txBody>
          <a:bodyPr/>
          <a:lstStyle/>
          <a:p>
            <a:endParaRPr lang="zh-CN" altLang="en-US"/>
          </a:p>
        </p:txBody>
      </p:sp>
      <p:sp>
        <p:nvSpPr>
          <p:cNvPr id="56" name="矩形 55"/>
          <p:cNvSpPr>
            <a:spLocks noGrp="1"/>
          </p:cNvSpPr>
          <p:nvPr/>
        </p:nvSpPr>
        <p:spPr>
          <a:xfrm>
            <a:off x="3619500" y="1809750"/>
            <a:ext cx="200025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00A7A0"/>
                </a:solidFill>
                <a:latin typeface="Aptos"/>
                <a:ea typeface="Aptos"/>
                <a:cs typeface="Aptos"/>
              </a:defRPr>
            </a:pPr>
            <a:r>
              <a:rPr sz="1650" b="1">
                <a:solidFill>
                  <a:srgbClr val="00A7A0"/>
                </a:solidFill>
                <a:latin typeface="Aptos"/>
                <a:ea typeface="Aptos"/>
                <a:cs typeface="Aptos"/>
              </a:rPr>
              <a:t>10:40–12:15</a:t>
            </a:r>
          </a:p>
        </p:txBody>
      </p:sp>
      <p:sp>
        <p:nvSpPr>
          <p:cNvPr id="57" name="圆角矩形 56"/>
          <p:cNvSpPr>
            <a:spLocks noGrp="1"/>
          </p:cNvSpPr>
          <p:nvPr/>
        </p:nvSpPr>
        <p:spPr>
          <a:xfrm>
            <a:off x="3695700" y="2343150"/>
            <a:ext cx="1847850" cy="304800"/>
          </a:xfrm>
          <a:prstGeom prst="roundRect">
            <a:avLst>
              <a:gd name="adj" fmla="val 25000"/>
            </a:avLst>
          </a:prstGeom>
          <a:solidFill>
            <a:srgbClr val="00A7A0"/>
          </a:solidFill>
          <a:ln w="10478">
            <a:solidFill>
              <a:srgbClr val="00A7A0"/>
            </a:solidFill>
            <a:prstDash val="solid"/>
          </a:ln>
        </p:spPr>
        <p:txBody>
          <a:bodyPr lIns="38100" tIns="38100" rIns="38100" bIns="3810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LAB A</a:t>
            </a:r>
          </a:p>
        </p:txBody>
      </p:sp>
      <p:sp>
        <p:nvSpPr>
          <p:cNvPr id="58" name="矩形 57"/>
          <p:cNvSpPr>
            <a:spLocks noGrp="1"/>
          </p:cNvSpPr>
          <p:nvPr/>
        </p:nvSpPr>
        <p:spPr>
          <a:xfrm>
            <a:off x="3638550" y="291465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Build request + evidence</a:t>
            </a:r>
          </a:p>
        </p:txBody>
      </p:sp>
      <p:sp>
        <p:nvSpPr>
          <p:cNvPr id="59" name="矩形 58"/>
          <p:cNvSpPr>
            <a:spLocks noGrp="1"/>
          </p:cNvSpPr>
          <p:nvPr/>
        </p:nvSpPr>
        <p:spPr>
          <a:xfrm>
            <a:off x="3638550" y="365760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0">
                <a:solidFill>
                  <a:srgbClr val="637A90"/>
                </a:solidFill>
                <a:latin typeface="Aptos"/>
                <a:ea typeface="Aptos"/>
                <a:cs typeface="Aptos"/>
              </a:defRPr>
            </a:pPr>
            <a:r>
              <a:rPr sz="1275" b="0">
                <a:solidFill>
                  <a:srgbClr val="637A90"/>
                </a:solidFill>
                <a:latin typeface="Aptos"/>
                <a:ea typeface="Aptos"/>
                <a:cs typeface="Aptos"/>
              </a:rPr>
              <a:t>Swagger + page tags</a:t>
            </a:r>
          </a:p>
        </p:txBody>
      </p:sp>
      <p:sp>
        <p:nvSpPr>
          <p:cNvPr id="60" name="右箭头 59"/>
          <p:cNvSpPr>
            <a:spLocks noGrp="1"/>
          </p:cNvSpPr>
          <p:nvPr/>
        </p:nvSpPr>
        <p:spPr>
          <a:xfrm>
            <a:off x="5848350" y="2914650"/>
            <a:ext cx="247650" cy="228600"/>
          </a:xfrm>
          <a:prstGeom prst="rightArrow">
            <a:avLst/>
          </a:prstGeom>
          <a:solidFill>
            <a:srgbClr val="CAD8E6"/>
          </a:solidFill>
          <a:ln w="0">
            <a:solidFill>
              <a:srgbClr val="CAD8E6"/>
            </a:solidFill>
            <a:prstDash val="solid"/>
          </a:ln>
        </p:spPr>
        <p:txBody>
          <a:bodyPr/>
          <a:lstStyle/>
          <a:p>
            <a:endParaRPr lang="zh-CN" altLang="en-US"/>
          </a:p>
        </p:txBody>
      </p:sp>
      <p:sp>
        <p:nvSpPr>
          <p:cNvPr id="61" name="圆角矩形 60"/>
          <p:cNvSpPr>
            <a:spLocks noGrp="1"/>
          </p:cNvSpPr>
          <p:nvPr/>
        </p:nvSpPr>
        <p:spPr>
          <a:xfrm>
            <a:off x="6134100" y="1619250"/>
            <a:ext cx="2381250" cy="2952750"/>
          </a:xfrm>
          <a:prstGeom prst="roundRect">
            <a:avLst>
              <a:gd name="adj" fmla="val 3200"/>
            </a:avLst>
          </a:prstGeom>
          <a:solidFill>
            <a:srgbClr val="F1ECFF"/>
          </a:solidFill>
          <a:ln w="11430">
            <a:solidFill>
              <a:srgbClr val="7557C8"/>
            </a:solidFill>
            <a:prstDash val="solid"/>
          </a:ln>
        </p:spPr>
        <p:txBody>
          <a:bodyPr/>
          <a:lstStyle/>
          <a:p>
            <a:endParaRPr lang="zh-CN" altLang="en-US"/>
          </a:p>
        </p:txBody>
      </p:sp>
      <p:sp>
        <p:nvSpPr>
          <p:cNvPr id="62" name="矩形 61"/>
          <p:cNvSpPr>
            <a:spLocks noGrp="1"/>
          </p:cNvSpPr>
          <p:nvPr/>
        </p:nvSpPr>
        <p:spPr>
          <a:xfrm>
            <a:off x="6324600" y="1809750"/>
            <a:ext cx="200025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7557C8"/>
                </a:solidFill>
                <a:latin typeface="Aptos"/>
                <a:ea typeface="Aptos"/>
                <a:cs typeface="Aptos"/>
              </a:defRPr>
            </a:pPr>
            <a:r>
              <a:rPr sz="1650" b="1">
                <a:solidFill>
                  <a:srgbClr val="7557C8"/>
                </a:solidFill>
                <a:latin typeface="Aptos"/>
                <a:ea typeface="Aptos"/>
                <a:cs typeface="Aptos"/>
              </a:rPr>
              <a:t>14:00–15:15</a:t>
            </a:r>
          </a:p>
        </p:txBody>
      </p:sp>
      <p:sp>
        <p:nvSpPr>
          <p:cNvPr id="63" name="圆角矩形 62"/>
          <p:cNvSpPr>
            <a:spLocks noGrp="1"/>
          </p:cNvSpPr>
          <p:nvPr/>
        </p:nvSpPr>
        <p:spPr>
          <a:xfrm>
            <a:off x="6400800" y="2343150"/>
            <a:ext cx="1847850" cy="304800"/>
          </a:xfrm>
          <a:prstGeom prst="roundRect">
            <a:avLst>
              <a:gd name="adj" fmla="val 25000"/>
            </a:avLst>
          </a:prstGeom>
          <a:solidFill>
            <a:srgbClr val="7557C8"/>
          </a:solidFill>
          <a:ln w="10478">
            <a:solidFill>
              <a:srgbClr val="7557C8"/>
            </a:solidFill>
            <a:prstDash val="solid"/>
          </a:ln>
        </p:spPr>
        <p:txBody>
          <a:bodyPr lIns="38100" tIns="38100" rIns="38100" bIns="3810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LAB B</a:t>
            </a:r>
          </a:p>
        </p:txBody>
      </p:sp>
      <p:sp>
        <p:nvSpPr>
          <p:cNvPr id="64" name="矩形 63"/>
          <p:cNvSpPr>
            <a:spLocks noGrp="1"/>
          </p:cNvSpPr>
          <p:nvPr/>
        </p:nvSpPr>
        <p:spPr>
          <a:xfrm>
            <a:off x="6343650" y="291465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Connect React state</a:t>
            </a:r>
          </a:p>
        </p:txBody>
      </p:sp>
      <p:sp>
        <p:nvSpPr>
          <p:cNvPr id="65" name="矩形 64"/>
          <p:cNvSpPr>
            <a:spLocks noGrp="1"/>
          </p:cNvSpPr>
          <p:nvPr/>
        </p:nvSpPr>
        <p:spPr>
          <a:xfrm>
            <a:off x="6343650" y="365760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0">
                <a:solidFill>
                  <a:srgbClr val="637A90"/>
                </a:solidFill>
                <a:latin typeface="Aptos"/>
                <a:ea typeface="Aptos"/>
                <a:cs typeface="Aptos"/>
              </a:defRPr>
            </a:pPr>
            <a:r>
              <a:rPr sz="1275" b="0">
                <a:solidFill>
                  <a:srgbClr val="637A90"/>
                </a:solidFill>
                <a:latin typeface="Aptos"/>
                <a:ea typeface="Aptos"/>
                <a:cs typeface="Aptos"/>
              </a:rPr>
              <a:t>Network + visible UI</a:t>
            </a:r>
          </a:p>
        </p:txBody>
      </p:sp>
      <p:sp>
        <p:nvSpPr>
          <p:cNvPr id="66" name="右箭头 65"/>
          <p:cNvSpPr>
            <a:spLocks noGrp="1"/>
          </p:cNvSpPr>
          <p:nvPr/>
        </p:nvSpPr>
        <p:spPr>
          <a:xfrm>
            <a:off x="8553450" y="2914650"/>
            <a:ext cx="247650" cy="228600"/>
          </a:xfrm>
          <a:prstGeom prst="rightArrow">
            <a:avLst/>
          </a:prstGeom>
          <a:solidFill>
            <a:srgbClr val="CAD8E6"/>
          </a:solidFill>
          <a:ln w="0">
            <a:solidFill>
              <a:srgbClr val="CAD8E6"/>
            </a:solidFill>
            <a:prstDash val="solid"/>
          </a:ln>
        </p:spPr>
        <p:txBody>
          <a:bodyPr/>
          <a:lstStyle/>
          <a:p>
            <a:endParaRPr lang="zh-CN" altLang="en-US"/>
          </a:p>
        </p:txBody>
      </p:sp>
      <p:sp>
        <p:nvSpPr>
          <p:cNvPr id="67" name="圆角矩形 66"/>
          <p:cNvSpPr>
            <a:spLocks noGrp="1"/>
          </p:cNvSpPr>
          <p:nvPr/>
        </p:nvSpPr>
        <p:spPr>
          <a:xfrm>
            <a:off x="8839200" y="1619250"/>
            <a:ext cx="2381250" cy="2952750"/>
          </a:xfrm>
          <a:prstGeom prst="roundRect">
            <a:avLst>
              <a:gd name="adj" fmla="val 3200"/>
            </a:avLst>
          </a:prstGeom>
          <a:solidFill>
            <a:srgbClr val="EAF5EE"/>
          </a:solidFill>
          <a:ln w="11430">
            <a:solidFill>
              <a:srgbClr val="3A8B61"/>
            </a:solidFill>
            <a:prstDash val="solid"/>
          </a:ln>
        </p:spPr>
        <p:txBody>
          <a:bodyPr/>
          <a:lstStyle/>
          <a:p>
            <a:endParaRPr lang="zh-CN" altLang="en-US"/>
          </a:p>
        </p:txBody>
      </p:sp>
      <p:sp>
        <p:nvSpPr>
          <p:cNvPr id="68" name="矩形 67"/>
          <p:cNvSpPr>
            <a:spLocks noGrp="1"/>
          </p:cNvSpPr>
          <p:nvPr/>
        </p:nvSpPr>
        <p:spPr>
          <a:xfrm>
            <a:off x="9029700" y="1809750"/>
            <a:ext cx="200025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3A8B61"/>
                </a:solidFill>
                <a:latin typeface="Aptos"/>
                <a:ea typeface="Aptos"/>
                <a:cs typeface="Aptos"/>
              </a:defRPr>
            </a:pPr>
            <a:r>
              <a:rPr sz="1650" b="1">
                <a:solidFill>
                  <a:srgbClr val="3A8B61"/>
                </a:solidFill>
                <a:latin typeface="Aptos"/>
                <a:ea typeface="Aptos"/>
                <a:cs typeface="Aptos"/>
              </a:rPr>
              <a:t>15:15–17:15</a:t>
            </a:r>
          </a:p>
        </p:txBody>
      </p:sp>
      <p:sp>
        <p:nvSpPr>
          <p:cNvPr id="69" name="圆角矩形 68"/>
          <p:cNvSpPr>
            <a:spLocks noGrp="1"/>
          </p:cNvSpPr>
          <p:nvPr/>
        </p:nvSpPr>
        <p:spPr>
          <a:xfrm>
            <a:off x="9105900" y="2343150"/>
            <a:ext cx="1847850" cy="304800"/>
          </a:xfrm>
          <a:prstGeom prst="roundRect">
            <a:avLst>
              <a:gd name="adj" fmla="val 25000"/>
            </a:avLst>
          </a:prstGeom>
          <a:solidFill>
            <a:srgbClr val="3A8B61"/>
          </a:solidFill>
          <a:ln w="10478">
            <a:solidFill>
              <a:srgbClr val="3A8B61"/>
            </a:solidFill>
            <a:prstDash val="solid"/>
          </a:ln>
        </p:spPr>
        <p:txBody>
          <a:bodyPr lIns="38100" tIns="38100" rIns="38100" bIns="3810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LAB C</a:t>
            </a:r>
          </a:p>
        </p:txBody>
      </p:sp>
      <p:sp>
        <p:nvSpPr>
          <p:cNvPr id="70" name="矩形 69"/>
          <p:cNvSpPr>
            <a:spLocks noGrp="1"/>
          </p:cNvSpPr>
          <p:nvPr/>
        </p:nvSpPr>
        <p:spPr>
          <a:xfrm>
            <a:off x="9048750" y="291465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Deploy + peer test</a:t>
            </a:r>
          </a:p>
        </p:txBody>
      </p:sp>
      <p:sp>
        <p:nvSpPr>
          <p:cNvPr id="71" name="矩形 70"/>
          <p:cNvSpPr>
            <a:spLocks noGrp="1"/>
          </p:cNvSpPr>
          <p:nvPr/>
        </p:nvSpPr>
        <p:spPr>
          <a:xfrm>
            <a:off x="9048750" y="3657600"/>
            <a:ext cx="1962150" cy="5143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0">
                <a:solidFill>
                  <a:srgbClr val="637A90"/>
                </a:solidFill>
                <a:latin typeface="Aptos"/>
                <a:ea typeface="Aptos"/>
                <a:cs typeface="Aptos"/>
              </a:defRPr>
            </a:pPr>
            <a:r>
              <a:rPr sz="1275" b="0">
                <a:solidFill>
                  <a:srgbClr val="637A90"/>
                </a:solidFill>
                <a:latin typeface="Aptos"/>
                <a:ea typeface="Aptos"/>
                <a:cs typeface="Aptos"/>
              </a:rPr>
              <a:t>Public flow works</a:t>
            </a:r>
          </a:p>
        </p:txBody>
      </p:sp>
      <p:sp>
        <p:nvSpPr>
          <p:cNvPr id="72" name="圆角矩形 71"/>
          <p:cNvSpPr>
            <a:spLocks noGrp="1"/>
          </p:cNvSpPr>
          <p:nvPr/>
        </p:nvSpPr>
        <p:spPr>
          <a:xfrm>
            <a:off x="781050" y="4953000"/>
            <a:ext cx="10458450" cy="552450"/>
          </a:xfrm>
          <a:prstGeom prst="roundRect">
            <a:avLst>
              <a:gd name="adj" fmla="val 13793"/>
            </a:avLst>
          </a:prstGeom>
          <a:solidFill>
            <a:srgbClr val="F4F7FA"/>
          </a:solidFill>
          <a:ln w="10478">
            <a:solidFill>
              <a:srgbClr val="CAD8E6"/>
            </a:solidFill>
            <a:prstDash val="solid"/>
          </a:ln>
        </p:spPr>
        <p:txBody>
          <a:bodyPr lIns="76200" tIns="76200" rIns="76200" bIns="76200" anchor="ctr">
            <a:normAutofit/>
          </a:bodyPr>
          <a:lstStyle/>
          <a:p>
            <a:pPr algn="ctr">
              <a:buNone/>
              <a:defRPr sz="1650" b="1">
                <a:solidFill>
                  <a:srgbClr val="123F6D"/>
                </a:solidFill>
                <a:latin typeface="Aptos"/>
                <a:ea typeface="Aptos"/>
                <a:cs typeface="Aptos"/>
              </a:defRPr>
            </a:pPr>
            <a:r>
              <a:rPr sz="1650" b="1">
                <a:solidFill>
                  <a:srgbClr val="123F6D"/>
                </a:solidFill>
                <a:latin typeface="Aptos"/>
                <a:ea typeface="Aptos"/>
                <a:cs typeface="Aptos"/>
              </a:rPr>
              <a:t>Understand → build the backend → connect the UI → make it public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WHAT ARE WE BUILDING TODAY?</a:t>
            </a:r>
          </a:p>
        </p:txBody>
      </p:sp>
      <p:sp>
        <p:nvSpPr>
          <p:cNvPr id="3" name="矩形 2"/>
          <p:cNvSpPr>
            <a:spLocks noGrp="1"/>
          </p:cNvSpPr>
          <p:nvPr/>
        </p:nvSpPr>
        <p:spPr>
          <a:xfrm>
            <a:off x="781050" y="781050"/>
            <a:ext cx="10991215"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Separate the full product from today's classroom slice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8–12 MIN</a:t>
            </a:r>
          </a:p>
        </p:txBody>
      </p:sp>
      <p:sp>
        <p:nvSpPr>
          <p:cNvPr id="5" name="矩形 4"/>
          <p:cNvSpPr>
            <a:spLocks noGrp="1"/>
          </p:cNvSpPr>
          <p:nvPr/>
        </p:nvSpPr>
        <p:spPr>
          <a:xfrm>
            <a:off x="8667750" y="647700"/>
            <a:ext cx="400050" cy="28575"/>
          </a:xfrm>
          <a:prstGeom prst="rect">
            <a:avLst/>
          </a:prstGeom>
          <a:solidFill>
            <a:srgbClr val="0070C0"/>
          </a:solidFill>
          <a:ln w="9525">
            <a:solidFill>
              <a:srgbClr val="0070C0"/>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A7B8C8"/>
          </a:solidFill>
          <a:ln w="9525">
            <a:solidFill>
              <a:srgbClr val="A7B8C8"/>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6</a:t>
            </a:r>
          </a:p>
        </p:txBody>
      </p:sp>
      <p:sp>
        <p:nvSpPr>
          <p:cNvPr id="14" name="圆角矩形 13"/>
          <p:cNvSpPr>
            <a:spLocks noGrp="1"/>
          </p:cNvSpPr>
          <p:nvPr/>
        </p:nvSpPr>
        <p:spPr>
          <a:xfrm>
            <a:off x="723900" y="1428750"/>
            <a:ext cx="4972050" cy="2514600"/>
          </a:xfrm>
          <a:prstGeom prst="roundRect">
            <a:avLst>
              <a:gd name="adj" fmla="val 3030"/>
            </a:avLst>
          </a:prstGeom>
          <a:solidFill>
            <a:srgbClr val="F1F6FA"/>
          </a:solidFill>
          <a:ln w="9525">
            <a:solidFill>
              <a:srgbClr val="1F5284"/>
            </a:solidFill>
            <a:prstDash val="solid"/>
          </a:ln>
        </p:spPr>
        <p:txBody>
          <a:bodyPr/>
          <a:lstStyle/>
          <a:p>
            <a:endParaRPr/>
          </a:p>
        </p:txBody>
      </p:sp>
      <p:sp>
        <p:nvSpPr>
          <p:cNvPr id="15" name="矩形 14"/>
          <p:cNvSpPr>
            <a:spLocks noGrp="1"/>
          </p:cNvSpPr>
          <p:nvPr/>
        </p:nvSpPr>
        <p:spPr>
          <a:xfrm>
            <a:off x="933450" y="1590675"/>
            <a:ext cx="45529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Complete GitHub Reference Project</a:t>
            </a:r>
          </a:p>
        </p:txBody>
      </p:sp>
      <p:sp>
        <p:nvSpPr>
          <p:cNvPr id="16" name="矩形 15"/>
          <p:cNvSpPr>
            <a:spLocks noGrp="1"/>
          </p:cNvSpPr>
          <p:nvPr/>
        </p:nvSpPr>
        <p:spPr>
          <a:xfrm>
            <a:off x="933450" y="1981200"/>
            <a:ext cx="4552950" cy="1828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637788"/>
                </a:solidFill>
                <a:latin typeface="Lato"/>
                <a:ea typeface="Lato"/>
                <a:cs typeface="Lato"/>
              </a:defRPr>
            </a:pPr>
            <a:r>
              <a:rPr sz="1275" b="0">
                <a:solidFill>
                  <a:srgbClr val="637788"/>
                </a:solidFill>
                <a:latin typeface="Lato"/>
                <a:ea typeface="Lato"/>
                <a:cs typeface="Lato"/>
              </a:rPr>
              <a:t>Nav33dCodes/smartLearn-AI</a:t>
            </a:r>
          </a:p>
          <a:p>
            <a:pPr algn="l">
              <a:buNone/>
              <a:defRPr sz="1275" b="0">
                <a:solidFill>
                  <a:srgbClr val="637788"/>
                </a:solidFill>
                <a:latin typeface="Lato"/>
                <a:ea typeface="Lato"/>
                <a:cs typeface="Lato"/>
              </a:defRPr>
            </a:pPr>
            <a:r>
              <a:rPr sz="1275" b="0">
                <a:solidFill>
                  <a:srgbClr val="637788"/>
                </a:solidFill>
                <a:latin typeface="Lato"/>
                <a:ea typeface="Lato"/>
                <a:cs typeface="Lato"/>
              </a:rPr>
              <a:t>main @ 6d56a26</a:t>
            </a:r>
          </a:p>
          <a:p>
            <a:endParaRPr sz="1275"/>
          </a:p>
          <a:p>
            <a:pPr algn="l">
              <a:buNone/>
              <a:defRPr sz="1275" b="0">
                <a:solidFill>
                  <a:srgbClr val="637788"/>
                </a:solidFill>
                <a:latin typeface="Lato"/>
                <a:ea typeface="Lato"/>
                <a:cs typeface="Lato"/>
              </a:defRPr>
            </a:pPr>
            <a:r>
              <a:rPr sz="1275" b="0">
                <a:solidFill>
                  <a:srgbClr val="637788"/>
                </a:solidFill>
                <a:latin typeface="Lato"/>
                <a:ea typeface="Lato"/>
                <a:cs typeface="Lato"/>
              </a:rPr>
              <a:t>The real code includes /upload, /chat, Auth, SSE, RAG, Redis, and a database.</a:t>
            </a:r>
          </a:p>
          <a:p>
            <a:pPr algn="l">
              <a:buNone/>
              <a:defRPr sz="1275" b="0">
                <a:solidFill>
                  <a:srgbClr val="637788"/>
                </a:solidFill>
                <a:latin typeface="Lato"/>
                <a:ea typeface="Lato"/>
                <a:cs typeface="Lato"/>
              </a:defRPr>
            </a:pPr>
            <a:r>
              <a:rPr sz="1275" b="0">
                <a:solidFill>
                  <a:srgbClr val="637788"/>
                </a:solidFill>
                <a:latin typeface="Lato"/>
                <a:ea typeface="Lato"/>
                <a:cs typeface="Lato"/>
              </a:rPr>
              <a:t>It shows us what the product can grow into.</a:t>
            </a:r>
          </a:p>
        </p:txBody>
      </p:sp>
      <p:sp>
        <p:nvSpPr>
          <p:cNvPr id="17" name="圆角矩形 16"/>
          <p:cNvSpPr>
            <a:spLocks noGrp="1"/>
          </p:cNvSpPr>
          <p:nvPr/>
        </p:nvSpPr>
        <p:spPr>
          <a:xfrm>
            <a:off x="6096000" y="1428750"/>
            <a:ext cx="4972050" cy="2514600"/>
          </a:xfrm>
          <a:prstGeom prst="roundRect">
            <a:avLst>
              <a:gd name="adj" fmla="val 3030"/>
            </a:avLst>
          </a:prstGeom>
          <a:solidFill>
            <a:srgbClr val="EEF7EE"/>
          </a:solidFill>
          <a:ln w="9525">
            <a:solidFill>
              <a:srgbClr val="39825B"/>
            </a:solidFill>
            <a:prstDash val="solid"/>
          </a:ln>
        </p:spPr>
        <p:txBody>
          <a:bodyPr/>
          <a:lstStyle/>
          <a:p>
            <a:endParaRPr/>
          </a:p>
        </p:txBody>
      </p:sp>
      <p:sp>
        <p:nvSpPr>
          <p:cNvPr id="18" name="矩形 17"/>
          <p:cNvSpPr>
            <a:spLocks noGrp="1"/>
          </p:cNvSpPr>
          <p:nvPr/>
        </p:nvSpPr>
        <p:spPr>
          <a:xfrm>
            <a:off x="6305550" y="1590675"/>
            <a:ext cx="455295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89742" lnSpcReduction="20000"/>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UNDERSTAND IN THE BRIEFING · IMPLEMENT IN TA LABS</a:t>
            </a:r>
          </a:p>
        </p:txBody>
      </p:sp>
      <p:sp>
        <p:nvSpPr>
          <p:cNvPr id="19" name="矩形 18"/>
          <p:cNvSpPr>
            <a:spLocks noGrp="1"/>
          </p:cNvSpPr>
          <p:nvPr/>
        </p:nvSpPr>
        <p:spPr>
          <a:xfrm>
            <a:off x="6305550" y="1981200"/>
            <a:ext cx="4552950" cy="1828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637788"/>
                </a:solidFill>
                <a:latin typeface="Lato"/>
                <a:ea typeface="Lato"/>
                <a:cs typeface="Lato"/>
              </a:defRPr>
            </a:pPr>
            <a:r>
              <a:rPr sz="1275" b="0">
                <a:solidFill>
                  <a:srgbClr val="637788"/>
                </a:solidFill>
                <a:latin typeface="Lato"/>
                <a:ea typeface="Lato"/>
                <a:cs typeface="Lato"/>
              </a:rPr>
              <a:t>The only classroom contract:</a:t>
            </a:r>
          </a:p>
          <a:p>
            <a:pPr algn="l">
              <a:buNone/>
              <a:defRPr sz="1275" b="0">
                <a:solidFill>
                  <a:srgbClr val="637788"/>
                </a:solidFill>
                <a:latin typeface="Lato"/>
                <a:ea typeface="Lato"/>
                <a:cs typeface="Lato"/>
              </a:defRPr>
            </a:pPr>
            <a:r>
              <a:rPr sz="1275" b="0">
                <a:solidFill>
                  <a:srgbClr val="637788"/>
                </a:solidFill>
                <a:latin typeface="Lato"/>
                <a:ea typeface="Lato"/>
                <a:cs typeface="Lato"/>
              </a:rPr>
              <a:t>/upload?chat_id=day2-demo + /chat, pypdf, page-aware text, browser fetch, Vercel + Railway.</a:t>
            </a:r>
          </a:p>
          <a:p>
            <a:endParaRPr sz="1275"/>
          </a:p>
          <a:p>
            <a:pPr algn="l">
              <a:buNone/>
              <a:defRPr sz="1275" b="0">
                <a:solidFill>
                  <a:srgbClr val="637788"/>
                </a:solidFill>
                <a:latin typeface="Lato"/>
                <a:ea typeface="Lato"/>
                <a:cs typeface="Lato"/>
              </a:defRPr>
            </a:pPr>
            <a:r>
              <a:rPr sz="1275" b="0">
                <a:solidFill>
                  <a:srgbClr val="637788"/>
                </a:solidFill>
                <a:latin typeface="Lato"/>
                <a:ea typeface="Lato"/>
                <a:cs typeface="Lato"/>
              </a:rPr>
              <a:t>Understand it in the briefing; run it in smartLearn-AI-Day2/ with the TAs.</a:t>
            </a:r>
          </a:p>
        </p:txBody>
      </p:sp>
      <p:sp>
        <p:nvSpPr>
          <p:cNvPr id="20" name="圆角矩形 19"/>
          <p:cNvSpPr>
            <a:spLocks noGrp="1"/>
          </p:cNvSpPr>
          <p:nvPr/>
        </p:nvSpPr>
        <p:spPr>
          <a:xfrm>
            <a:off x="723900" y="4248150"/>
            <a:ext cx="10344150" cy="895350"/>
          </a:xfrm>
          <a:prstGeom prst="roundRect">
            <a:avLst>
              <a:gd name="adj" fmla="val 8511"/>
            </a:avLst>
          </a:prstGeom>
          <a:solidFill>
            <a:srgbClr val="FFF8E6"/>
          </a:solidFill>
          <a:ln w="9525">
            <a:solidFill>
              <a:srgbClr val="D4A72C"/>
            </a:solidFill>
            <a:prstDash val="solid"/>
          </a:ln>
        </p:spPr>
        <p:txBody>
          <a:bodyPr/>
          <a:lstStyle/>
          <a:p>
            <a:endParaRPr/>
          </a:p>
        </p:txBody>
      </p:sp>
      <p:sp>
        <p:nvSpPr>
          <p:cNvPr id="21" name="矩形 20"/>
          <p:cNvSpPr>
            <a:spLocks noGrp="1"/>
          </p:cNvSpPr>
          <p:nvPr/>
        </p:nvSpPr>
        <p:spPr>
          <a:xfrm>
            <a:off x="914400" y="4438650"/>
            <a:ext cx="14287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7500" lnSpcReduction="20000"/>
          </a:bodyPr>
          <a:lstStyle/>
          <a:p>
            <a:pPr algn="l">
              <a:buNone/>
              <a:defRPr sz="1125" b="1">
                <a:solidFill>
                  <a:srgbClr val="D4A72C"/>
                </a:solidFill>
                <a:latin typeface="Lato"/>
                <a:ea typeface="Lato"/>
                <a:cs typeface="Lato"/>
              </a:defRPr>
            </a:pPr>
            <a:r>
              <a:rPr sz="1125" b="1">
                <a:solidFill>
                  <a:srgbClr val="D4A72C"/>
                </a:solidFill>
                <a:latin typeface="Lato"/>
                <a:ea typeface="Lato"/>
                <a:cs typeface="Lato"/>
              </a:rPr>
              <a:t>IMPORTANT BOUNDARY</a:t>
            </a:r>
          </a:p>
        </p:txBody>
      </p:sp>
      <p:sp>
        <p:nvSpPr>
          <p:cNvPr id="22" name="矩形 21"/>
          <p:cNvSpPr>
            <a:spLocks noGrp="1"/>
          </p:cNvSpPr>
          <p:nvPr/>
        </p:nvSpPr>
        <p:spPr>
          <a:xfrm>
            <a:off x="2343150" y="4400550"/>
            <a:ext cx="845820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Use /chat with the same chat_id today. The full project's Auth, SSE, and RAG are read-only reference. Before coding, confirm that you are in your Day 2 fork.</a:t>
            </a:r>
          </a:p>
        </p:txBody>
      </p:sp>
      <p:sp>
        <p:nvSpPr>
          <p:cNvPr id="23" name="圆角矩形 22"/>
          <p:cNvSpPr>
            <a:spLocks noGrp="1"/>
          </p:cNvSpPr>
          <p:nvPr/>
        </p:nvSpPr>
        <p:spPr>
          <a:xfrm>
            <a:off x="704850" y="5314950"/>
            <a:ext cx="2476500" cy="685800"/>
          </a:xfrm>
          <a:prstGeom prst="roundRect">
            <a:avLst>
              <a:gd name="adj" fmla="val 11111"/>
            </a:avLst>
          </a:prstGeom>
          <a:solidFill>
            <a:srgbClr val="F1F6FA"/>
          </a:solidFill>
          <a:ln w="9525">
            <a:solidFill>
              <a:srgbClr val="1F5284"/>
            </a:solidFill>
            <a:prstDash val="solid"/>
          </a:ln>
        </p:spPr>
        <p:txBody>
          <a:bodyPr/>
          <a:lstStyle/>
          <a:p>
            <a:endParaRPr/>
          </a:p>
        </p:txBody>
      </p:sp>
      <p:sp>
        <p:nvSpPr>
          <p:cNvPr id="24" name="矩形 23"/>
          <p:cNvSpPr>
            <a:spLocks noGrp="1"/>
          </p:cNvSpPr>
          <p:nvPr/>
        </p:nvSpPr>
        <p:spPr>
          <a:xfrm>
            <a:off x="838200" y="54102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73845"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IMPLEMENT IN TA LABS</a:t>
            </a:r>
          </a:p>
        </p:txBody>
      </p:sp>
      <p:sp>
        <p:nvSpPr>
          <p:cNvPr id="25" name="矩形 24"/>
          <p:cNvSpPr>
            <a:spLocks noGrp="1"/>
          </p:cNvSpPr>
          <p:nvPr/>
        </p:nvSpPr>
        <p:spPr>
          <a:xfrm>
            <a:off x="838200" y="56102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/upload?chat_id + /chat</a:t>
            </a:r>
          </a:p>
        </p:txBody>
      </p:sp>
      <p:sp>
        <p:nvSpPr>
          <p:cNvPr id="26" name="圆角矩形 25"/>
          <p:cNvSpPr>
            <a:spLocks noGrp="1"/>
          </p:cNvSpPr>
          <p:nvPr/>
        </p:nvSpPr>
        <p:spPr>
          <a:xfrm>
            <a:off x="3352800" y="5314950"/>
            <a:ext cx="2476500" cy="685800"/>
          </a:xfrm>
          <a:prstGeom prst="roundRect">
            <a:avLst>
              <a:gd name="adj" fmla="val 11111"/>
            </a:avLst>
          </a:prstGeom>
          <a:solidFill>
            <a:srgbClr val="FFFFFF"/>
          </a:solidFill>
          <a:ln w="9525">
            <a:solidFill>
              <a:srgbClr val="0070C0"/>
            </a:solidFill>
            <a:prstDash val="solid"/>
          </a:ln>
        </p:spPr>
        <p:txBody>
          <a:bodyPr/>
          <a:lstStyle/>
          <a:p>
            <a:endParaRPr/>
          </a:p>
        </p:txBody>
      </p:sp>
      <p:sp>
        <p:nvSpPr>
          <p:cNvPr id="27" name="矩形 26"/>
          <p:cNvSpPr>
            <a:spLocks noGrp="1"/>
          </p:cNvSpPr>
          <p:nvPr/>
        </p:nvSpPr>
        <p:spPr>
          <a:xfrm>
            <a:off x="3486150" y="54102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0070C0"/>
                </a:solidFill>
                <a:latin typeface="Lato"/>
                <a:ea typeface="Lato"/>
                <a:cs typeface="Lato"/>
              </a:defRPr>
            </a:pPr>
            <a:r>
              <a:rPr sz="750" b="1">
                <a:solidFill>
                  <a:srgbClr val="0070C0"/>
                </a:solidFill>
                <a:latin typeface="Lato"/>
                <a:ea typeface="Lato"/>
                <a:cs typeface="Lato"/>
              </a:rPr>
              <a:t>TODAY'S SCOPE</a:t>
            </a:r>
          </a:p>
        </p:txBody>
      </p:sp>
      <p:sp>
        <p:nvSpPr>
          <p:cNvPr id="28" name="矩形 27"/>
          <p:cNvSpPr>
            <a:spLocks noGrp="1"/>
          </p:cNvSpPr>
          <p:nvPr/>
        </p:nvSpPr>
        <p:spPr>
          <a:xfrm>
            <a:off x="3486150" y="56102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PDF at most 30 pages</a:t>
            </a:r>
          </a:p>
        </p:txBody>
      </p:sp>
      <p:sp>
        <p:nvSpPr>
          <p:cNvPr id="29" name="圆角矩形 28"/>
          <p:cNvSpPr>
            <a:spLocks noGrp="1"/>
          </p:cNvSpPr>
          <p:nvPr/>
        </p:nvSpPr>
        <p:spPr>
          <a:xfrm>
            <a:off x="6000750" y="5314950"/>
            <a:ext cx="2476500" cy="685800"/>
          </a:xfrm>
          <a:prstGeom prst="roundRect">
            <a:avLst>
              <a:gd name="adj" fmla="val 11111"/>
            </a:avLst>
          </a:prstGeom>
          <a:solidFill>
            <a:srgbClr val="EEF7EE"/>
          </a:solidFill>
          <a:ln w="9525">
            <a:solidFill>
              <a:srgbClr val="39825B"/>
            </a:solidFill>
            <a:prstDash val="solid"/>
          </a:ln>
        </p:spPr>
        <p:txBody>
          <a:bodyPr/>
          <a:lstStyle/>
          <a:p>
            <a:endParaRPr/>
          </a:p>
        </p:txBody>
      </p:sp>
      <p:sp>
        <p:nvSpPr>
          <p:cNvPr id="30" name="矩形 29"/>
          <p:cNvSpPr>
            <a:spLocks noGrp="1"/>
          </p:cNvSpPr>
          <p:nvPr/>
        </p:nvSpPr>
        <p:spPr>
          <a:xfrm>
            <a:off x="6134100" y="54102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READ-ONLY REFERENCE</a:t>
            </a:r>
          </a:p>
        </p:txBody>
      </p:sp>
      <p:sp>
        <p:nvSpPr>
          <p:cNvPr id="31" name="矩形 30"/>
          <p:cNvSpPr>
            <a:spLocks noGrp="1"/>
          </p:cNvSpPr>
          <p:nvPr/>
        </p:nvSpPr>
        <p:spPr>
          <a:xfrm>
            <a:off x="6134100" y="56102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6d56a26</a:t>
            </a:r>
          </a:p>
        </p:txBody>
      </p:sp>
      <p:sp>
        <p:nvSpPr>
          <p:cNvPr id="32" name="圆角矩形 31"/>
          <p:cNvSpPr>
            <a:spLocks noGrp="1"/>
          </p:cNvSpPr>
          <p:nvPr/>
        </p:nvSpPr>
        <p:spPr>
          <a:xfrm>
            <a:off x="8648700" y="5314950"/>
            <a:ext cx="2476500" cy="685800"/>
          </a:xfrm>
          <a:prstGeom prst="roundRect">
            <a:avLst>
              <a:gd name="adj" fmla="val 11111"/>
            </a:avLst>
          </a:prstGeom>
          <a:solidFill>
            <a:srgbClr val="FFF8E6"/>
          </a:solidFill>
          <a:ln w="9525">
            <a:solidFill>
              <a:srgbClr val="D4A72C"/>
            </a:solidFill>
            <a:prstDash val="solid"/>
          </a:ln>
        </p:spPr>
        <p:txBody>
          <a:bodyPr/>
          <a:lstStyle/>
          <a:p>
            <a:endParaRPr/>
          </a:p>
        </p:txBody>
      </p:sp>
      <p:sp>
        <p:nvSpPr>
          <p:cNvPr id="33" name="矩形 32"/>
          <p:cNvSpPr>
            <a:spLocks noGrp="1"/>
          </p:cNvSpPr>
          <p:nvPr/>
        </p:nvSpPr>
        <p:spPr>
          <a:xfrm>
            <a:off x="8782050" y="54102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20000"/>
          </a:bodyPr>
          <a:lstStyle/>
          <a:p>
            <a:pPr algn="l">
              <a:buNone/>
              <a:defRPr sz="750" b="1">
                <a:solidFill>
                  <a:srgbClr val="D4A72C"/>
                </a:solidFill>
                <a:latin typeface="Lato"/>
                <a:ea typeface="Lato"/>
                <a:cs typeface="Lato"/>
              </a:defRPr>
            </a:pPr>
            <a:r>
              <a:rPr sz="750" b="1">
                <a:solidFill>
                  <a:srgbClr val="D4A72C"/>
                </a:solidFill>
                <a:latin typeface="Lato"/>
                <a:ea typeface="Lato"/>
                <a:cs typeface="Lato"/>
              </a:rPr>
              <a:t>UPGRADE TOMORROW</a:t>
            </a:r>
          </a:p>
        </p:txBody>
      </p:sp>
      <p:sp>
        <p:nvSpPr>
          <p:cNvPr id="34" name="矩形 33"/>
          <p:cNvSpPr>
            <a:spLocks noGrp="1"/>
          </p:cNvSpPr>
          <p:nvPr/>
        </p:nvSpPr>
        <p:spPr>
          <a:xfrm>
            <a:off x="8782050" y="56102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RAG + Multi-Turn</a:t>
            </a:r>
          </a:p>
        </p:txBody>
      </p:sp>
      <p:sp>
        <p:nvSpPr>
          <p:cNvPr id="36" name="矩形 35"/>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37" name="圆角矩形 36"/>
          <p:cNvSpPr>
            <a:spLocks noGrp="1"/>
          </p:cNvSpPr>
          <p:nvPr/>
        </p:nvSpPr>
        <p:spPr>
          <a:xfrm>
            <a:off x="781050" y="1581150"/>
            <a:ext cx="6838950" cy="3352800"/>
          </a:xfrm>
          <a:prstGeom prst="roundRect">
            <a:avLst>
              <a:gd name="adj" fmla="val 2273"/>
            </a:avLst>
          </a:prstGeom>
          <a:solidFill>
            <a:srgbClr val="F4F7FA"/>
          </a:solidFill>
          <a:ln w="11430">
            <a:solidFill>
              <a:srgbClr val="CAD8E6"/>
            </a:solidFill>
            <a:prstDash val="solid"/>
          </a:ln>
        </p:spPr>
        <p:txBody>
          <a:bodyPr/>
          <a:lstStyle/>
          <a:p>
            <a:endParaRPr lang="zh-CN" altLang="en-US"/>
          </a:p>
        </p:txBody>
      </p:sp>
      <p:sp>
        <p:nvSpPr>
          <p:cNvPr id="38" name="矩形 37"/>
          <p:cNvSpPr>
            <a:spLocks noGrp="1"/>
          </p:cNvSpPr>
          <p:nvPr/>
        </p:nvSpPr>
        <p:spPr>
          <a:xfrm>
            <a:off x="1028700" y="1752600"/>
            <a:ext cx="619125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500" b="1">
                <a:solidFill>
                  <a:srgbClr val="637A90"/>
                </a:solidFill>
                <a:latin typeface="Aptos"/>
                <a:ea typeface="Aptos"/>
                <a:cs typeface="Aptos"/>
              </a:defRPr>
            </a:pPr>
            <a:r>
              <a:rPr sz="1500" b="1">
                <a:solidFill>
                  <a:srgbClr val="637A90"/>
                </a:solidFill>
                <a:latin typeface="Aptos"/>
                <a:ea typeface="Aptos"/>
                <a:cs typeface="Aptos"/>
              </a:rPr>
              <a:t>Full product · reference only</a:t>
            </a:r>
          </a:p>
        </p:txBody>
      </p:sp>
      <p:sp>
        <p:nvSpPr>
          <p:cNvPr id="39" name="圆角矩形 38"/>
          <p:cNvSpPr>
            <a:spLocks noGrp="1"/>
          </p:cNvSpPr>
          <p:nvPr/>
        </p:nvSpPr>
        <p:spPr>
          <a:xfrm>
            <a:off x="1028700" y="2209800"/>
            <a:ext cx="1028700" cy="323850"/>
          </a:xfrm>
          <a:prstGeom prst="roundRect">
            <a:avLst>
              <a:gd name="adj" fmla="val 23529"/>
            </a:avLst>
          </a:prstGeom>
          <a:solidFill>
            <a:srgbClr val="FFFFFF"/>
          </a:solidFill>
          <a:ln w="10478">
            <a:solidFill>
              <a:srgbClr val="637A90"/>
            </a:solidFill>
            <a:prstDash val="solid"/>
          </a:ln>
        </p:spPr>
        <p:txBody>
          <a:bodyPr lIns="47625" tIns="47625" rIns="47625" bIns="47625" anchor="ctr">
            <a:normAutofit/>
          </a:bodyPr>
          <a:lstStyle/>
          <a:p>
            <a:pPr algn="ctr">
              <a:buNone/>
              <a:defRPr sz="1050" b="1">
                <a:solidFill>
                  <a:srgbClr val="637A90"/>
                </a:solidFill>
                <a:latin typeface="Aptos"/>
                <a:ea typeface="Aptos"/>
                <a:cs typeface="Aptos"/>
              </a:defRPr>
            </a:pPr>
            <a:r>
              <a:rPr sz="1050" b="1">
                <a:solidFill>
                  <a:srgbClr val="637A90"/>
                </a:solidFill>
                <a:latin typeface="Aptos"/>
                <a:ea typeface="Aptos"/>
                <a:cs typeface="Aptos"/>
              </a:rPr>
              <a:t>Auth</a:t>
            </a:r>
          </a:p>
        </p:txBody>
      </p:sp>
      <p:sp>
        <p:nvSpPr>
          <p:cNvPr id="40" name="圆角矩形 39"/>
          <p:cNvSpPr>
            <a:spLocks noGrp="1"/>
          </p:cNvSpPr>
          <p:nvPr/>
        </p:nvSpPr>
        <p:spPr>
          <a:xfrm>
            <a:off x="2228850" y="2209800"/>
            <a:ext cx="1028700" cy="323850"/>
          </a:xfrm>
          <a:prstGeom prst="roundRect">
            <a:avLst>
              <a:gd name="adj" fmla="val 23529"/>
            </a:avLst>
          </a:prstGeom>
          <a:solidFill>
            <a:srgbClr val="FFFFFF"/>
          </a:solidFill>
          <a:ln w="10478">
            <a:solidFill>
              <a:srgbClr val="637A90"/>
            </a:solidFill>
            <a:prstDash val="solid"/>
          </a:ln>
        </p:spPr>
        <p:txBody>
          <a:bodyPr lIns="47625" tIns="47625" rIns="47625" bIns="47625" anchor="ctr">
            <a:normAutofit/>
          </a:bodyPr>
          <a:lstStyle/>
          <a:p>
            <a:pPr algn="ctr">
              <a:buNone/>
              <a:defRPr sz="1050" b="1">
                <a:solidFill>
                  <a:srgbClr val="637A90"/>
                </a:solidFill>
                <a:latin typeface="Aptos"/>
                <a:ea typeface="Aptos"/>
                <a:cs typeface="Aptos"/>
              </a:defRPr>
            </a:pPr>
            <a:r>
              <a:rPr sz="1050" b="1">
                <a:solidFill>
                  <a:srgbClr val="637A90"/>
                </a:solidFill>
                <a:latin typeface="Aptos"/>
                <a:ea typeface="Aptos"/>
                <a:cs typeface="Aptos"/>
              </a:rPr>
              <a:t>SSE</a:t>
            </a:r>
          </a:p>
        </p:txBody>
      </p:sp>
      <p:sp>
        <p:nvSpPr>
          <p:cNvPr id="41" name="圆角矩形 40"/>
          <p:cNvSpPr>
            <a:spLocks noGrp="1"/>
          </p:cNvSpPr>
          <p:nvPr/>
        </p:nvSpPr>
        <p:spPr>
          <a:xfrm>
            <a:off x="3429000" y="2209800"/>
            <a:ext cx="1028700" cy="323850"/>
          </a:xfrm>
          <a:prstGeom prst="roundRect">
            <a:avLst>
              <a:gd name="adj" fmla="val 23529"/>
            </a:avLst>
          </a:prstGeom>
          <a:solidFill>
            <a:srgbClr val="FFFFFF"/>
          </a:solidFill>
          <a:ln w="10478">
            <a:solidFill>
              <a:srgbClr val="637A90"/>
            </a:solidFill>
            <a:prstDash val="solid"/>
          </a:ln>
        </p:spPr>
        <p:txBody>
          <a:bodyPr lIns="47625" tIns="47625" rIns="47625" bIns="47625" anchor="ctr">
            <a:normAutofit/>
          </a:bodyPr>
          <a:lstStyle/>
          <a:p>
            <a:pPr algn="ctr">
              <a:buNone/>
              <a:defRPr sz="1050" b="1">
                <a:solidFill>
                  <a:srgbClr val="637A90"/>
                </a:solidFill>
                <a:latin typeface="Aptos"/>
                <a:ea typeface="Aptos"/>
                <a:cs typeface="Aptos"/>
              </a:defRPr>
            </a:pPr>
            <a:r>
              <a:rPr sz="1050" b="1">
                <a:solidFill>
                  <a:srgbClr val="637A90"/>
                </a:solidFill>
                <a:latin typeface="Aptos"/>
                <a:ea typeface="Aptos"/>
                <a:cs typeface="Aptos"/>
              </a:rPr>
              <a:t>RAG</a:t>
            </a:r>
          </a:p>
        </p:txBody>
      </p:sp>
      <p:sp>
        <p:nvSpPr>
          <p:cNvPr id="42" name="圆角矩形 41"/>
          <p:cNvSpPr>
            <a:spLocks noGrp="1"/>
          </p:cNvSpPr>
          <p:nvPr/>
        </p:nvSpPr>
        <p:spPr>
          <a:xfrm>
            <a:off x="4629150" y="2209800"/>
            <a:ext cx="1028700" cy="323850"/>
          </a:xfrm>
          <a:prstGeom prst="roundRect">
            <a:avLst>
              <a:gd name="adj" fmla="val 23529"/>
            </a:avLst>
          </a:prstGeom>
          <a:solidFill>
            <a:srgbClr val="FFFFFF"/>
          </a:solidFill>
          <a:ln w="10478">
            <a:solidFill>
              <a:srgbClr val="637A90"/>
            </a:solidFill>
            <a:prstDash val="solid"/>
          </a:ln>
        </p:spPr>
        <p:txBody>
          <a:bodyPr lIns="47625" tIns="47625" rIns="47625" bIns="47625" anchor="ctr">
            <a:normAutofit/>
          </a:bodyPr>
          <a:lstStyle/>
          <a:p>
            <a:pPr algn="ctr">
              <a:buNone/>
              <a:defRPr sz="1050" b="1">
                <a:solidFill>
                  <a:srgbClr val="637A90"/>
                </a:solidFill>
                <a:latin typeface="Aptos"/>
                <a:ea typeface="Aptos"/>
                <a:cs typeface="Aptos"/>
              </a:defRPr>
            </a:pPr>
            <a:r>
              <a:rPr sz="1050" b="1">
                <a:solidFill>
                  <a:srgbClr val="637A90"/>
                </a:solidFill>
                <a:latin typeface="Aptos"/>
                <a:ea typeface="Aptos"/>
                <a:cs typeface="Aptos"/>
              </a:rPr>
              <a:t>Redis</a:t>
            </a:r>
          </a:p>
        </p:txBody>
      </p:sp>
      <p:sp>
        <p:nvSpPr>
          <p:cNvPr id="43" name="圆角矩形 42"/>
          <p:cNvSpPr>
            <a:spLocks noGrp="1"/>
          </p:cNvSpPr>
          <p:nvPr/>
        </p:nvSpPr>
        <p:spPr>
          <a:xfrm>
            <a:off x="5829300" y="2209800"/>
            <a:ext cx="1028700" cy="323850"/>
          </a:xfrm>
          <a:prstGeom prst="roundRect">
            <a:avLst>
              <a:gd name="adj" fmla="val 23529"/>
            </a:avLst>
          </a:prstGeom>
          <a:solidFill>
            <a:srgbClr val="FFFFFF"/>
          </a:solidFill>
          <a:ln w="10478">
            <a:solidFill>
              <a:srgbClr val="637A90"/>
            </a:solidFill>
            <a:prstDash val="solid"/>
          </a:ln>
        </p:spPr>
        <p:txBody>
          <a:bodyPr lIns="47625" tIns="47625" rIns="47625" bIns="47625" anchor="ctr">
            <a:normAutofit/>
          </a:bodyPr>
          <a:lstStyle/>
          <a:p>
            <a:pPr algn="ctr">
              <a:buNone/>
              <a:defRPr sz="1050" b="1">
                <a:solidFill>
                  <a:srgbClr val="637A90"/>
                </a:solidFill>
                <a:latin typeface="Aptos"/>
                <a:ea typeface="Aptos"/>
                <a:cs typeface="Aptos"/>
              </a:defRPr>
            </a:pPr>
            <a:r>
              <a:rPr sz="1050" b="1">
                <a:solidFill>
                  <a:srgbClr val="637A90"/>
                </a:solidFill>
                <a:latin typeface="Aptos"/>
                <a:ea typeface="Aptos"/>
                <a:cs typeface="Aptos"/>
              </a:rPr>
              <a:t>Database</a:t>
            </a:r>
          </a:p>
        </p:txBody>
      </p:sp>
      <p:sp>
        <p:nvSpPr>
          <p:cNvPr id="44" name="圆角矩形 43"/>
          <p:cNvSpPr>
            <a:spLocks noGrp="1"/>
          </p:cNvSpPr>
          <p:nvPr/>
        </p:nvSpPr>
        <p:spPr>
          <a:xfrm>
            <a:off x="1257300" y="2781300"/>
            <a:ext cx="5886450" cy="1771650"/>
          </a:xfrm>
          <a:prstGeom prst="roundRect">
            <a:avLst>
              <a:gd name="adj" fmla="val 4301"/>
            </a:avLst>
          </a:prstGeom>
          <a:solidFill>
            <a:srgbClr val="E4F7F5"/>
          </a:solidFill>
          <a:ln w="11430">
            <a:solidFill>
              <a:srgbClr val="00A7A0"/>
            </a:solidFill>
            <a:prstDash val="solid"/>
          </a:ln>
        </p:spPr>
        <p:txBody>
          <a:bodyPr/>
          <a:lstStyle/>
          <a:p>
            <a:endParaRPr lang="zh-CN" altLang="en-US"/>
          </a:p>
        </p:txBody>
      </p:sp>
      <p:sp>
        <p:nvSpPr>
          <p:cNvPr id="45" name="矩形 44"/>
          <p:cNvSpPr>
            <a:spLocks noGrp="1"/>
          </p:cNvSpPr>
          <p:nvPr/>
        </p:nvSpPr>
        <p:spPr>
          <a:xfrm>
            <a:off x="1504950" y="2952750"/>
            <a:ext cx="53340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650" b="1">
                <a:solidFill>
                  <a:srgbClr val="00A7A0"/>
                </a:solidFill>
                <a:latin typeface="Aptos"/>
                <a:ea typeface="Aptos"/>
                <a:cs typeface="Aptos"/>
              </a:defRPr>
            </a:pPr>
            <a:r>
              <a:rPr sz="1650" b="1">
                <a:solidFill>
                  <a:srgbClr val="00A7A0"/>
                </a:solidFill>
                <a:latin typeface="Aptos"/>
                <a:ea typeface="Aptos"/>
                <a:cs typeface="Aptos"/>
              </a:rPr>
              <a:t>Today's bounded slice</a:t>
            </a:r>
          </a:p>
        </p:txBody>
      </p:sp>
      <p:sp>
        <p:nvSpPr>
          <p:cNvPr id="46" name="矩形 45"/>
          <p:cNvSpPr>
            <a:spLocks noGrp="1"/>
          </p:cNvSpPr>
          <p:nvPr/>
        </p:nvSpPr>
        <p:spPr>
          <a:xfrm>
            <a:off x="1504950" y="3429000"/>
            <a:ext cx="24765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500" b="1">
                <a:solidFill>
                  <a:srgbClr val="123F6D"/>
                </a:solidFill>
                <a:latin typeface="Aptos"/>
                <a:ea typeface="Aptos"/>
                <a:cs typeface="Aptos"/>
              </a:defRPr>
            </a:pPr>
            <a:r>
              <a:rPr sz="1500" b="1">
                <a:solidFill>
                  <a:srgbClr val="123F6D"/>
                </a:solidFill>
                <a:latin typeface="Aptos"/>
                <a:ea typeface="Aptos"/>
                <a:cs typeface="Aptos"/>
              </a:rPr>
              <a:t>/upload?chat_id + /chat</a:t>
            </a:r>
          </a:p>
        </p:txBody>
      </p:sp>
      <p:sp>
        <p:nvSpPr>
          <p:cNvPr id="47" name="矩形 46"/>
          <p:cNvSpPr>
            <a:spLocks noGrp="1"/>
          </p:cNvSpPr>
          <p:nvPr/>
        </p:nvSpPr>
        <p:spPr>
          <a:xfrm>
            <a:off x="4248150" y="3429000"/>
            <a:ext cx="238125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500" b="1">
                <a:solidFill>
                  <a:srgbClr val="123F6D"/>
                </a:solidFill>
                <a:latin typeface="Aptos"/>
                <a:ea typeface="Aptos"/>
                <a:cs typeface="Aptos"/>
              </a:defRPr>
            </a:pPr>
            <a:r>
              <a:rPr sz="1500" b="1">
                <a:solidFill>
                  <a:srgbClr val="123F6D"/>
                </a:solidFill>
                <a:latin typeface="Aptos"/>
                <a:ea typeface="Aptos"/>
                <a:cs typeface="Aptos"/>
              </a:rPr>
              <a:t>page-aware PDF</a:t>
            </a:r>
          </a:p>
        </p:txBody>
      </p:sp>
      <p:sp>
        <p:nvSpPr>
          <p:cNvPr id="48" name="矩形 47"/>
          <p:cNvSpPr>
            <a:spLocks noGrp="1"/>
          </p:cNvSpPr>
          <p:nvPr/>
        </p:nvSpPr>
        <p:spPr>
          <a:xfrm>
            <a:off x="1504950" y="3924300"/>
            <a:ext cx="24765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500" b="1">
                <a:solidFill>
                  <a:srgbClr val="123F6D"/>
                </a:solidFill>
                <a:latin typeface="Aptos"/>
                <a:ea typeface="Aptos"/>
                <a:cs typeface="Aptos"/>
              </a:defRPr>
            </a:pPr>
            <a:r>
              <a:rPr sz="1500" b="1">
                <a:solidFill>
                  <a:srgbClr val="123F6D"/>
                </a:solidFill>
                <a:latin typeface="Aptos"/>
                <a:ea typeface="Aptos"/>
                <a:cs typeface="Aptos"/>
              </a:rPr>
              <a:t>browser fetch</a:t>
            </a:r>
          </a:p>
        </p:txBody>
      </p:sp>
      <p:sp>
        <p:nvSpPr>
          <p:cNvPr id="49" name="矩形 48"/>
          <p:cNvSpPr>
            <a:spLocks noGrp="1"/>
          </p:cNvSpPr>
          <p:nvPr/>
        </p:nvSpPr>
        <p:spPr>
          <a:xfrm>
            <a:off x="4248150" y="3924300"/>
            <a:ext cx="238125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500" b="1">
                <a:solidFill>
                  <a:srgbClr val="123F6D"/>
                </a:solidFill>
                <a:latin typeface="Aptos"/>
                <a:ea typeface="Aptos"/>
                <a:cs typeface="Aptos"/>
              </a:defRPr>
            </a:pPr>
            <a:r>
              <a:rPr sz="1500" b="1">
                <a:solidFill>
                  <a:srgbClr val="123F6D"/>
                </a:solidFill>
                <a:latin typeface="Aptos"/>
                <a:ea typeface="Aptos"/>
                <a:cs typeface="Aptos"/>
              </a:rPr>
              <a:t>Railway + Vercel</a:t>
            </a:r>
          </a:p>
        </p:txBody>
      </p:sp>
      <p:sp>
        <p:nvSpPr>
          <p:cNvPr id="50" name="圆角矩形 49"/>
          <p:cNvSpPr>
            <a:spLocks noGrp="1"/>
          </p:cNvSpPr>
          <p:nvPr/>
        </p:nvSpPr>
        <p:spPr>
          <a:xfrm>
            <a:off x="7924800" y="1581150"/>
            <a:ext cx="3314700" cy="3352800"/>
          </a:xfrm>
          <a:prstGeom prst="roundRect">
            <a:avLst>
              <a:gd name="adj" fmla="val 2299"/>
            </a:avLst>
          </a:prstGeom>
          <a:solidFill>
            <a:srgbClr val="FFF4DE"/>
          </a:solidFill>
          <a:ln w="11430">
            <a:solidFill>
              <a:srgbClr val="F59E0B"/>
            </a:solidFill>
            <a:prstDash val="solid"/>
          </a:ln>
        </p:spPr>
        <p:txBody>
          <a:bodyPr/>
          <a:lstStyle/>
          <a:p>
            <a:endParaRPr lang="zh-CN" altLang="en-US"/>
          </a:p>
        </p:txBody>
      </p:sp>
      <p:sp>
        <p:nvSpPr>
          <p:cNvPr id="51" name="矩形 50"/>
          <p:cNvSpPr>
            <a:spLocks noGrp="1"/>
          </p:cNvSpPr>
          <p:nvPr/>
        </p:nvSpPr>
        <p:spPr>
          <a:xfrm>
            <a:off x="8172450" y="1790700"/>
            <a:ext cx="2819400"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650" b="1">
                <a:solidFill>
                  <a:srgbClr val="F59E0B"/>
                </a:solidFill>
                <a:latin typeface="Aptos"/>
                <a:ea typeface="Aptos"/>
                <a:cs typeface="Aptos"/>
              </a:defRPr>
            </a:pPr>
            <a:r>
              <a:rPr sz="1650" b="1">
                <a:solidFill>
                  <a:srgbClr val="F59E0B"/>
                </a:solidFill>
                <a:latin typeface="Aptos"/>
                <a:ea typeface="Aptos"/>
                <a:cs typeface="Aptos"/>
              </a:rPr>
              <a:t>Three rules today</a:t>
            </a:r>
          </a:p>
        </p:txBody>
      </p:sp>
      <p:sp>
        <p:nvSpPr>
          <p:cNvPr id="52" name="圆角矩形 51"/>
          <p:cNvSpPr>
            <a:spLocks noGrp="1"/>
          </p:cNvSpPr>
          <p:nvPr/>
        </p:nvSpPr>
        <p:spPr>
          <a:xfrm>
            <a:off x="8172450" y="2400300"/>
            <a:ext cx="323850" cy="323850"/>
          </a:xfrm>
          <a:prstGeom prst="roundRect">
            <a:avLst>
              <a:gd name="adj" fmla="val 23529"/>
            </a:avLst>
          </a:prstGeom>
          <a:solidFill>
            <a:srgbClr val="F59E0B"/>
          </a:solidFill>
          <a:ln w="10478">
            <a:solidFill>
              <a:srgbClr val="F59E0B"/>
            </a:solidFill>
            <a:prstDash val="solid"/>
          </a:ln>
        </p:spPr>
        <p:txBody>
          <a:bodyPr lIns="0" tIns="0" rIns="0" bIns="0" anchor="ctr">
            <a:normAutofit/>
          </a:bodyP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53" name="矩形 52"/>
          <p:cNvSpPr>
            <a:spLocks noGrp="1"/>
          </p:cNvSpPr>
          <p:nvPr/>
        </p:nvSpPr>
        <p:spPr>
          <a:xfrm>
            <a:off x="8648700" y="2381250"/>
            <a:ext cx="22098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1">
                <a:solidFill>
                  <a:srgbClr val="123F6D"/>
                </a:solidFill>
                <a:latin typeface="Aptos"/>
                <a:ea typeface="Aptos"/>
                <a:cs typeface="Aptos"/>
              </a:defRPr>
            </a:pPr>
            <a:r>
              <a:rPr sz="1350" b="1">
                <a:solidFill>
                  <a:srgbClr val="123F6D"/>
                </a:solidFill>
                <a:latin typeface="Aptos"/>
                <a:ea typeface="Aptos"/>
                <a:cs typeface="Aptos"/>
              </a:rPr>
              <a:t>Keep the same chat_id</a:t>
            </a:r>
          </a:p>
        </p:txBody>
      </p:sp>
      <p:sp>
        <p:nvSpPr>
          <p:cNvPr id="54" name="圆角矩形 53"/>
          <p:cNvSpPr>
            <a:spLocks noGrp="1"/>
          </p:cNvSpPr>
          <p:nvPr/>
        </p:nvSpPr>
        <p:spPr>
          <a:xfrm>
            <a:off x="8172450" y="3105150"/>
            <a:ext cx="323850" cy="323850"/>
          </a:xfrm>
          <a:prstGeom prst="roundRect">
            <a:avLst>
              <a:gd name="adj" fmla="val 23529"/>
            </a:avLst>
          </a:prstGeom>
          <a:solidFill>
            <a:srgbClr val="F59E0B"/>
          </a:solidFill>
          <a:ln w="10478">
            <a:solidFill>
              <a:srgbClr val="F59E0B"/>
            </a:solidFill>
            <a:prstDash val="solid"/>
          </a:ln>
        </p:spPr>
        <p:txBody>
          <a:bodyPr lIns="0" tIns="0" rIns="0" bIns="0" anchor="ctr">
            <a:normAutofit/>
          </a:bodyP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55" name="矩形 54"/>
          <p:cNvSpPr>
            <a:spLocks noGrp="1"/>
          </p:cNvSpPr>
          <p:nvPr/>
        </p:nvSpPr>
        <p:spPr>
          <a:xfrm>
            <a:off x="8648700" y="3009900"/>
            <a:ext cx="2209800" cy="5334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1">
                <a:solidFill>
                  <a:srgbClr val="123F6D"/>
                </a:solidFill>
                <a:latin typeface="Aptos"/>
                <a:ea typeface="Aptos"/>
                <a:cs typeface="Aptos"/>
              </a:defRPr>
            </a:pPr>
            <a:r>
              <a:rPr sz="1350" b="1">
                <a:solidFill>
                  <a:srgbClr val="123F6D"/>
                </a:solidFill>
                <a:latin typeface="Aptos"/>
                <a:ea typeface="Aptos"/>
                <a:cs typeface="Aptos"/>
              </a:rPr>
              <a:t>Advanced features stay read-only</a:t>
            </a:r>
          </a:p>
        </p:txBody>
      </p:sp>
      <p:sp>
        <p:nvSpPr>
          <p:cNvPr id="56" name="圆角矩形 55"/>
          <p:cNvSpPr>
            <a:spLocks noGrp="1"/>
          </p:cNvSpPr>
          <p:nvPr/>
        </p:nvSpPr>
        <p:spPr>
          <a:xfrm>
            <a:off x="8172450" y="3905250"/>
            <a:ext cx="323850" cy="323850"/>
          </a:xfrm>
          <a:prstGeom prst="roundRect">
            <a:avLst>
              <a:gd name="adj" fmla="val 23529"/>
            </a:avLst>
          </a:prstGeom>
          <a:solidFill>
            <a:srgbClr val="F59E0B"/>
          </a:solidFill>
          <a:ln w="10478">
            <a:solidFill>
              <a:srgbClr val="F59E0B"/>
            </a:solidFill>
            <a:prstDash val="solid"/>
          </a:ln>
        </p:spPr>
        <p:txBody>
          <a:bodyPr lIns="0" tIns="0" rIns="0" bIns="0" anchor="ctr">
            <a:normAutofit/>
          </a:bodyP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57" name="矩形 56"/>
          <p:cNvSpPr>
            <a:spLocks noGrp="1"/>
          </p:cNvSpPr>
          <p:nvPr/>
        </p:nvSpPr>
        <p:spPr>
          <a:xfrm>
            <a:off x="8648700" y="3886200"/>
            <a:ext cx="2209800"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350" b="1">
                <a:solidFill>
                  <a:srgbClr val="123F6D"/>
                </a:solidFill>
                <a:latin typeface="Aptos"/>
                <a:ea typeface="Aptos"/>
                <a:cs typeface="Aptos"/>
              </a:defRPr>
            </a:pPr>
            <a:r>
              <a:rPr sz="1350" b="1">
                <a:solidFill>
                  <a:srgbClr val="123F6D"/>
                </a:solidFill>
                <a:latin typeface="Aptos"/>
                <a:ea typeface="Aptos"/>
                <a:cs typeface="Aptos"/>
              </a:rPr>
              <a:t>Work in your Day 2 fork</a:t>
            </a:r>
          </a:p>
        </p:txBody>
      </p:sp>
      <p:sp>
        <p:nvSpPr>
          <p:cNvPr id="58" name="圆角矩形 57"/>
          <p:cNvSpPr>
            <a:spLocks noGrp="1"/>
          </p:cNvSpPr>
          <p:nvPr/>
        </p:nvSpPr>
        <p:spPr>
          <a:xfrm>
            <a:off x="781050" y="521970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59" name="矩形 58"/>
          <p:cNvSpPr>
            <a:spLocks noGrp="1"/>
          </p:cNvSpPr>
          <p:nvPr/>
        </p:nvSpPr>
        <p:spPr>
          <a:xfrm>
            <a:off x="3124200" y="52482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60" name="圆角矩形 59"/>
          <p:cNvSpPr>
            <a:spLocks noGrp="1"/>
          </p:cNvSpPr>
          <p:nvPr/>
        </p:nvSpPr>
        <p:spPr>
          <a:xfrm>
            <a:off x="3429000" y="521970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61" name="矩形 60"/>
          <p:cNvSpPr>
            <a:spLocks noGrp="1"/>
          </p:cNvSpPr>
          <p:nvPr/>
        </p:nvSpPr>
        <p:spPr>
          <a:xfrm>
            <a:off x="5772150" y="52482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62" name="圆角矩形 61"/>
          <p:cNvSpPr>
            <a:spLocks noGrp="1"/>
          </p:cNvSpPr>
          <p:nvPr/>
        </p:nvSpPr>
        <p:spPr>
          <a:xfrm>
            <a:off x="6076950" y="5219700"/>
            <a:ext cx="2305050" cy="361950"/>
          </a:xfrm>
          <a:prstGeom prst="roundRect">
            <a:avLst>
              <a:gd name="adj" fmla="val 21053"/>
            </a:avLst>
          </a:prstGeom>
          <a:solidFill>
            <a:srgbClr val="7557C8"/>
          </a:solidFill>
          <a:ln w="10478">
            <a:solidFill>
              <a:srgbClr val="7557C8"/>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React state</a:t>
            </a:r>
          </a:p>
        </p:txBody>
      </p:sp>
      <p:sp>
        <p:nvSpPr>
          <p:cNvPr id="63" name="矩形 62"/>
          <p:cNvSpPr>
            <a:spLocks noGrp="1"/>
          </p:cNvSpPr>
          <p:nvPr/>
        </p:nvSpPr>
        <p:spPr>
          <a:xfrm>
            <a:off x="8420100" y="52482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64" name="圆角矩形 63"/>
          <p:cNvSpPr>
            <a:spLocks noGrp="1"/>
          </p:cNvSpPr>
          <p:nvPr/>
        </p:nvSpPr>
        <p:spPr>
          <a:xfrm>
            <a:off x="8724900" y="5219700"/>
            <a:ext cx="2305050" cy="361950"/>
          </a:xfrm>
          <a:prstGeom prst="roundRect">
            <a:avLst>
              <a:gd name="adj" fmla="val 21053"/>
            </a:avLst>
          </a:prstGeom>
          <a:solidFill>
            <a:srgbClr val="3A8B61"/>
          </a:solidFill>
          <a:ln w="10478">
            <a:solidFill>
              <a:srgbClr val="3A8B61"/>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B74"/>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003B74"/>
          </a:solidFill>
          <a:ln w="9525">
            <a:solidFill>
              <a:srgbClr val="003B74"/>
            </a:solidFill>
            <a:prstDash val="solid"/>
          </a:ln>
        </p:spPr>
        <p:txBody>
          <a:bodyPr/>
          <a:lstStyle/>
          <a:p>
            <a:endParaRPr/>
          </a:p>
        </p:txBody>
      </p:sp>
      <p:sp>
        <p:nvSpPr>
          <p:cNvPr id="2" name="矩形 1"/>
          <p:cNvSpPr>
            <a:spLocks noGrp="1"/>
          </p:cNvSpPr>
          <p:nvPr/>
        </p:nvSpPr>
        <p:spPr>
          <a:xfrm>
            <a:off x="0" y="2571750"/>
            <a:ext cx="190500" cy="1143000"/>
          </a:xfrm>
          <a:prstGeom prst="rect">
            <a:avLst/>
          </a:prstGeom>
          <a:solidFill>
            <a:srgbClr val="00467F"/>
          </a:solidFill>
          <a:ln w="9525">
            <a:solidFill>
              <a:srgbClr val="00467F"/>
            </a:solidFill>
            <a:prstDash val="solid"/>
          </a:ln>
        </p:spPr>
        <p:txBody>
          <a:bodyPr/>
          <a:lstStyle/>
          <a:p>
            <a:endParaRPr/>
          </a:p>
        </p:txBody>
      </p:sp>
      <p:sp>
        <p:nvSpPr>
          <p:cNvPr id="3" name="矩形 2"/>
          <p:cNvSpPr>
            <a:spLocks noGrp="1"/>
          </p:cNvSpPr>
          <p:nvPr/>
        </p:nvSpPr>
        <p:spPr>
          <a:xfrm>
            <a:off x="781050" y="220980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D8E6EF"/>
                </a:solidFill>
                <a:latin typeface="Lato"/>
                <a:ea typeface="Lato"/>
                <a:cs typeface="Lato"/>
              </a:defRPr>
            </a:pPr>
            <a:r>
              <a:rPr sz="975" b="1">
                <a:solidFill>
                  <a:srgbClr val="D8E6EF"/>
                </a:solidFill>
                <a:latin typeface="Lato"/>
                <a:ea typeface="Lato"/>
                <a:cs typeface="Lato"/>
              </a:rPr>
              <a:t>UNDERSTAND THE BACKEND FIRST</a:t>
            </a:r>
          </a:p>
        </p:txBody>
      </p:sp>
      <p:sp>
        <p:nvSpPr>
          <p:cNvPr id="4" name="矩形 3"/>
          <p:cNvSpPr>
            <a:spLocks noGrp="1"/>
          </p:cNvSpPr>
          <p:nvPr/>
        </p:nvSpPr>
        <p:spPr>
          <a:xfrm>
            <a:off x="781050" y="2647950"/>
            <a:ext cx="9982200" cy="1066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300" b="1">
                <a:solidFill>
                  <a:srgbClr val="FFFFFF"/>
                </a:solidFill>
                <a:latin typeface="Lato"/>
                <a:ea typeface="Lato"/>
                <a:cs typeface="Lato"/>
              </a:defRPr>
            </a:pPr>
            <a:r>
              <a:rPr sz="3300" b="1">
                <a:solidFill>
                  <a:srgbClr val="FFFFFF"/>
                </a:solidFill>
                <a:latin typeface="Lato"/>
                <a:ea typeface="Lato"/>
                <a:cs typeface="Lato"/>
              </a:rPr>
              <a:t>Core concept 1 | FastAPI backend foundation</a:t>
            </a:r>
          </a:p>
        </p:txBody>
      </p:sp>
      <p:sp>
        <p:nvSpPr>
          <p:cNvPr id="5" name="矩形 4"/>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D8E6EF"/>
                </a:solidFill>
                <a:latin typeface="Lato"/>
                <a:ea typeface="Lato"/>
                <a:cs typeface="Lato"/>
              </a:defRPr>
            </a:pPr>
            <a:r>
              <a:rPr sz="825" b="1">
                <a:solidFill>
                  <a:srgbClr val="D8E6EF"/>
                </a:solidFill>
                <a:latin typeface="Lato"/>
                <a:ea typeface="Lato"/>
                <a:cs typeface="Lato"/>
              </a:rPr>
              <a:t>TEACHER CORE · 12–14 MIN</a:t>
            </a:r>
          </a:p>
        </p:txBody>
      </p:sp>
      <p:sp>
        <p:nvSpPr>
          <p:cNvPr id="6" name="矩形 5"/>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9658350" y="647700"/>
            <a:ext cx="400050" cy="28575"/>
          </a:xfrm>
          <a:prstGeom prst="rect">
            <a:avLst/>
          </a:prstGeom>
          <a:solidFill>
            <a:srgbClr val="7FA0B9"/>
          </a:solidFill>
          <a:ln w="9525">
            <a:solidFill>
              <a:srgbClr val="7FA0B9"/>
            </a:solidFill>
            <a:prstDash val="solid"/>
          </a:ln>
        </p:spPr>
        <p:txBody>
          <a:bodyPr/>
          <a:lstStyle/>
          <a:p>
            <a:endParaRPr/>
          </a:p>
        </p:txBody>
      </p:sp>
      <p:sp>
        <p:nvSpPr>
          <p:cNvPr id="9" name="矩形 8"/>
          <p:cNvSpPr>
            <a:spLocks noGrp="1"/>
          </p:cNvSpPr>
          <p:nvPr/>
        </p:nvSpPr>
        <p:spPr>
          <a:xfrm>
            <a:off x="10153650" y="647700"/>
            <a:ext cx="400050" cy="28575"/>
          </a:xfrm>
          <a:prstGeom prst="rect">
            <a:avLst/>
          </a:prstGeom>
          <a:solidFill>
            <a:srgbClr val="7FA0B9"/>
          </a:solidFill>
          <a:ln w="9525">
            <a:solidFill>
              <a:srgbClr val="7FA0B9"/>
            </a:solidFill>
            <a:prstDash val="solid"/>
          </a:ln>
        </p:spPr>
        <p:txBody>
          <a:bodyPr/>
          <a:lstStyle/>
          <a:p>
            <a:endParaRPr/>
          </a:p>
        </p:txBody>
      </p:sp>
      <p:sp>
        <p:nvSpPr>
          <p:cNvPr id="10" name="矩形 9"/>
          <p:cNvSpPr>
            <a:spLocks noGrp="1"/>
          </p:cNvSpPr>
          <p:nvPr/>
        </p:nvSpPr>
        <p:spPr>
          <a:xfrm>
            <a:off x="10648950" y="647700"/>
            <a:ext cx="400050" cy="28575"/>
          </a:xfrm>
          <a:prstGeom prst="rect">
            <a:avLst/>
          </a:prstGeom>
          <a:solidFill>
            <a:srgbClr val="7FA0B9"/>
          </a:solidFill>
          <a:ln w="9525">
            <a:solidFill>
              <a:srgbClr val="7FA0B9"/>
            </a:solidFill>
            <a:prstDash val="solid"/>
          </a:ln>
        </p:spPr>
        <p:txBody>
          <a:bodyPr/>
          <a:lstStyle/>
          <a:p>
            <a:endParaRP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7</a:t>
            </a:r>
          </a:p>
        </p:txBody>
      </p:sp>
      <p:sp>
        <p:nvSpPr>
          <p:cNvPr id="15" name="矩形 14"/>
          <p:cNvSpPr>
            <a:spLocks noGrp="1"/>
          </p:cNvSpPr>
          <p:nvPr/>
        </p:nvSpPr>
        <p:spPr>
          <a:xfrm>
            <a:off x="781050" y="1600200"/>
            <a:ext cx="24765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D6E6F3"/>
                </a:solidFill>
                <a:latin typeface="Lato"/>
                <a:ea typeface="Lato"/>
                <a:cs typeface="Lato"/>
              </a:defRPr>
            </a:pPr>
            <a:r>
              <a:rPr sz="1200" b="1">
                <a:solidFill>
                  <a:srgbClr val="D6E6F3"/>
                </a:solidFill>
                <a:latin typeface="Lato"/>
                <a:ea typeface="Lato"/>
                <a:cs typeface="Lato"/>
              </a:rPr>
              <a:t>SECTION 01</a:t>
            </a:r>
          </a:p>
        </p:txBody>
      </p:sp>
      <p:sp>
        <p:nvSpPr>
          <p:cNvPr id="16" name="矩形 15"/>
          <p:cNvSpPr>
            <a:spLocks noGrp="1"/>
          </p:cNvSpPr>
          <p:nvPr/>
        </p:nvSpPr>
        <p:spPr>
          <a:xfrm>
            <a:off x="781050" y="3905250"/>
            <a:ext cx="9296400" cy="4762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650" b="0">
                <a:solidFill>
                  <a:srgbClr val="E1EBF2"/>
                </a:solidFill>
                <a:latin typeface="Lato"/>
                <a:ea typeface="Lato"/>
                <a:cs typeface="Lato"/>
              </a:defRPr>
            </a:pPr>
            <a:r>
              <a:rPr sz="1650" b="0">
                <a:solidFill>
                  <a:srgbClr val="E1EBF2"/>
                </a:solidFill>
                <a:latin typeface="Lato"/>
                <a:ea typeface="Lato"/>
                <a:cs typeface="Lato"/>
              </a:rPr>
              <a:t>Before the web page appears, see clearly how a request reaches the backend and returns with a result.</a:t>
            </a:r>
          </a:p>
        </p:txBody>
      </p:sp>
      <p:sp>
        <p:nvSpPr>
          <p:cNvPr id="17" name="圆角矩形 16"/>
          <p:cNvSpPr>
            <a:spLocks noGrp="1"/>
          </p:cNvSpPr>
          <p:nvPr/>
        </p:nvSpPr>
        <p:spPr>
          <a:xfrm>
            <a:off x="7810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18" name="矩形 17"/>
          <p:cNvSpPr>
            <a:spLocks noGrp="1"/>
          </p:cNvSpPr>
          <p:nvPr/>
        </p:nvSpPr>
        <p:spPr>
          <a:xfrm>
            <a:off x="9525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WHY</a:t>
            </a:r>
          </a:p>
        </p:txBody>
      </p:sp>
      <p:sp>
        <p:nvSpPr>
          <p:cNvPr id="19" name="矩形 18"/>
          <p:cNvSpPr>
            <a:spLocks noGrp="1"/>
          </p:cNvSpPr>
          <p:nvPr/>
        </p:nvSpPr>
        <p:spPr>
          <a:xfrm>
            <a:off x="9525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Reduce the number of variables first so debugging has a clear direction.</a:t>
            </a:r>
          </a:p>
        </p:txBody>
      </p:sp>
      <p:sp>
        <p:nvSpPr>
          <p:cNvPr id="20" name="圆角矩形 19"/>
          <p:cNvSpPr>
            <a:spLocks noGrp="1"/>
          </p:cNvSpPr>
          <p:nvPr/>
        </p:nvSpPr>
        <p:spPr>
          <a:xfrm>
            <a:off x="426720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1" name="矩形 20"/>
          <p:cNvSpPr>
            <a:spLocks noGrp="1"/>
          </p:cNvSpPr>
          <p:nvPr/>
        </p:nvSpPr>
        <p:spPr>
          <a:xfrm>
            <a:off x="443865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WHAT TO LEARN</a:t>
            </a:r>
          </a:p>
        </p:txBody>
      </p:sp>
      <p:sp>
        <p:nvSpPr>
          <p:cNvPr id="22" name="矩形 21"/>
          <p:cNvSpPr>
            <a:spLocks noGrp="1"/>
          </p:cNvSpPr>
          <p:nvPr/>
        </p:nvSpPr>
        <p:spPr>
          <a:xfrm>
            <a:off x="443865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Requests, routes, responses, and the smallest useful result.</a:t>
            </a:r>
          </a:p>
        </p:txBody>
      </p:sp>
      <p:sp>
        <p:nvSpPr>
          <p:cNvPr id="23" name="圆角矩形 22"/>
          <p:cNvSpPr>
            <a:spLocks noGrp="1"/>
          </p:cNvSpPr>
          <p:nvPr/>
        </p:nvSpPr>
        <p:spPr>
          <a:xfrm>
            <a:off x="77533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4" name="矩形 23"/>
          <p:cNvSpPr>
            <a:spLocks noGrp="1"/>
          </p:cNvSpPr>
          <p:nvPr/>
        </p:nvSpPr>
        <p:spPr>
          <a:xfrm>
            <a:off x="79248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PASS CRITERIA</a:t>
            </a:r>
          </a:p>
        </p:txBody>
      </p:sp>
      <p:sp>
        <p:nvSpPr>
          <p:cNvPr id="25" name="矩形 24"/>
          <p:cNvSpPr>
            <a:spLocks noGrp="1"/>
          </p:cNvSpPr>
          <p:nvPr/>
        </p:nvSpPr>
        <p:spPr>
          <a:xfrm>
            <a:off x="79248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Draw the complete request–response round trip.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REPO ORIENTATION</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First, find today's minimal starting point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8</a:t>
            </a:r>
          </a:p>
        </p:txBody>
      </p:sp>
      <p:sp>
        <p:nvSpPr>
          <p:cNvPr id="14" name="圆角矩形 13"/>
          <p:cNvSpPr>
            <a:spLocks noGrp="1"/>
          </p:cNvSpPr>
          <p:nvPr/>
        </p:nvSpPr>
        <p:spPr>
          <a:xfrm>
            <a:off x="685800" y="1409700"/>
            <a:ext cx="5715000" cy="3524250"/>
          </a:xfrm>
          <a:prstGeom prst="roundRect">
            <a:avLst>
              <a:gd name="adj" fmla="val 216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372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ACTUAL CLASSROOM REPO · FORK/CLONE THIS · NO APP CODE YET</a:t>
            </a:r>
          </a:p>
        </p:txBody>
      </p:sp>
      <p:sp>
        <p:nvSpPr>
          <p:cNvPr id="16" name="矩形 15"/>
          <p:cNvSpPr>
            <a:spLocks noGrp="1"/>
          </p:cNvSpPr>
          <p:nvPr/>
        </p:nvSpPr>
        <p:spPr>
          <a:xfrm>
            <a:off x="857250" y="1809750"/>
            <a:ext cx="5372100" cy="3009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smartLearn-AI/</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.env.example</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.gitignore</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CLAUDE.md</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test_files/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text PDFs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scanned PDF</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non-PDF files</a:t>
            </a:r>
            <a:endParaRPr sz="1200" b="0">
              <a:solidFill>
                <a:srgbClr val="A7E3A1"/>
              </a:solidFill>
              <a:latin typeface="Monaco"/>
              <a:ea typeface="Monaco"/>
              <a:cs typeface="Monaco"/>
            </a:endParaRPr>
          </a:p>
        </p:txBody>
      </p:sp>
      <p:sp>
        <p:nvSpPr>
          <p:cNvPr id="17" name="圆角矩形 16"/>
          <p:cNvSpPr>
            <a:spLocks noGrp="1"/>
          </p:cNvSpPr>
          <p:nvPr/>
        </p:nvSpPr>
        <p:spPr>
          <a:xfrm>
            <a:off x="6743700" y="1409700"/>
            <a:ext cx="4324350" cy="1104900"/>
          </a:xfrm>
          <a:prstGeom prst="roundRect">
            <a:avLst>
              <a:gd name="adj" fmla="val 6897"/>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6953250" y="1571625"/>
            <a:ext cx="3905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WHAT SHOULD WE READ FIRST TODAY?</a:t>
            </a:r>
          </a:p>
        </p:txBody>
      </p:sp>
      <p:sp>
        <p:nvSpPr>
          <p:cNvPr id="19" name="矩形 18"/>
          <p:cNvSpPr>
            <a:spLocks noGrp="1"/>
          </p:cNvSpPr>
          <p:nvPr/>
        </p:nvSpPr>
        <p:spPr>
          <a:xfrm>
            <a:off x="6953250" y="1962150"/>
            <a:ext cx="390525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CLAUDE.md, .env.example, .gitignore, and test_files/. There is no app code yet.</a:t>
            </a:r>
          </a:p>
        </p:txBody>
      </p:sp>
      <p:sp>
        <p:nvSpPr>
          <p:cNvPr id="20" name="圆角矩形 19"/>
          <p:cNvSpPr>
            <a:spLocks noGrp="1"/>
          </p:cNvSpPr>
          <p:nvPr/>
        </p:nvSpPr>
        <p:spPr>
          <a:xfrm>
            <a:off x="6743700" y="2724150"/>
            <a:ext cx="4324350" cy="1104900"/>
          </a:xfrm>
          <a:prstGeom prst="roundRect">
            <a:avLst>
              <a:gd name="adj" fmla="val 6897"/>
            </a:avLst>
          </a:prstGeom>
          <a:solidFill>
            <a:srgbClr val="FFF1EE"/>
          </a:solidFill>
          <a:ln w="9525">
            <a:solidFill>
              <a:srgbClr val="C85A4E"/>
            </a:solidFill>
            <a:prstDash val="solid"/>
          </a:ln>
        </p:spPr>
        <p:txBody>
          <a:bodyPr/>
          <a:lstStyle/>
          <a:p>
            <a:endParaRPr/>
          </a:p>
        </p:txBody>
      </p:sp>
      <p:sp>
        <p:nvSpPr>
          <p:cNvPr id="21" name="矩形 20"/>
          <p:cNvSpPr>
            <a:spLocks noGrp="1"/>
          </p:cNvSpPr>
          <p:nvPr/>
        </p:nvSpPr>
        <p:spPr>
          <a:xfrm>
            <a:off x="6953250" y="2886075"/>
            <a:ext cx="3905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WHAT WILL WE NOT COPY TODAY?</a:t>
            </a:r>
          </a:p>
        </p:txBody>
      </p:sp>
      <p:sp>
        <p:nvSpPr>
          <p:cNvPr id="22" name="矩形 21"/>
          <p:cNvSpPr>
            <a:spLocks noGrp="1"/>
          </p:cNvSpPr>
          <p:nvPr/>
        </p:nvSpPr>
        <p:spPr>
          <a:xfrm>
            <a:off x="6953250" y="3276600"/>
            <a:ext cx="390525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Production Auth, SSE, RAG, Redis, and database code. Treat the full project as read-only reference.</a:t>
            </a:r>
          </a:p>
        </p:txBody>
      </p:sp>
      <p:sp>
        <p:nvSpPr>
          <p:cNvPr id="23" name="圆角矩形 22"/>
          <p:cNvSpPr>
            <a:spLocks noGrp="1"/>
          </p:cNvSpPr>
          <p:nvPr/>
        </p:nvSpPr>
        <p:spPr>
          <a:xfrm>
            <a:off x="6743700" y="4038600"/>
            <a:ext cx="4324350" cy="895350"/>
          </a:xfrm>
          <a:prstGeom prst="roundRect">
            <a:avLst>
              <a:gd name="adj" fmla="val 8511"/>
            </a:avLst>
          </a:prstGeom>
          <a:solidFill>
            <a:srgbClr val="FFF8E6"/>
          </a:solidFill>
          <a:ln w="9525">
            <a:solidFill>
              <a:srgbClr val="D4A72C"/>
            </a:solidFill>
            <a:prstDash val="solid"/>
          </a:ln>
        </p:spPr>
        <p:txBody>
          <a:bodyPr/>
          <a:lstStyle/>
          <a:p>
            <a:endParaRPr/>
          </a:p>
        </p:txBody>
      </p:sp>
      <p:sp>
        <p:nvSpPr>
          <p:cNvPr id="24" name="矩形 23"/>
          <p:cNvSpPr>
            <a:spLocks noGrp="1"/>
          </p:cNvSpPr>
          <p:nvPr/>
        </p:nvSpPr>
        <p:spPr>
          <a:xfrm>
            <a:off x="6953250" y="4200525"/>
            <a:ext cx="3905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ACTUAL STARTING POINT IN LAB A</a:t>
            </a:r>
          </a:p>
        </p:txBody>
      </p:sp>
      <p:sp>
        <p:nvSpPr>
          <p:cNvPr id="25" name="矩形 24"/>
          <p:cNvSpPr>
            <a:spLocks noGrp="1"/>
          </p:cNvSpPr>
          <p:nvPr/>
        </p:nvSpPr>
        <p:spPr>
          <a:xfrm>
            <a:off x="6953250" y="4591050"/>
            <a:ext cx="390525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5661"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github.com/yangzhr1/smartLearn-AI-Day2 has guardrails and test files; app code starts empty.</a:t>
            </a:r>
          </a:p>
        </p:txBody>
      </p:sp>
      <p:sp>
        <p:nvSpPr>
          <p:cNvPr id="26" name="圆角矩形 25"/>
          <p:cNvSpPr>
            <a:spLocks noGrp="1"/>
          </p:cNvSpPr>
          <p:nvPr/>
        </p:nvSpPr>
        <p:spPr>
          <a:xfrm>
            <a:off x="704850" y="51816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2959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2768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Fork and clone the classroom repository</a:t>
            </a:r>
          </a:p>
        </p:txBody>
      </p:sp>
      <p:sp>
        <p:nvSpPr>
          <p:cNvPr id="29" name="圆角矩形 28"/>
          <p:cNvSpPr>
            <a:spLocks noGrp="1"/>
          </p:cNvSpPr>
          <p:nvPr/>
        </p:nvSpPr>
        <p:spPr>
          <a:xfrm>
            <a:off x="4381500" y="51816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2959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2768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Explain why app code starts empty</a:t>
            </a:r>
          </a:p>
        </p:txBody>
      </p:sp>
      <p:sp>
        <p:nvSpPr>
          <p:cNvPr id="32" name="圆角矩形 31"/>
          <p:cNvSpPr>
            <a:spLocks noGrp="1"/>
          </p:cNvSpPr>
          <p:nvPr/>
        </p:nvSpPr>
        <p:spPr>
          <a:xfrm>
            <a:off x="8058150" y="51816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2959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2768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Cannot find it → verify the GitHub remote and current branch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矩形 23"/>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PREPARE THE BACKEND TOOLS</a:t>
            </a:r>
          </a:p>
        </p:txBody>
      </p:sp>
      <p:sp>
        <p:nvSpPr>
          <p:cNvPr id="3" name="矩形 2"/>
          <p:cNvSpPr>
            <a:spLocks noGrp="1"/>
          </p:cNvSpPr>
          <p:nvPr/>
        </p:nvSpPr>
        <p:spPr>
          <a:xfrm>
            <a:off x="781050" y="781050"/>
            <a:ext cx="10991850" cy="533400"/>
          </a:xfrm>
          <a:prstGeom prst="rect">
            <a:avLst/>
          </a:prstGeom>
          <a:solidFill>
            <a:srgbClr val="FFFFFF">
              <a:alpha val="0"/>
            </a:srgbClr>
          </a:solidFill>
          <a:ln w="0">
            <a:solidFill>
              <a:srgbClr val="000000">
                <a:alpha val="0"/>
              </a:srgbClr>
            </a:solidFill>
            <a:prstDash val="solid"/>
          </a:ln>
        </p:spPr>
        <p:txBody>
          <a:bodyPr lIns="0" tIns="0" rIns="0" bIns="0" anchor="t">
            <a:normAutofit fontScale="70000"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Fork the minimal repo, protect the key, branch, then create the backend from zero</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9</a:t>
            </a:r>
          </a:p>
        </p:txBody>
      </p:sp>
      <p:sp>
        <p:nvSpPr>
          <p:cNvPr id="14" name="圆角矩形 13"/>
          <p:cNvSpPr>
            <a:spLocks noGrp="1"/>
          </p:cNvSpPr>
          <p:nvPr/>
        </p:nvSpPr>
        <p:spPr>
          <a:xfrm>
            <a:off x="685800" y="1409700"/>
            <a:ext cx="5429250" cy="3543300"/>
          </a:xfrm>
          <a:prstGeom prst="roundRect">
            <a:avLst>
              <a:gd name="adj" fmla="val 2151"/>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0863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FORK/CLONE FIRST · THEN CREATE A BOUNDED SKELETON</a:t>
            </a:r>
          </a:p>
        </p:txBody>
      </p:sp>
      <p:sp>
        <p:nvSpPr>
          <p:cNvPr id="16" name="矩形 15"/>
          <p:cNvSpPr>
            <a:spLocks noGrp="1"/>
          </p:cNvSpPr>
          <p:nvPr/>
        </p:nvSpPr>
        <p:spPr>
          <a:xfrm>
            <a:off x="857250" y="1809750"/>
            <a:ext cx="5086350" cy="3028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git clone https://github.com/&lt;you&gt;/smartLearn-AI.git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cd smartLearn-AI</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git switch -c feature/day2-lite</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cp .env.example .env</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Put OPENROUTER_API_KEY only in .env</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mkdir -p smartlearn-backend/services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touch smartlearn-backend/main.py</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touch smartlearn-backend/requirements.txt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touch smartlearn-backend/services/__init__.py</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Add services/pdf.py later from Lab A</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Add services/llm.py later from Lab A</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Review each bounded diff before accepting</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Do not generate frontend code yet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Keep test_files/ unchanged</a:t>
            </a:r>
          </a:p>
        </p:txBody>
      </p:sp>
      <p:sp>
        <p:nvSpPr>
          <p:cNvPr id="17" name="圆角矩形 16"/>
          <p:cNvSpPr>
            <a:spLocks noGrp="1"/>
          </p:cNvSpPr>
          <p:nvPr/>
        </p:nvSpPr>
        <p:spPr>
          <a:xfrm>
            <a:off x="6457950" y="1409700"/>
            <a:ext cx="4572000" cy="2152650"/>
          </a:xfrm>
          <a:prstGeom prst="roundRect">
            <a:avLst>
              <a:gd name="adj" fmla="val 3540"/>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6629400" y="1543050"/>
            <a:ext cx="4229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FIRST STOP · PROVE THE SMALLEST /HEALTH APP</a:t>
            </a:r>
          </a:p>
        </p:txBody>
      </p:sp>
      <p:sp>
        <p:nvSpPr>
          <p:cNvPr id="19" name="矩形 18"/>
          <p:cNvSpPr>
            <a:spLocks noGrp="1"/>
          </p:cNvSpPr>
          <p:nvPr/>
        </p:nvSpPr>
        <p:spPr>
          <a:xfrm>
            <a:off x="6629400" y="1809750"/>
            <a:ext cx="4229100" cy="16383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python</a:t>
            </a:r>
            <a:r>
              <a:rPr sz="1050" b="0">
                <a:solidFill>
                  <a:srgbClr val="F1F6FA"/>
                </a:solidFill>
                <a:latin typeface="Monaco"/>
                <a:ea typeface="Monaco"/>
                <a:cs typeface="Monaco"/>
              </a:rPr>
              <a:t> -m pip install -r smartlearn-backend/requirements.txt</a:t>
            </a:r>
          </a:p>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a:t>
            </a:r>
            <a:r>
              <a:rPr sz="1050" b="0">
                <a:solidFill>
                  <a:srgbClr val="F1F6FA"/>
                </a:solidFill>
                <a:latin typeface="Monaco"/>
                <a:ea typeface="Monaco"/>
                <a:cs typeface="Monaco"/>
              </a:rPr>
              <a:t> Approve one bounded /health diff in main.py</a:t>
            </a:r>
          </a:p>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uvicorn</a:t>
            </a:r>
            <a:r>
              <a:rPr sz="1050" b="0">
                <a:solidFill>
                  <a:srgbClr val="F1F6FA"/>
                </a:solidFill>
                <a:latin typeface="Monaco"/>
                <a:ea typeface="Monaco"/>
                <a:cs typeface="Monaco"/>
              </a:rPr>
              <a:t> smartlearn-backend.main:app --reload</a:t>
            </a:r>
          </a:p>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a:t>
            </a:r>
            <a:r>
              <a:rPr sz="1050" b="0">
                <a:solidFill>
                  <a:srgbClr val="F1F6FA"/>
                </a:solidFill>
                <a:latin typeface="Monaco"/>
                <a:ea typeface="Monaco"/>
                <a:cs typeface="Monaco"/>
              </a:rPr>
              <a:t> Open http://127.0.0.1:8000/docs</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Check 200 {"ok": true} and inspect git diff</a:t>
            </a:r>
          </a:p>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a:t>
            </a:r>
            <a:r>
              <a:rPr sz="1050" b="0">
                <a:solidFill>
                  <a:srgbClr val="F1F6FA"/>
                </a:solidFill>
                <a:latin typeface="Monaco"/>
                <a:ea typeface="Monaco"/>
                <a:cs typeface="Monaco"/>
              </a:rPr>
              <a:t> Keep upload, chat, and frontend out of this diff</a:t>
            </a:r>
          </a:p>
          <a:p>
            <a:pPr algn="l">
              <a:buNone/>
              <a:defRPr sz="1050" b="0">
                <a:solidFill>
                  <a:srgbClr val="F1F6FA"/>
                </a:solidFill>
                <a:latin typeface="Monaco"/>
                <a:ea typeface="Monaco"/>
                <a:cs typeface="Monaco"/>
              </a:defRPr>
            </a:pPr>
            <a:r>
              <a:rPr sz="1050" b="0">
                <a:solidFill>
                  <a:srgbClr val="D5E0E8"/>
                </a:solidFill>
                <a:latin typeface="Monaco"/>
                <a:ea typeface="Monaco"/>
                <a:cs typeface="Monaco"/>
              </a:rPr>
              <a:t># Continue one bounded feature at a time</a:t>
            </a:r>
          </a:p>
          <a:p>
            <a:pPr algn="l">
              <a:buNone/>
              <a:defRPr sz="1050" b="0">
                <a:solidFill>
                  <a:srgbClr val="F1F6FA"/>
                </a:solidFill>
                <a:latin typeface="Monaco"/>
                <a:ea typeface="Monaco"/>
                <a:cs typeface="Monaco"/>
              </a:defRPr>
            </a:pPr>
            <a:r>
              <a:rPr sz="1050" b="0">
                <a:solidFill>
                  <a:srgbClr val="D5E0E8"/>
                </a:solidFill>
                <a:latin typeface="Monaco"/>
                <a:ea typeface="Monaco"/>
                <a:cs typeface="Monaco"/>
              </a:rPr>
              <a:t># Review git diff before the next feature</a:t>
            </a:r>
          </a:p>
        </p:txBody>
      </p:sp>
      <p:sp>
        <p:nvSpPr>
          <p:cNvPr id="20" name="圆角矩形 19"/>
          <p:cNvSpPr>
            <a:spLocks noGrp="1"/>
          </p:cNvSpPr>
          <p:nvPr/>
        </p:nvSpPr>
        <p:spPr>
          <a:xfrm>
            <a:off x="6457950" y="3790950"/>
            <a:ext cx="4572000" cy="1162050"/>
          </a:xfrm>
          <a:prstGeom prst="roundRect">
            <a:avLst>
              <a:gd name="adj" fmla="val 6557"/>
            </a:avLst>
          </a:prstGeom>
          <a:solidFill>
            <a:srgbClr val="EEF7EE"/>
          </a:solidFill>
          <a:ln w="9525">
            <a:solidFill>
              <a:srgbClr val="39825B"/>
            </a:solidFill>
            <a:prstDash val="solid"/>
          </a:ln>
        </p:spPr>
        <p:txBody>
          <a:bodyPr/>
          <a:lstStyle/>
          <a:p>
            <a:endParaRPr/>
          </a:p>
        </p:txBody>
      </p:sp>
      <p:sp>
        <p:nvSpPr>
          <p:cNvPr id="21" name="矩形 20"/>
          <p:cNvSpPr>
            <a:spLocks noGrp="1"/>
          </p:cNvSpPr>
          <p:nvPr/>
        </p:nvSpPr>
        <p:spPr>
          <a:xfrm>
            <a:off x="6667500" y="3952875"/>
            <a:ext cx="4152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WHY PROTECT THE KEY BEFORE CODING?</a:t>
            </a:r>
          </a:p>
        </p:txBody>
      </p:sp>
      <p:sp>
        <p:nvSpPr>
          <p:cNvPr id="22" name="矩形 21"/>
          <p:cNvSpPr>
            <a:spLocks noGrp="1"/>
          </p:cNvSpPr>
          <p:nvPr/>
        </p:nvSpPr>
        <p:spPr>
          <a:xfrm>
            <a:off x="6667500" y="4343400"/>
            <a:ext cx="4152900" cy="476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.env, node_modules, dist, and private PDFs must not be committed. The app never saves uploaded PDFs.</a:t>
            </a:r>
          </a:p>
        </p:txBody>
      </p:sp>
      <p:sp>
        <p:nvSpPr>
          <p:cNvPr id="23" name="矩形 22"/>
          <p:cNvSpPr>
            <a:spLocks noGrp="1"/>
          </p:cNvSpPr>
          <p:nvPr/>
        </p:nvSpPr>
        <p:spPr>
          <a:xfrm>
            <a:off x="742950" y="5238750"/>
            <a:ext cx="10096500" cy="2667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275" b="1">
                <a:solidFill>
                  <a:srgbClr val="1F5284"/>
                </a:solidFill>
                <a:latin typeface="Lato"/>
                <a:ea typeface="Lato"/>
                <a:cs typeface="Lato"/>
              </a:defRPr>
            </a:pPr>
            <a:r>
              <a:rPr sz="1275" b="1">
                <a:solidFill>
                  <a:srgbClr val="1F5284"/>
                </a:solidFill>
                <a:latin typeface="Lato"/>
                <a:ea typeface="Lato"/>
                <a:cs typeface="Lato"/>
              </a:rPr>
              <a:t>The starter gives constraints and tests, not an implementation. Build the smallest backend from zero, inspect each diff, and trust the first real error.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矩形 38"/>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CONTRACT DECISION</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One product direction, two levels of API complexity</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14–17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10</a:t>
            </a:r>
          </a:p>
        </p:txBody>
      </p:sp>
      <p:sp>
        <p:nvSpPr>
          <p:cNvPr id="14" name="矩形 13"/>
          <p:cNvSpPr>
            <a:spLocks noGrp="1"/>
          </p:cNvSpPr>
          <p:nvPr/>
        </p:nvSpPr>
        <p:spPr>
          <a:xfrm>
            <a:off x="781050" y="1428750"/>
            <a:ext cx="12382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1050" b="1">
                <a:solidFill>
                  <a:srgbClr val="FFFFFF"/>
                </a:solidFill>
                <a:latin typeface="Lato"/>
                <a:ea typeface="Lato"/>
                <a:cs typeface="Lato"/>
              </a:defRPr>
            </a:pPr>
            <a:r>
              <a:rPr sz="1050" b="1">
                <a:solidFill>
                  <a:srgbClr val="FFFFFF"/>
                </a:solidFill>
                <a:latin typeface="Lato"/>
                <a:ea typeface="Lato"/>
                <a:cs typeface="Lato"/>
              </a:rPr>
              <a:t>ACTION</a:t>
            </a:r>
          </a:p>
        </p:txBody>
      </p:sp>
      <p:sp>
        <p:nvSpPr>
          <p:cNvPr id="15" name="矩形 14"/>
          <p:cNvSpPr>
            <a:spLocks noGrp="1"/>
          </p:cNvSpPr>
          <p:nvPr/>
        </p:nvSpPr>
        <p:spPr>
          <a:xfrm>
            <a:off x="2209800" y="1428750"/>
            <a:ext cx="22288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1050" b="1">
                <a:solidFill>
                  <a:srgbClr val="FFFFFF"/>
                </a:solidFill>
                <a:latin typeface="Lato"/>
                <a:ea typeface="Lato"/>
                <a:cs typeface="Lato"/>
              </a:defRPr>
            </a:pPr>
            <a:r>
              <a:rPr sz="1050" b="1">
                <a:solidFill>
                  <a:srgbClr val="FFFFFF"/>
                </a:solidFill>
                <a:latin typeface="Lato"/>
                <a:ea typeface="Lato"/>
                <a:cs typeface="Lato"/>
              </a:rPr>
              <a:t>Day 2 Classroom Contract</a:t>
            </a:r>
          </a:p>
        </p:txBody>
      </p:sp>
      <p:sp>
        <p:nvSpPr>
          <p:cNvPr id="16" name="矩形 15"/>
          <p:cNvSpPr>
            <a:spLocks noGrp="1"/>
          </p:cNvSpPr>
          <p:nvPr/>
        </p:nvSpPr>
        <p:spPr>
          <a:xfrm>
            <a:off x="4629150" y="1428750"/>
            <a:ext cx="300990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1050" b="1">
                <a:solidFill>
                  <a:srgbClr val="FFFFFF"/>
                </a:solidFill>
                <a:latin typeface="Lato"/>
                <a:ea typeface="Lato"/>
                <a:cs typeface="Lato"/>
              </a:defRPr>
            </a:pPr>
            <a:r>
              <a:rPr sz="1050" b="1">
                <a:solidFill>
                  <a:srgbClr val="FFFFFF"/>
                </a:solidFill>
                <a:latin typeface="Lato"/>
                <a:ea typeface="Lato"/>
                <a:cs typeface="Lato"/>
              </a:rPr>
              <a:t>Full Project Reference @ 6d56a26</a:t>
            </a:r>
          </a:p>
        </p:txBody>
      </p:sp>
      <p:sp>
        <p:nvSpPr>
          <p:cNvPr id="17" name="矩形 16"/>
          <p:cNvSpPr>
            <a:spLocks noGrp="1"/>
          </p:cNvSpPr>
          <p:nvPr/>
        </p:nvSpPr>
        <p:spPr>
          <a:xfrm>
            <a:off x="7829550" y="1428750"/>
            <a:ext cx="32194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1050" b="1">
                <a:solidFill>
                  <a:srgbClr val="FFFFFF"/>
                </a:solidFill>
                <a:latin typeface="Lato"/>
                <a:ea typeface="Lato"/>
                <a:cs typeface="Lato"/>
              </a:defRPr>
            </a:pPr>
            <a:r>
              <a:rPr sz="1050" b="1">
                <a:solidFill>
                  <a:srgbClr val="FFFFFF"/>
                </a:solidFill>
                <a:latin typeface="Lato"/>
                <a:ea typeface="Lato"/>
                <a:cs typeface="Lato"/>
              </a:rPr>
              <a:t>HOW TO READ THE DIFFERENCE</a:t>
            </a:r>
          </a:p>
        </p:txBody>
      </p:sp>
      <p:sp>
        <p:nvSpPr>
          <p:cNvPr id="18" name="矩形 17"/>
          <p:cNvSpPr>
            <a:spLocks noGrp="1"/>
          </p:cNvSpPr>
          <p:nvPr/>
        </p:nvSpPr>
        <p:spPr>
          <a:xfrm>
            <a:off x="781050" y="1733550"/>
            <a:ext cx="10267950" cy="647700"/>
          </a:xfrm>
          <a:prstGeom prst="rect">
            <a:avLst/>
          </a:prstGeom>
          <a:solidFill>
            <a:srgbClr val="F1F6FA"/>
          </a:solidFill>
          <a:ln w="9525">
            <a:solidFill>
              <a:srgbClr val="A7B8C8"/>
            </a:solidFill>
            <a:prstDash val="solid"/>
          </a:ln>
        </p:spPr>
        <p:txBody>
          <a:bodyPr/>
          <a:lstStyle/>
          <a:p>
            <a:endParaRPr/>
          </a:p>
        </p:txBody>
      </p:sp>
      <p:sp>
        <p:nvSpPr>
          <p:cNvPr id="19" name="矩形 18"/>
          <p:cNvSpPr>
            <a:spLocks noGrp="1"/>
          </p:cNvSpPr>
          <p:nvPr/>
        </p:nvSpPr>
        <p:spPr>
          <a:xfrm>
            <a:off x="895350" y="1924050"/>
            <a:ext cx="11811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UPLOAD</a:t>
            </a:r>
          </a:p>
        </p:txBody>
      </p:sp>
      <p:sp>
        <p:nvSpPr>
          <p:cNvPr id="20" name="矩形 19"/>
          <p:cNvSpPr>
            <a:spLocks noGrp="1"/>
          </p:cNvSpPr>
          <p:nvPr/>
        </p:nvSpPr>
        <p:spPr>
          <a:xfrm>
            <a:off x="2305050" y="1924050"/>
            <a:ext cx="2095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Monaco"/>
                <a:ea typeface="Monaco"/>
                <a:cs typeface="Monaco"/>
              </a:defRPr>
            </a:pPr>
            <a:r>
              <a:rPr sz="1200" b="1">
                <a:solidFill>
                  <a:srgbClr val="1F5284"/>
                </a:solidFill>
                <a:latin typeface="Monaco"/>
                <a:ea typeface="Monaco"/>
                <a:cs typeface="Monaco"/>
              </a:rPr>
              <a:t>POST /upload?chat_id</a:t>
            </a:r>
          </a:p>
        </p:txBody>
      </p:sp>
      <p:sp>
        <p:nvSpPr>
          <p:cNvPr id="21" name="矩形 20"/>
          <p:cNvSpPr>
            <a:spLocks noGrp="1"/>
          </p:cNvSpPr>
          <p:nvPr/>
        </p:nvSpPr>
        <p:spPr>
          <a:xfrm>
            <a:off x="4629150" y="1924050"/>
            <a:ext cx="276225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Monaco"/>
                <a:ea typeface="Monaco"/>
                <a:cs typeface="Monaco"/>
              </a:defRPr>
            </a:pPr>
            <a:r>
              <a:rPr sz="1200" b="0">
                <a:solidFill>
                  <a:srgbClr val="163F68"/>
                </a:solidFill>
                <a:latin typeface="Monaco"/>
                <a:ea typeface="Monaco"/>
                <a:cs typeface="Monaco"/>
              </a:rPr>
              <a:t>POST /upload</a:t>
            </a:r>
          </a:p>
        </p:txBody>
      </p:sp>
      <p:sp>
        <p:nvSpPr>
          <p:cNvPr id="22" name="矩形 21"/>
          <p:cNvSpPr>
            <a:spLocks noGrp="1"/>
          </p:cNvSpPr>
          <p:nvPr/>
        </p:nvSpPr>
        <p:spPr>
          <a:xfrm>
            <a:off x="7829550" y="1847850"/>
            <a:ext cx="297180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Classroom stores pages in memory; the full product persists state</a:t>
            </a:r>
          </a:p>
        </p:txBody>
      </p:sp>
      <p:sp>
        <p:nvSpPr>
          <p:cNvPr id="23" name="矩形 22"/>
          <p:cNvSpPr>
            <a:spLocks noGrp="1"/>
          </p:cNvSpPr>
          <p:nvPr/>
        </p:nvSpPr>
        <p:spPr>
          <a:xfrm>
            <a:off x="781050" y="2476500"/>
            <a:ext cx="10267950" cy="647700"/>
          </a:xfrm>
          <a:prstGeom prst="rect">
            <a:avLst/>
          </a:prstGeom>
          <a:solidFill>
            <a:srgbClr val="FFFFFF"/>
          </a:solidFill>
          <a:ln w="9525">
            <a:solidFill>
              <a:srgbClr val="A7B8C8"/>
            </a:solidFill>
            <a:prstDash val="solid"/>
          </a:ln>
        </p:spPr>
        <p:txBody>
          <a:bodyPr/>
          <a:lstStyle/>
          <a:p>
            <a:endParaRPr/>
          </a:p>
        </p:txBody>
      </p:sp>
      <p:sp>
        <p:nvSpPr>
          <p:cNvPr id="24" name="矩形 23"/>
          <p:cNvSpPr>
            <a:spLocks noGrp="1"/>
          </p:cNvSpPr>
          <p:nvPr/>
        </p:nvSpPr>
        <p:spPr>
          <a:xfrm>
            <a:off x="895350" y="2667000"/>
            <a:ext cx="11811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CHAT</a:t>
            </a:r>
          </a:p>
        </p:txBody>
      </p:sp>
      <p:sp>
        <p:nvSpPr>
          <p:cNvPr id="25" name="矩形 24"/>
          <p:cNvSpPr>
            <a:spLocks noGrp="1"/>
          </p:cNvSpPr>
          <p:nvPr/>
        </p:nvSpPr>
        <p:spPr>
          <a:xfrm>
            <a:off x="2305050" y="2667000"/>
            <a:ext cx="2095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Monaco"/>
                <a:ea typeface="Monaco"/>
                <a:cs typeface="Monaco"/>
              </a:defRPr>
            </a:pPr>
            <a:r>
              <a:rPr sz="1200" b="1">
                <a:solidFill>
                  <a:srgbClr val="1F5284"/>
                </a:solidFill>
                <a:latin typeface="Monaco"/>
                <a:ea typeface="Monaco"/>
                <a:cs typeface="Monaco"/>
              </a:rPr>
              <a:t>POST /chat</a:t>
            </a:r>
          </a:p>
        </p:txBody>
      </p:sp>
      <p:sp>
        <p:nvSpPr>
          <p:cNvPr id="26" name="矩形 25"/>
          <p:cNvSpPr>
            <a:spLocks noGrp="1"/>
          </p:cNvSpPr>
          <p:nvPr/>
        </p:nvSpPr>
        <p:spPr>
          <a:xfrm>
            <a:off x="4629150" y="2667000"/>
            <a:ext cx="276225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Monaco"/>
                <a:ea typeface="Monaco"/>
                <a:cs typeface="Monaco"/>
              </a:defRPr>
            </a:pPr>
            <a:r>
              <a:rPr sz="1200" b="0">
                <a:solidFill>
                  <a:srgbClr val="163F68"/>
                </a:solidFill>
                <a:latin typeface="Monaco"/>
                <a:ea typeface="Monaco"/>
                <a:cs typeface="Monaco"/>
              </a:rPr>
              <a:t>POST /chat</a:t>
            </a:r>
          </a:p>
        </p:txBody>
      </p:sp>
      <p:sp>
        <p:nvSpPr>
          <p:cNvPr id="27" name="矩形 26"/>
          <p:cNvSpPr>
            <a:spLocks noGrp="1"/>
          </p:cNvSpPr>
          <p:nvPr/>
        </p:nvSpPr>
        <p:spPr>
          <a:xfrm>
            <a:off x="7829550" y="2590800"/>
            <a:ext cx="297180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Same path; classroom JSON uses chat_id + message</a:t>
            </a:r>
          </a:p>
        </p:txBody>
      </p:sp>
      <p:sp>
        <p:nvSpPr>
          <p:cNvPr id="28" name="矩形 27"/>
          <p:cNvSpPr>
            <a:spLocks noGrp="1"/>
          </p:cNvSpPr>
          <p:nvPr/>
        </p:nvSpPr>
        <p:spPr>
          <a:xfrm>
            <a:off x="781050" y="3219450"/>
            <a:ext cx="10267950" cy="647700"/>
          </a:xfrm>
          <a:prstGeom prst="rect">
            <a:avLst/>
          </a:prstGeom>
          <a:solidFill>
            <a:srgbClr val="F1F6FA"/>
          </a:solidFill>
          <a:ln w="9525">
            <a:solidFill>
              <a:srgbClr val="A7B8C8"/>
            </a:solidFill>
            <a:prstDash val="solid"/>
          </a:ln>
        </p:spPr>
        <p:txBody>
          <a:bodyPr/>
          <a:lstStyle/>
          <a:p>
            <a:endParaRPr/>
          </a:p>
        </p:txBody>
      </p:sp>
      <p:sp>
        <p:nvSpPr>
          <p:cNvPr id="29" name="矩形 28"/>
          <p:cNvSpPr>
            <a:spLocks noGrp="1"/>
          </p:cNvSpPr>
          <p:nvPr/>
        </p:nvSpPr>
        <p:spPr>
          <a:xfrm>
            <a:off x="895350" y="3409950"/>
            <a:ext cx="11811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EVIDENCE</a:t>
            </a:r>
          </a:p>
        </p:txBody>
      </p:sp>
      <p:sp>
        <p:nvSpPr>
          <p:cNvPr id="30" name="矩形 29"/>
          <p:cNvSpPr>
            <a:spLocks noGrp="1"/>
          </p:cNvSpPr>
          <p:nvPr/>
        </p:nvSpPr>
        <p:spPr>
          <a:xfrm>
            <a:off x="2305050" y="3409950"/>
            <a:ext cx="2095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Monaco"/>
                <a:ea typeface="Monaco"/>
                <a:cs typeface="Monaco"/>
              </a:defRPr>
            </a:pPr>
            <a:r>
              <a:rPr sz="1200" b="1">
                <a:solidFill>
                  <a:srgbClr val="1F5284"/>
                </a:solidFill>
                <a:latin typeface="Monaco"/>
                <a:ea typeface="Monaco"/>
                <a:cs typeface="Monaco"/>
              </a:rPr>
              <a:t>Full text + [Page N]</a:t>
            </a:r>
          </a:p>
        </p:txBody>
      </p:sp>
      <p:sp>
        <p:nvSpPr>
          <p:cNvPr id="31" name="矩形 30"/>
          <p:cNvSpPr>
            <a:spLocks noGrp="1"/>
          </p:cNvSpPr>
          <p:nvPr/>
        </p:nvSpPr>
        <p:spPr>
          <a:xfrm>
            <a:off x="4629150" y="3409950"/>
            <a:ext cx="276225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Monaco"/>
                <a:ea typeface="Monaco"/>
                <a:cs typeface="Monaco"/>
              </a:defRPr>
            </a:pPr>
            <a:r>
              <a:rPr sz="1200" b="0">
                <a:solidFill>
                  <a:srgbClr val="163F68"/>
                </a:solidFill>
                <a:latin typeface="Monaco"/>
                <a:ea typeface="Monaco"/>
                <a:cs typeface="Monaco"/>
              </a:rPr>
              <a:t>RAG search + chunks</a:t>
            </a:r>
          </a:p>
        </p:txBody>
      </p:sp>
      <p:sp>
        <p:nvSpPr>
          <p:cNvPr id="32" name="矩形 31"/>
          <p:cNvSpPr>
            <a:spLocks noGrp="1"/>
          </p:cNvSpPr>
          <p:nvPr/>
        </p:nvSpPr>
        <p:spPr>
          <a:xfrm>
            <a:off x="7829550" y="3333750"/>
            <a:ext cx="297180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No vector retrieval today</a:t>
            </a:r>
          </a:p>
        </p:txBody>
      </p:sp>
      <p:sp>
        <p:nvSpPr>
          <p:cNvPr id="33" name="矩形 32"/>
          <p:cNvSpPr>
            <a:spLocks noGrp="1"/>
          </p:cNvSpPr>
          <p:nvPr/>
        </p:nvSpPr>
        <p:spPr>
          <a:xfrm>
            <a:off x="781050" y="3962400"/>
            <a:ext cx="10267950" cy="647700"/>
          </a:xfrm>
          <a:prstGeom prst="rect">
            <a:avLst/>
          </a:prstGeom>
          <a:solidFill>
            <a:srgbClr val="FFFFFF"/>
          </a:solidFill>
          <a:ln w="9525">
            <a:solidFill>
              <a:srgbClr val="A7B8C8"/>
            </a:solidFill>
            <a:prstDash val="solid"/>
          </a:ln>
        </p:spPr>
        <p:txBody>
          <a:bodyPr/>
          <a:lstStyle/>
          <a:p>
            <a:endParaRPr/>
          </a:p>
        </p:txBody>
      </p:sp>
      <p:sp>
        <p:nvSpPr>
          <p:cNvPr id="34" name="矩形 33"/>
          <p:cNvSpPr>
            <a:spLocks noGrp="1"/>
          </p:cNvSpPr>
          <p:nvPr/>
        </p:nvSpPr>
        <p:spPr>
          <a:xfrm>
            <a:off x="895350" y="4152900"/>
            <a:ext cx="11811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FRONTEND</a:t>
            </a:r>
          </a:p>
        </p:txBody>
      </p:sp>
      <p:sp>
        <p:nvSpPr>
          <p:cNvPr id="35" name="矩形 34"/>
          <p:cNvSpPr>
            <a:spLocks noGrp="1"/>
          </p:cNvSpPr>
          <p:nvPr/>
        </p:nvSpPr>
        <p:spPr>
          <a:xfrm>
            <a:off x="2305050" y="4152900"/>
            <a:ext cx="2095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Monaco"/>
                <a:ea typeface="Monaco"/>
                <a:cs typeface="Monaco"/>
              </a:defRPr>
            </a:pPr>
            <a:r>
              <a:rPr sz="1200" b="1">
                <a:solidFill>
                  <a:srgbClr val="1F5284"/>
                </a:solidFill>
                <a:latin typeface="Monaco"/>
                <a:ea typeface="Monaco"/>
                <a:cs typeface="Monaco"/>
              </a:rPr>
              <a:t>fetch</a:t>
            </a:r>
          </a:p>
        </p:txBody>
      </p:sp>
      <p:sp>
        <p:nvSpPr>
          <p:cNvPr id="36" name="矩形 35"/>
          <p:cNvSpPr>
            <a:spLocks noGrp="1"/>
          </p:cNvSpPr>
          <p:nvPr/>
        </p:nvSpPr>
        <p:spPr>
          <a:xfrm>
            <a:off x="4629150" y="4152900"/>
            <a:ext cx="276225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Monaco"/>
                <a:ea typeface="Monaco"/>
                <a:cs typeface="Monaco"/>
              </a:defRPr>
            </a:pPr>
            <a:r>
              <a:rPr sz="1200" b="0">
                <a:solidFill>
                  <a:srgbClr val="163F68"/>
                </a:solidFill>
                <a:latin typeface="Monaco"/>
                <a:ea typeface="Monaco"/>
                <a:cs typeface="Monaco"/>
              </a:rPr>
              <a:t>fetch upload + fetch/SSE</a:t>
            </a:r>
          </a:p>
        </p:txBody>
      </p:sp>
      <p:sp>
        <p:nvSpPr>
          <p:cNvPr id="37" name="矩形 36"/>
          <p:cNvSpPr>
            <a:spLocks noGrp="1"/>
          </p:cNvSpPr>
          <p:nvPr/>
        </p:nvSpPr>
        <p:spPr>
          <a:xfrm>
            <a:off x="7829550" y="4076700"/>
            <a:ext cx="297180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Use browser fetch for both requests today</a:t>
            </a:r>
          </a:p>
        </p:txBody>
      </p:sp>
      <p:sp>
        <p:nvSpPr>
          <p:cNvPr id="38" name="矩形 37"/>
          <p:cNvSpPr>
            <a:spLocks noGrp="1"/>
          </p:cNvSpPr>
          <p:nvPr/>
        </p:nvSpPr>
        <p:spPr>
          <a:xfrm>
            <a:off x="819150" y="5067300"/>
            <a:ext cx="10096500" cy="3048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425" b="1">
                <a:solidFill>
                  <a:srgbClr val="39825B"/>
                </a:solidFill>
                <a:latin typeface="Lato"/>
                <a:ea typeface="Lato"/>
                <a:cs typeface="Lato"/>
              </a:defRPr>
            </a:pPr>
            <a:r>
              <a:rPr sz="1425" b="1">
                <a:solidFill>
                  <a:srgbClr val="39825B"/>
                </a:solidFill>
                <a:latin typeface="Lato"/>
                <a:ea typeface="Lato"/>
                <a:cs typeface="Lato"/>
              </a:rPr>
              <a:t>Use /upload?chat_id then /chat with the same chat_id. Keep fetch, request fields, and response fields identical across slides and code.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HTTP CONTRACT</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Two requests form one product flow</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17–22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The Essence of HTTP: A Request Carries a Question, a Response Returns a Result</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11</a:t>
            </a:r>
          </a:p>
        </p:txBody>
      </p:sp>
      <p:sp>
        <p:nvSpPr>
          <p:cNvPr id="15" name="圆角矩形 14"/>
          <p:cNvSpPr>
            <a:spLocks noGrp="1"/>
          </p:cNvSpPr>
          <p:nvPr/>
        </p:nvSpPr>
        <p:spPr>
          <a:xfrm>
            <a:off x="685800" y="1428750"/>
            <a:ext cx="5048250" cy="1695450"/>
          </a:xfrm>
          <a:prstGeom prst="roundRect">
            <a:avLst>
              <a:gd name="adj" fmla="val 4494"/>
            </a:avLst>
          </a:prstGeom>
          <a:solidFill>
            <a:srgbClr val="F1F6FA"/>
          </a:solidFill>
          <a:ln w="9525">
            <a:solidFill>
              <a:srgbClr val="1F5284"/>
            </a:solidFill>
            <a:prstDash val="solid"/>
          </a:ln>
        </p:spPr>
        <p:txBody>
          <a:bodyPr/>
          <a:lstStyle/>
          <a:p>
            <a:endParaRPr/>
          </a:p>
        </p:txBody>
      </p:sp>
      <p:sp>
        <p:nvSpPr>
          <p:cNvPr id="16" name="矩形 15"/>
          <p:cNvSpPr>
            <a:spLocks noGrp="1"/>
          </p:cNvSpPr>
          <p:nvPr/>
        </p:nvSpPr>
        <p:spPr>
          <a:xfrm>
            <a:off x="895350" y="1590675"/>
            <a:ext cx="46291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① Upload a PDF</a:t>
            </a:r>
          </a:p>
        </p:txBody>
      </p:sp>
      <p:sp>
        <p:nvSpPr>
          <p:cNvPr id="17" name="矩形 16"/>
          <p:cNvSpPr>
            <a:spLocks noGrp="1"/>
          </p:cNvSpPr>
          <p:nvPr/>
        </p:nvSpPr>
        <p:spPr>
          <a:xfrm>
            <a:off x="895350" y="1981200"/>
            <a:ext cx="4629150" cy="1009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POST /upload?chat_id=day2-demo</a:t>
            </a:r>
          </a:p>
          <a:p>
            <a:pPr algn="l">
              <a:buNone/>
              <a:defRPr sz="1200" b="0">
                <a:solidFill>
                  <a:srgbClr val="637788"/>
                </a:solidFill>
                <a:latin typeface="Lato"/>
                <a:ea typeface="Lato"/>
                <a:cs typeface="Lato"/>
              </a:defRPr>
            </a:pPr>
            <a:r>
              <a:rPr sz="1200" b="0">
                <a:solidFill>
                  <a:srgbClr val="637788"/>
                </a:solidFill>
                <a:latin typeface="Lato"/>
                <a:ea typeface="Lato"/>
                <a:cs typeface="Lato"/>
              </a:rPr>
              <a:t>Query: chat_id · Body: multipart/form-data (file)</a:t>
            </a:r>
          </a:p>
          <a:p>
            <a:pPr algn="l">
              <a:buNone/>
              <a:defRPr sz="1200" b="0">
                <a:solidFill>
                  <a:srgbClr val="637788"/>
                </a:solidFill>
                <a:latin typeface="Lato"/>
                <a:ea typeface="Lato"/>
                <a:cs typeface="Lato"/>
              </a:defRPr>
            </a:pPr>
            <a:r>
              <a:rPr sz="1200" b="0">
                <a:solidFill>
                  <a:srgbClr val="637788"/>
                </a:solidFill>
                <a:latin typeface="Lato"/>
                <a:ea typeface="Lato"/>
                <a:cs typeface="Lato"/>
              </a:rPr>
              <a:t>Return: status, filename, pages, characters</a:t>
            </a:r>
          </a:p>
        </p:txBody>
      </p:sp>
      <p:sp>
        <p:nvSpPr>
          <p:cNvPr id="18" name="圆角矩形 17"/>
          <p:cNvSpPr>
            <a:spLocks noGrp="1"/>
          </p:cNvSpPr>
          <p:nvPr/>
        </p:nvSpPr>
        <p:spPr>
          <a:xfrm>
            <a:off x="6172200" y="1428750"/>
            <a:ext cx="5048250" cy="1695450"/>
          </a:xfrm>
          <a:prstGeom prst="roundRect">
            <a:avLst>
              <a:gd name="adj" fmla="val 4494"/>
            </a:avLst>
          </a:prstGeom>
          <a:solidFill>
            <a:srgbClr val="F1F6FA"/>
          </a:solidFill>
          <a:ln w="9525">
            <a:solidFill>
              <a:srgbClr val="0070C0"/>
            </a:solidFill>
            <a:prstDash val="solid"/>
          </a:ln>
        </p:spPr>
        <p:txBody>
          <a:bodyPr/>
          <a:lstStyle/>
          <a:p>
            <a:endParaRPr/>
          </a:p>
        </p:txBody>
      </p:sp>
      <p:sp>
        <p:nvSpPr>
          <p:cNvPr id="19" name="矩形 18"/>
          <p:cNvSpPr>
            <a:spLocks noGrp="1"/>
          </p:cNvSpPr>
          <p:nvPr/>
        </p:nvSpPr>
        <p:spPr>
          <a:xfrm>
            <a:off x="6381750" y="1590675"/>
            <a:ext cx="46291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1">
                <a:solidFill>
                  <a:srgbClr val="163F68"/>
                </a:solidFill>
                <a:latin typeface="Lato"/>
                <a:ea typeface="Lato"/>
                <a:cs typeface="Lato"/>
              </a:defRPr>
            </a:pPr>
            <a:r>
              <a:rPr sz="1425" b="1">
                <a:solidFill>
                  <a:srgbClr val="163F68"/>
                </a:solidFill>
                <a:latin typeface="Lato"/>
                <a:ea typeface="Lato"/>
                <a:cs typeface="Lato"/>
              </a:rPr>
              <a:t>② Ask a Question</a:t>
            </a:r>
          </a:p>
        </p:txBody>
      </p:sp>
      <p:sp>
        <p:nvSpPr>
          <p:cNvPr id="20" name="矩形 19"/>
          <p:cNvSpPr>
            <a:spLocks noGrp="1"/>
          </p:cNvSpPr>
          <p:nvPr/>
        </p:nvSpPr>
        <p:spPr>
          <a:xfrm>
            <a:off x="6381750" y="1981200"/>
            <a:ext cx="4629150" cy="1009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POST /chat</a:t>
            </a:r>
          </a:p>
          <a:p>
            <a:pPr algn="l">
              <a:buNone/>
              <a:defRPr sz="1200" b="0">
                <a:solidFill>
                  <a:srgbClr val="637788"/>
                </a:solidFill>
                <a:latin typeface="Lato"/>
                <a:ea typeface="Lato"/>
                <a:cs typeface="Lato"/>
              </a:defRPr>
            </a:pPr>
            <a:r>
              <a:rPr sz="1200" b="0">
                <a:solidFill>
                  <a:srgbClr val="637788"/>
                </a:solidFill>
                <a:latin typeface="Lato"/>
                <a:ea typeface="Lato"/>
                <a:cs typeface="Lato"/>
              </a:rPr>
              <a:t>Body: { chat_id, message }</a:t>
            </a:r>
          </a:p>
          <a:p>
            <a:pPr algn="l">
              <a:buNone/>
              <a:defRPr sz="1200" b="0">
                <a:solidFill>
                  <a:srgbClr val="637788"/>
                </a:solidFill>
                <a:latin typeface="Lato"/>
                <a:ea typeface="Lato"/>
                <a:cs typeface="Lato"/>
              </a:defRPr>
            </a:pPr>
            <a:r>
              <a:rPr sz="1200" b="0">
                <a:solidFill>
                  <a:srgbClr val="637788"/>
                </a:solidFill>
                <a:latin typeface="Lato"/>
                <a:ea typeface="Lato"/>
                <a:cs typeface="Lato"/>
              </a:rPr>
              <a:t>Return: { answer, citations }</a:t>
            </a:r>
          </a:p>
        </p:txBody>
      </p:sp>
      <p:sp>
        <p:nvSpPr>
          <p:cNvPr id="21" name="右箭头 20"/>
          <p:cNvSpPr>
            <a:spLocks noGrp="1"/>
          </p:cNvSpPr>
          <p:nvPr/>
        </p:nvSpPr>
        <p:spPr>
          <a:xfrm>
            <a:off x="5543550" y="2076450"/>
            <a:ext cx="438150" cy="400050"/>
          </a:xfrm>
          <a:prstGeom prst="rightArrow">
            <a:avLst/>
          </a:prstGeom>
          <a:solidFill>
            <a:srgbClr val="0070C0"/>
          </a:solidFill>
          <a:ln w="9525">
            <a:solidFill>
              <a:srgbClr val="0070C0"/>
            </a:solidFill>
            <a:prstDash val="solid"/>
          </a:ln>
        </p:spPr>
        <p:txBody>
          <a:bodyPr/>
          <a:lstStyle/>
          <a:p>
            <a:endParaRPr/>
          </a:p>
        </p:txBody>
      </p:sp>
      <p:sp>
        <p:nvSpPr>
          <p:cNvPr id="22" name="圆角矩形 21"/>
          <p:cNvSpPr>
            <a:spLocks noGrp="1"/>
          </p:cNvSpPr>
          <p:nvPr/>
        </p:nvSpPr>
        <p:spPr>
          <a:xfrm>
            <a:off x="685800" y="3448050"/>
            <a:ext cx="10534650" cy="1352550"/>
          </a:xfrm>
          <a:prstGeom prst="roundRect">
            <a:avLst>
              <a:gd name="adj" fmla="val 5634"/>
            </a:avLst>
          </a:prstGeom>
          <a:solidFill>
            <a:srgbClr val="003B74"/>
          </a:solidFill>
          <a:ln w="9525">
            <a:solidFill>
              <a:srgbClr val="003B74"/>
            </a:solidFill>
            <a:prstDash val="solid"/>
          </a:ln>
        </p:spPr>
        <p:txBody>
          <a:bodyPr/>
          <a:lstStyle/>
          <a:p>
            <a:endParaRPr/>
          </a:p>
        </p:txBody>
      </p:sp>
      <p:sp>
        <p:nvSpPr>
          <p:cNvPr id="23" name="矩形 22"/>
          <p:cNvSpPr>
            <a:spLocks noGrp="1"/>
          </p:cNvSpPr>
          <p:nvPr/>
        </p:nvSpPr>
        <p:spPr>
          <a:xfrm>
            <a:off x="857250" y="3581400"/>
            <a:ext cx="101917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The Same chat_id Connects the Two Requests</a:t>
            </a:r>
          </a:p>
        </p:txBody>
      </p:sp>
      <p:sp>
        <p:nvSpPr>
          <p:cNvPr id="24" name="矩形 23"/>
          <p:cNvSpPr>
            <a:spLocks noGrp="1"/>
          </p:cNvSpPr>
          <p:nvPr/>
        </p:nvSpPr>
        <p:spPr>
          <a:xfrm>
            <a:off x="857250" y="3848100"/>
            <a:ext cx="10191750" cy="838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upload.pdf  -- /upload?chat_id --&gt;  chat_id = </a:t>
            </a:r>
            <a:r>
              <a:rPr sz="1350" b="0">
                <a:solidFill>
                  <a:srgbClr val="F6C85F"/>
                </a:solidFill>
                <a:latin typeface="Monaco"/>
                <a:ea typeface="Monaco"/>
                <a:cs typeface="Monaco"/>
              </a:rPr>
              <a:t>"day2-demo"</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message + </a:t>
            </a:r>
            <a:r>
              <a:rPr sz="1350" b="0">
                <a:solidFill>
                  <a:srgbClr val="F6C85F"/>
                </a:solidFill>
                <a:latin typeface="Monaco"/>
                <a:ea typeface="Monaco"/>
                <a:cs typeface="Monaco"/>
              </a:rPr>
              <a:t>"day2-demo"</a:t>
            </a:r>
            <a:r>
              <a:rPr sz="1350" b="0">
                <a:solidFill>
                  <a:srgbClr val="F1F6FA"/>
                </a:solidFill>
                <a:latin typeface="Monaco"/>
                <a:ea typeface="Monaco"/>
                <a:cs typeface="Monaco"/>
              </a:rPr>
              <a:t>  -- /chat --&gt;  answer + citations</a:t>
            </a:r>
          </a:p>
        </p:txBody>
      </p:sp>
      <p:sp>
        <p:nvSpPr>
          <p:cNvPr id="25" name="矩形 24"/>
          <p:cNvSpPr>
            <a:spLocks noGrp="1"/>
          </p:cNvSpPr>
          <p:nvPr/>
        </p:nvSpPr>
        <p:spPr>
          <a:xfrm>
            <a:off x="742950" y="5105400"/>
            <a:ext cx="102870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39825B"/>
                </a:solidFill>
                <a:latin typeface="Lato"/>
                <a:ea typeface="Lato"/>
                <a:cs typeface="Lato"/>
              </a:defRPr>
            </a:pPr>
            <a:r>
              <a:rPr sz="1350" b="1">
                <a:solidFill>
                  <a:srgbClr val="39825B"/>
                </a:solidFill>
                <a:latin typeface="Lato"/>
                <a:ea typeface="Lato"/>
                <a:cs typeface="Lato"/>
              </a:rPr>
              <a:t>Request relay: one person plays the browser and the other plays FastAPI; switch roles and repeat the flow.</a:t>
            </a:r>
          </a:p>
        </p:txBody>
      </p:sp>
      <p:sp>
        <p:nvSpPr>
          <p:cNvPr id="27" name="矩形 26"/>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28" name="圆角矩形 27"/>
          <p:cNvSpPr>
            <a:spLocks noGrp="1"/>
          </p:cNvSpPr>
          <p:nvPr/>
        </p:nvSpPr>
        <p:spPr>
          <a:xfrm>
            <a:off x="781050" y="144780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29" name="矩形 28"/>
          <p:cNvSpPr>
            <a:spLocks noGrp="1"/>
          </p:cNvSpPr>
          <p:nvPr/>
        </p:nvSpPr>
        <p:spPr>
          <a:xfrm>
            <a:off x="3124200" y="14763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30" name="圆角矩形 29"/>
          <p:cNvSpPr>
            <a:spLocks noGrp="1"/>
          </p:cNvSpPr>
          <p:nvPr/>
        </p:nvSpPr>
        <p:spPr>
          <a:xfrm>
            <a:off x="3429000" y="144780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31" name="矩形 30"/>
          <p:cNvSpPr>
            <a:spLocks noGrp="1"/>
          </p:cNvSpPr>
          <p:nvPr/>
        </p:nvSpPr>
        <p:spPr>
          <a:xfrm>
            <a:off x="5772150" y="14763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32" name="圆角矩形 31"/>
          <p:cNvSpPr>
            <a:spLocks noGrp="1"/>
          </p:cNvSpPr>
          <p:nvPr/>
        </p:nvSpPr>
        <p:spPr>
          <a:xfrm>
            <a:off x="6076950" y="1447800"/>
            <a:ext cx="2305050" cy="361950"/>
          </a:xfrm>
          <a:prstGeom prst="roundRect">
            <a:avLst>
              <a:gd name="adj" fmla="val 21053"/>
            </a:avLst>
          </a:prstGeom>
          <a:solidFill>
            <a:srgbClr val="F1ECFF"/>
          </a:solidFill>
          <a:ln w="10478">
            <a:solidFill>
              <a:srgbClr val="7557C8"/>
            </a:solidFill>
            <a:prstDash val="solid"/>
          </a:ln>
        </p:spPr>
        <p:txBody>
          <a:bodyPr lIns="57150" tIns="57150" rIns="57150" bIns="57150" anchor="ctr">
            <a:normAutofit/>
          </a:bodyPr>
          <a:lstStyle/>
          <a:p>
            <a:pPr algn="ctr">
              <a:buNone/>
              <a:defRPr sz="1200" b="1">
                <a:solidFill>
                  <a:srgbClr val="7557C8"/>
                </a:solidFill>
                <a:latin typeface="Aptos"/>
                <a:ea typeface="Aptos"/>
                <a:cs typeface="Aptos"/>
              </a:defRPr>
            </a:pPr>
            <a:r>
              <a:rPr sz="1200" b="1">
                <a:solidFill>
                  <a:srgbClr val="7557C8"/>
                </a:solidFill>
                <a:latin typeface="Aptos"/>
                <a:ea typeface="Aptos"/>
                <a:cs typeface="Aptos"/>
              </a:rPr>
              <a:t>React state</a:t>
            </a:r>
          </a:p>
        </p:txBody>
      </p:sp>
      <p:sp>
        <p:nvSpPr>
          <p:cNvPr id="33" name="矩形 32"/>
          <p:cNvSpPr>
            <a:spLocks noGrp="1"/>
          </p:cNvSpPr>
          <p:nvPr/>
        </p:nvSpPr>
        <p:spPr>
          <a:xfrm>
            <a:off x="8420100" y="147637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34" name="圆角矩形 33"/>
          <p:cNvSpPr>
            <a:spLocks noGrp="1"/>
          </p:cNvSpPr>
          <p:nvPr/>
        </p:nvSpPr>
        <p:spPr>
          <a:xfrm>
            <a:off x="8724900" y="1447800"/>
            <a:ext cx="2305050" cy="361950"/>
          </a:xfrm>
          <a:prstGeom prst="roundRect">
            <a:avLst>
              <a:gd name="adj" fmla="val 21053"/>
            </a:avLst>
          </a:prstGeom>
          <a:solidFill>
            <a:srgbClr val="EAF5EE"/>
          </a:solidFill>
          <a:ln w="10478">
            <a:solidFill>
              <a:srgbClr val="3A8B61"/>
            </a:solidFill>
            <a:prstDash val="solid"/>
          </a:ln>
        </p:spPr>
        <p:txBody>
          <a:bodyPr lIns="57150" tIns="57150" rIns="57150" bIns="57150" anchor="ctr">
            <a:normAutofit/>
          </a:bodyPr>
          <a:lstStyle/>
          <a:p>
            <a:pPr algn="ctr">
              <a:buNone/>
              <a:defRPr sz="1200" b="1">
                <a:solidFill>
                  <a:srgbClr val="3A8B61"/>
                </a:solidFill>
                <a:latin typeface="Aptos"/>
                <a:ea typeface="Aptos"/>
                <a:cs typeface="Aptos"/>
              </a:defRPr>
            </a:pPr>
            <a:r>
              <a:rPr sz="1200" b="1">
                <a:solidFill>
                  <a:srgbClr val="3A8B61"/>
                </a:solidFill>
                <a:latin typeface="Aptos"/>
                <a:ea typeface="Aptos"/>
                <a:cs typeface="Aptos"/>
              </a:rPr>
              <a:t>Delivery</a:t>
            </a:r>
          </a:p>
        </p:txBody>
      </p:sp>
      <p:sp>
        <p:nvSpPr>
          <p:cNvPr id="35" name="圆角矩形 34"/>
          <p:cNvSpPr>
            <a:spLocks noGrp="1"/>
          </p:cNvSpPr>
          <p:nvPr/>
        </p:nvSpPr>
        <p:spPr>
          <a:xfrm>
            <a:off x="781050" y="2381250"/>
            <a:ext cx="1238250" cy="1428750"/>
          </a:xfrm>
          <a:prstGeom prst="roundRect">
            <a:avLst>
              <a:gd name="adj" fmla="val 6154"/>
            </a:avLst>
          </a:prstGeom>
          <a:solidFill>
            <a:srgbClr val="FFF4DE"/>
          </a:solidFill>
          <a:ln w="11430">
            <a:solidFill>
              <a:srgbClr val="F59E0B"/>
            </a:solidFill>
            <a:prstDash val="solid"/>
          </a:ln>
        </p:spPr>
        <p:txBody>
          <a:bodyPr/>
          <a:lstStyle/>
          <a:p>
            <a:endParaRPr lang="zh-CN" altLang="en-US"/>
          </a:p>
        </p:txBody>
      </p:sp>
      <p:sp>
        <p:nvSpPr>
          <p:cNvPr id="36" name="矩形 35"/>
          <p:cNvSpPr>
            <a:spLocks noGrp="1"/>
          </p:cNvSpPr>
          <p:nvPr/>
        </p:nvSpPr>
        <p:spPr>
          <a:xfrm>
            <a:off x="914400" y="2590800"/>
            <a:ext cx="971550"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59E0B"/>
                </a:solidFill>
                <a:latin typeface="Aptos"/>
                <a:ea typeface="Aptos"/>
                <a:cs typeface="Aptos"/>
              </a:defRPr>
            </a:pPr>
            <a:r>
              <a:rPr sz="1500" b="1">
                <a:solidFill>
                  <a:srgbClr val="F59E0B"/>
                </a:solidFill>
                <a:latin typeface="Aptos"/>
                <a:ea typeface="Aptos"/>
                <a:cs typeface="Aptos"/>
              </a:rPr>
              <a:t>PDF</a:t>
            </a:r>
          </a:p>
        </p:txBody>
      </p:sp>
      <p:sp>
        <p:nvSpPr>
          <p:cNvPr id="37" name="矩形 36"/>
          <p:cNvSpPr>
            <a:spLocks noGrp="1"/>
          </p:cNvSpPr>
          <p:nvPr/>
        </p:nvSpPr>
        <p:spPr>
          <a:xfrm>
            <a:off x="914400" y="3105150"/>
            <a:ext cx="97155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file</a:t>
            </a:r>
          </a:p>
        </p:txBody>
      </p:sp>
      <p:sp>
        <p:nvSpPr>
          <p:cNvPr id="38" name="右箭头 37"/>
          <p:cNvSpPr>
            <a:spLocks noGrp="1"/>
          </p:cNvSpPr>
          <p:nvPr/>
        </p:nvSpPr>
        <p:spPr>
          <a:xfrm>
            <a:off x="2066925" y="29527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39" name="圆角矩形 38"/>
          <p:cNvSpPr>
            <a:spLocks noGrp="1"/>
          </p:cNvSpPr>
          <p:nvPr/>
        </p:nvSpPr>
        <p:spPr>
          <a:xfrm>
            <a:off x="2381250" y="2381250"/>
            <a:ext cx="1952625" cy="1428750"/>
          </a:xfrm>
          <a:prstGeom prst="roundRect">
            <a:avLst>
              <a:gd name="adj" fmla="val 5333"/>
            </a:avLst>
          </a:prstGeom>
          <a:solidFill>
            <a:srgbClr val="FFF4DE"/>
          </a:solidFill>
          <a:ln w="11430">
            <a:solidFill>
              <a:srgbClr val="F59E0B"/>
            </a:solidFill>
            <a:prstDash val="solid"/>
          </a:ln>
        </p:spPr>
        <p:txBody>
          <a:bodyPr/>
          <a:lstStyle/>
          <a:p>
            <a:endParaRPr lang="zh-CN" altLang="en-US"/>
          </a:p>
        </p:txBody>
      </p:sp>
      <p:sp>
        <p:nvSpPr>
          <p:cNvPr id="40" name="矩形 39"/>
          <p:cNvSpPr>
            <a:spLocks noGrp="1"/>
          </p:cNvSpPr>
          <p:nvPr/>
        </p:nvSpPr>
        <p:spPr>
          <a:xfrm>
            <a:off x="2514600" y="2590800"/>
            <a:ext cx="1685925"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59E0B"/>
                </a:solidFill>
                <a:latin typeface="Aptos"/>
                <a:ea typeface="Aptos"/>
                <a:cs typeface="Aptos"/>
              </a:defRPr>
            </a:pPr>
            <a:r>
              <a:rPr sz="1500" b="1">
                <a:solidFill>
                  <a:srgbClr val="F59E0B"/>
                </a:solidFill>
                <a:latin typeface="Aptos"/>
                <a:ea typeface="Aptos"/>
                <a:cs typeface="Aptos"/>
              </a:rPr>
              <a:t>POST /upload</a:t>
            </a:r>
          </a:p>
        </p:txBody>
      </p:sp>
      <p:sp>
        <p:nvSpPr>
          <p:cNvPr id="41" name="矩形 40"/>
          <p:cNvSpPr>
            <a:spLocks noGrp="1"/>
          </p:cNvSpPr>
          <p:nvPr/>
        </p:nvSpPr>
        <p:spPr>
          <a:xfrm>
            <a:off x="2514600" y="3105150"/>
            <a:ext cx="1685925"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file + chat_id</a:t>
            </a:r>
          </a:p>
        </p:txBody>
      </p:sp>
      <p:sp>
        <p:nvSpPr>
          <p:cNvPr id="42" name="右箭头 41"/>
          <p:cNvSpPr>
            <a:spLocks noGrp="1"/>
          </p:cNvSpPr>
          <p:nvPr/>
        </p:nvSpPr>
        <p:spPr>
          <a:xfrm>
            <a:off x="4381500" y="29527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3" name="圆角矩形 42"/>
          <p:cNvSpPr>
            <a:spLocks noGrp="1"/>
          </p:cNvSpPr>
          <p:nvPr/>
        </p:nvSpPr>
        <p:spPr>
          <a:xfrm>
            <a:off x="4695825" y="2381250"/>
            <a:ext cx="2143125" cy="1428750"/>
          </a:xfrm>
          <a:prstGeom prst="roundRect">
            <a:avLst>
              <a:gd name="adj" fmla="val 5333"/>
            </a:avLst>
          </a:prstGeom>
          <a:solidFill>
            <a:srgbClr val="E4F7F5"/>
          </a:solidFill>
          <a:ln w="11430">
            <a:solidFill>
              <a:srgbClr val="00A7A0"/>
            </a:solidFill>
            <a:prstDash val="solid"/>
          </a:ln>
        </p:spPr>
        <p:txBody>
          <a:bodyPr/>
          <a:lstStyle/>
          <a:p>
            <a:endParaRPr lang="zh-CN" altLang="en-US"/>
          </a:p>
        </p:txBody>
      </p:sp>
      <p:sp>
        <p:nvSpPr>
          <p:cNvPr id="44" name="矩形 43"/>
          <p:cNvSpPr>
            <a:spLocks noGrp="1"/>
          </p:cNvSpPr>
          <p:nvPr/>
        </p:nvSpPr>
        <p:spPr>
          <a:xfrm>
            <a:off x="4829175" y="2590800"/>
            <a:ext cx="1876425"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00A7A0"/>
                </a:solidFill>
                <a:latin typeface="Aptos"/>
                <a:ea typeface="Aptos"/>
                <a:cs typeface="Aptos"/>
              </a:defRPr>
            </a:pPr>
            <a:r>
              <a:rPr sz="1500" b="1">
                <a:solidFill>
                  <a:srgbClr val="00A7A0"/>
                </a:solidFill>
                <a:latin typeface="Aptos"/>
                <a:ea typeface="Aptos"/>
                <a:cs typeface="Aptos"/>
              </a:rPr>
              <a:t>Pages in memory</a:t>
            </a:r>
          </a:p>
        </p:txBody>
      </p:sp>
      <p:sp>
        <p:nvSpPr>
          <p:cNvPr id="45" name="矩形 44"/>
          <p:cNvSpPr>
            <a:spLocks noGrp="1"/>
          </p:cNvSpPr>
          <p:nvPr/>
        </p:nvSpPr>
        <p:spPr>
          <a:xfrm>
            <a:off x="4829175" y="3105150"/>
            <a:ext cx="1876425"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keyed by chat_id</a:t>
            </a:r>
          </a:p>
        </p:txBody>
      </p:sp>
      <p:sp>
        <p:nvSpPr>
          <p:cNvPr id="46" name="右箭头 45"/>
          <p:cNvSpPr>
            <a:spLocks noGrp="1"/>
          </p:cNvSpPr>
          <p:nvPr/>
        </p:nvSpPr>
        <p:spPr>
          <a:xfrm>
            <a:off x="6886575" y="29527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7" name="圆角矩形 46"/>
          <p:cNvSpPr>
            <a:spLocks noGrp="1"/>
          </p:cNvSpPr>
          <p:nvPr/>
        </p:nvSpPr>
        <p:spPr>
          <a:xfrm>
            <a:off x="7200900" y="2381250"/>
            <a:ext cx="1857375" cy="1428750"/>
          </a:xfrm>
          <a:prstGeom prst="roundRect">
            <a:avLst>
              <a:gd name="adj" fmla="val 5333"/>
            </a:avLst>
          </a:prstGeom>
          <a:solidFill>
            <a:srgbClr val="FFF4DE"/>
          </a:solidFill>
          <a:ln w="11430">
            <a:solidFill>
              <a:srgbClr val="F59E0B"/>
            </a:solidFill>
            <a:prstDash val="solid"/>
          </a:ln>
        </p:spPr>
        <p:txBody>
          <a:bodyPr/>
          <a:lstStyle/>
          <a:p>
            <a:endParaRPr lang="zh-CN" altLang="en-US"/>
          </a:p>
        </p:txBody>
      </p:sp>
      <p:sp>
        <p:nvSpPr>
          <p:cNvPr id="48" name="矩形 47"/>
          <p:cNvSpPr>
            <a:spLocks noGrp="1"/>
          </p:cNvSpPr>
          <p:nvPr/>
        </p:nvSpPr>
        <p:spPr>
          <a:xfrm>
            <a:off x="7334250" y="2590800"/>
            <a:ext cx="1590675"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59E0B"/>
                </a:solidFill>
                <a:latin typeface="Aptos"/>
                <a:ea typeface="Aptos"/>
                <a:cs typeface="Aptos"/>
              </a:defRPr>
            </a:pPr>
            <a:r>
              <a:rPr sz="1500" b="1">
                <a:solidFill>
                  <a:srgbClr val="F59E0B"/>
                </a:solidFill>
                <a:latin typeface="Aptos"/>
                <a:ea typeface="Aptos"/>
                <a:cs typeface="Aptos"/>
              </a:rPr>
              <a:t>POST /chat</a:t>
            </a:r>
          </a:p>
        </p:txBody>
      </p:sp>
      <p:sp>
        <p:nvSpPr>
          <p:cNvPr id="49" name="矩形 48"/>
          <p:cNvSpPr>
            <a:spLocks noGrp="1"/>
          </p:cNvSpPr>
          <p:nvPr/>
        </p:nvSpPr>
        <p:spPr>
          <a:xfrm>
            <a:off x="7334250" y="3105150"/>
            <a:ext cx="1590675"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message + chat_id</a:t>
            </a:r>
          </a:p>
        </p:txBody>
      </p:sp>
      <p:sp>
        <p:nvSpPr>
          <p:cNvPr id="50" name="右箭头 49"/>
          <p:cNvSpPr>
            <a:spLocks noGrp="1"/>
          </p:cNvSpPr>
          <p:nvPr/>
        </p:nvSpPr>
        <p:spPr>
          <a:xfrm>
            <a:off x="9105900" y="29527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51" name="圆角矩形 50"/>
          <p:cNvSpPr>
            <a:spLocks noGrp="1"/>
          </p:cNvSpPr>
          <p:nvPr/>
        </p:nvSpPr>
        <p:spPr>
          <a:xfrm>
            <a:off x="9420225" y="2381250"/>
            <a:ext cx="1857375" cy="1428750"/>
          </a:xfrm>
          <a:prstGeom prst="roundRect">
            <a:avLst>
              <a:gd name="adj" fmla="val 5333"/>
            </a:avLst>
          </a:prstGeom>
          <a:solidFill>
            <a:srgbClr val="E4F7F5"/>
          </a:solidFill>
          <a:ln w="11430">
            <a:solidFill>
              <a:srgbClr val="00A7A0"/>
            </a:solidFill>
            <a:prstDash val="solid"/>
          </a:ln>
        </p:spPr>
        <p:txBody>
          <a:bodyPr/>
          <a:lstStyle/>
          <a:p>
            <a:endParaRPr lang="zh-CN" altLang="en-US"/>
          </a:p>
        </p:txBody>
      </p:sp>
      <p:sp>
        <p:nvSpPr>
          <p:cNvPr id="52" name="矩形 51"/>
          <p:cNvSpPr>
            <a:spLocks noGrp="1"/>
          </p:cNvSpPr>
          <p:nvPr/>
        </p:nvSpPr>
        <p:spPr>
          <a:xfrm>
            <a:off x="9553575" y="2590800"/>
            <a:ext cx="1590675" cy="3810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00A7A0"/>
                </a:solidFill>
                <a:latin typeface="Aptos"/>
                <a:ea typeface="Aptos"/>
                <a:cs typeface="Aptos"/>
              </a:defRPr>
            </a:pPr>
            <a:r>
              <a:rPr sz="1500" b="1">
                <a:solidFill>
                  <a:srgbClr val="00A7A0"/>
                </a:solidFill>
                <a:latin typeface="Aptos"/>
                <a:ea typeface="Aptos"/>
                <a:cs typeface="Aptos"/>
              </a:rPr>
              <a:t>Answer</a:t>
            </a:r>
          </a:p>
        </p:txBody>
      </p:sp>
      <p:sp>
        <p:nvSpPr>
          <p:cNvPr id="53" name="矩形 52"/>
          <p:cNvSpPr>
            <a:spLocks noGrp="1"/>
          </p:cNvSpPr>
          <p:nvPr/>
        </p:nvSpPr>
        <p:spPr>
          <a:xfrm>
            <a:off x="9553575" y="3105150"/>
            <a:ext cx="1590675"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 page tags</a:t>
            </a:r>
          </a:p>
        </p:txBody>
      </p:sp>
      <p:sp>
        <p:nvSpPr>
          <p:cNvPr id="54" name="圆角矩形 53"/>
          <p:cNvSpPr>
            <a:spLocks noGrp="1"/>
          </p:cNvSpPr>
          <p:nvPr/>
        </p:nvSpPr>
        <p:spPr>
          <a:xfrm>
            <a:off x="1714500" y="4305300"/>
            <a:ext cx="2000250" cy="400050"/>
          </a:xfrm>
          <a:prstGeom prst="roundRect">
            <a:avLst>
              <a:gd name="adj" fmla="val 19048"/>
            </a:avLst>
          </a:prstGeom>
          <a:solidFill>
            <a:srgbClr val="123F6D"/>
          </a:solidFill>
          <a:ln w="10478">
            <a:solidFill>
              <a:srgbClr val="123F6D"/>
            </a:solidFill>
            <a:prstDash val="solid"/>
          </a:ln>
        </p:spPr>
        <p:txBody>
          <a:bodyPr lIns="0" tIns="0" rIns="0" bIns="0" anchor="ctr">
            <a:normAutofit/>
          </a:bodyPr>
          <a:lstStyle/>
          <a:p>
            <a:pPr algn="ctr">
              <a:buNone/>
              <a:defRPr sz="1350" b="1">
                <a:solidFill>
                  <a:srgbClr val="FFFFFF"/>
                </a:solidFill>
                <a:latin typeface="Aptos"/>
                <a:ea typeface="Aptos"/>
                <a:cs typeface="Aptos"/>
              </a:defRPr>
            </a:pPr>
            <a:r>
              <a:rPr sz="1350" b="1">
                <a:solidFill>
                  <a:srgbClr val="FFFFFF"/>
                </a:solidFill>
                <a:latin typeface="Aptos"/>
                <a:ea typeface="Aptos"/>
                <a:cs typeface="Aptos"/>
              </a:rPr>
              <a:t>One state key</a:t>
            </a:r>
          </a:p>
        </p:txBody>
      </p:sp>
      <p:sp>
        <p:nvSpPr>
          <p:cNvPr id="55" name="圆角矩形 54"/>
          <p:cNvSpPr>
            <a:spLocks noGrp="1"/>
          </p:cNvSpPr>
          <p:nvPr/>
        </p:nvSpPr>
        <p:spPr>
          <a:xfrm>
            <a:off x="3905250" y="4248150"/>
            <a:ext cx="4762500" cy="514350"/>
          </a:xfrm>
          <a:prstGeom prst="roundRect">
            <a:avLst>
              <a:gd name="adj" fmla="val 14815"/>
            </a:avLst>
          </a:prstGeom>
          <a:solidFill>
            <a:srgbClr val="F4F7FA"/>
          </a:solidFill>
          <a:ln w="10478">
            <a:solidFill>
              <a:srgbClr val="CAD8E6"/>
            </a:solidFill>
            <a:prstDash val="solid"/>
          </a:ln>
        </p:spPr>
        <p:txBody>
          <a:bodyPr lIns="0" tIns="0" rIns="0" bIns="0" anchor="ctr">
            <a:normAutofit/>
          </a:bodyPr>
          <a:lstStyle/>
          <a:p>
            <a:pPr algn="ctr">
              <a:buNone/>
              <a:defRPr sz="2100" b="1">
                <a:solidFill>
                  <a:srgbClr val="F59E0B"/>
                </a:solidFill>
                <a:latin typeface="Aptos"/>
                <a:ea typeface="Aptos"/>
                <a:cs typeface="Aptos"/>
              </a:defRPr>
            </a:pPr>
            <a:r>
              <a:rPr sz="2100" b="1">
                <a:solidFill>
                  <a:srgbClr val="F59E0B"/>
                </a:solidFill>
                <a:latin typeface="Aptos"/>
                <a:ea typeface="Aptos"/>
                <a:cs typeface="Aptos"/>
              </a:rPr>
              <a:t>chat_id = day2-demo</a:t>
            </a:r>
          </a:p>
        </p:txBody>
      </p:sp>
      <p:sp>
        <p:nvSpPr>
          <p:cNvPr id="56" name="矩形 55"/>
          <p:cNvSpPr>
            <a:spLocks noGrp="1"/>
          </p:cNvSpPr>
          <p:nvPr/>
        </p:nvSpPr>
        <p:spPr>
          <a:xfrm>
            <a:off x="781050" y="5105400"/>
            <a:ext cx="10458450" cy="4572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3A8B61"/>
                </a:solidFill>
                <a:latin typeface="Aptos"/>
                <a:ea typeface="Aptos"/>
                <a:cs typeface="Aptos"/>
              </a:defRPr>
            </a:pPr>
            <a:r>
              <a:rPr sz="1650" b="1">
                <a:solidFill>
                  <a:srgbClr val="3A8B61"/>
                </a:solidFill>
                <a:latin typeface="Aptos"/>
                <a:ea typeface="Aptos"/>
                <a:cs typeface="Aptos"/>
              </a:rPr>
              <a:t>Upload creates the evidence; chat reuses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FASTAPI · ROUTE</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The first FastAPI route: let the server say “I'm here”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12</a:t>
            </a:r>
          </a:p>
        </p:txBody>
      </p:sp>
      <p:sp>
        <p:nvSpPr>
          <p:cNvPr id="14" name="圆角矩形 13"/>
          <p:cNvSpPr>
            <a:spLocks noGrp="1"/>
          </p:cNvSpPr>
          <p:nvPr/>
        </p:nvSpPr>
        <p:spPr>
          <a:xfrm>
            <a:off x="685800" y="1390650"/>
            <a:ext cx="6286500" cy="2895600"/>
          </a:xfrm>
          <a:prstGeom prst="roundRect">
            <a:avLst>
              <a:gd name="adj" fmla="val 263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5943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SMARTLEARN-BACKEND/MAIN.PY</a:t>
            </a:r>
          </a:p>
        </p:txBody>
      </p:sp>
      <p:sp>
        <p:nvSpPr>
          <p:cNvPr id="16" name="矩形 15"/>
          <p:cNvSpPr>
            <a:spLocks noGrp="1"/>
          </p:cNvSpPr>
          <p:nvPr/>
        </p:nvSpPr>
        <p:spPr>
          <a:xfrm>
            <a:off x="857250" y="1790700"/>
            <a:ext cx="5943600" cy="2381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0">
                <a:solidFill>
                  <a:srgbClr val="F1F6FA"/>
                </a:solidFill>
                <a:latin typeface="Monaco"/>
                <a:ea typeface="Monaco"/>
                <a:cs typeface="Monaco"/>
              </a:defRPr>
            </a:pPr>
            <a:r>
              <a:rPr sz="1500" b="0">
                <a:solidFill>
                  <a:srgbClr val="63B3ED"/>
                </a:solidFill>
                <a:latin typeface="Monaco"/>
                <a:ea typeface="Monaco"/>
                <a:cs typeface="Monaco"/>
              </a:rPr>
              <a:t>from</a:t>
            </a:r>
            <a:r>
              <a:rPr sz="1500" b="0">
                <a:solidFill>
                  <a:srgbClr val="F1F6FA"/>
                </a:solidFill>
                <a:latin typeface="Monaco"/>
                <a:ea typeface="Monaco"/>
                <a:cs typeface="Monaco"/>
              </a:rPr>
              <a:t> fastapi </a:t>
            </a:r>
            <a:r>
              <a:rPr sz="1500" b="0">
                <a:solidFill>
                  <a:srgbClr val="63B3ED"/>
                </a:solidFill>
                <a:latin typeface="Monaco"/>
                <a:ea typeface="Monaco"/>
                <a:cs typeface="Monaco"/>
              </a:rPr>
              <a:t>import</a:t>
            </a:r>
            <a:r>
              <a:rPr sz="1500" b="0">
                <a:solidFill>
                  <a:srgbClr val="F1F6FA"/>
                </a:solidFill>
                <a:latin typeface="Monaco"/>
                <a:ea typeface="Monaco"/>
                <a:cs typeface="Monaco"/>
              </a:rPr>
              <a:t> FastAPI</a:t>
            </a:r>
          </a:p>
          <a:p>
            <a:endParaRPr sz="1500"/>
          </a:p>
          <a:p>
            <a:pPr algn="l">
              <a:buNone/>
              <a:defRPr sz="1500" b="0">
                <a:solidFill>
                  <a:srgbClr val="F1F6FA"/>
                </a:solidFill>
                <a:latin typeface="Monaco"/>
                <a:ea typeface="Monaco"/>
                <a:cs typeface="Monaco"/>
              </a:defRPr>
            </a:pPr>
            <a:r>
              <a:rPr sz="1500" b="0">
                <a:solidFill>
                  <a:srgbClr val="F1F6FA"/>
                </a:solidFill>
                <a:latin typeface="Monaco"/>
                <a:ea typeface="Monaco"/>
                <a:cs typeface="Monaco"/>
              </a:rPr>
              <a:t>app = </a:t>
            </a:r>
            <a:r>
              <a:rPr sz="1500" b="0">
                <a:solidFill>
                  <a:srgbClr val="70D6E8"/>
                </a:solidFill>
                <a:latin typeface="Monaco"/>
                <a:ea typeface="Monaco"/>
                <a:cs typeface="Monaco"/>
              </a:rPr>
              <a:t>FastAPI</a:t>
            </a:r>
            <a:r>
              <a:rPr sz="1500" b="0">
                <a:solidFill>
                  <a:srgbClr val="F1F6FA"/>
                </a:solidFill>
                <a:latin typeface="Monaco"/>
                <a:ea typeface="Monaco"/>
                <a:cs typeface="Monaco"/>
              </a:rPr>
              <a:t>()</a:t>
            </a:r>
          </a:p>
          <a:p>
            <a:endParaRPr sz="1500"/>
          </a:p>
          <a:p>
            <a:pPr algn="l">
              <a:buNone/>
              <a:defRPr sz="1500" b="0">
                <a:solidFill>
                  <a:srgbClr val="F1F6FA"/>
                </a:solidFill>
                <a:latin typeface="Monaco"/>
                <a:ea typeface="Monaco"/>
                <a:cs typeface="Monaco"/>
              </a:defRPr>
            </a:pPr>
            <a:r>
              <a:rPr sz="1500" b="0">
                <a:solidFill>
                  <a:srgbClr val="F08DB1"/>
                </a:solidFill>
                <a:latin typeface="Monaco"/>
                <a:ea typeface="Monaco"/>
                <a:cs typeface="Monaco"/>
              </a:rPr>
              <a:t>@app.</a:t>
            </a:r>
            <a:r>
              <a:rPr sz="1500" b="0">
                <a:solidFill>
                  <a:srgbClr val="70D6E8"/>
                </a:solidFill>
                <a:latin typeface="Monaco"/>
                <a:ea typeface="Monaco"/>
                <a:cs typeface="Monaco"/>
              </a:rPr>
              <a:t>get</a:t>
            </a:r>
            <a:r>
              <a:rPr sz="1500" b="0">
                <a:solidFill>
                  <a:srgbClr val="F1F6FA"/>
                </a:solidFill>
                <a:latin typeface="Monaco"/>
                <a:ea typeface="Monaco"/>
                <a:cs typeface="Monaco"/>
              </a:rPr>
              <a:t>(</a:t>
            </a:r>
            <a:r>
              <a:rPr sz="1500" b="0">
                <a:solidFill>
                  <a:srgbClr val="F6C85F"/>
                </a:solidFill>
                <a:latin typeface="Monaco"/>
                <a:ea typeface="Monaco"/>
                <a:cs typeface="Monaco"/>
              </a:rPr>
              <a:t>"/health"</a:t>
            </a:r>
            <a:r>
              <a:rPr sz="1500" b="0">
                <a:solidFill>
                  <a:srgbClr val="F1F6FA"/>
                </a:solidFill>
                <a:latin typeface="Monaco"/>
                <a:ea typeface="Monaco"/>
                <a:cs typeface="Monaco"/>
              </a:rPr>
              <a:t>)</a:t>
            </a:r>
          </a:p>
          <a:p>
            <a:pPr algn="l">
              <a:buNone/>
              <a:defRPr sz="1500" b="0">
                <a:solidFill>
                  <a:srgbClr val="F1F6FA"/>
                </a:solidFill>
                <a:latin typeface="Monaco"/>
                <a:ea typeface="Monaco"/>
                <a:cs typeface="Monaco"/>
              </a:defRPr>
            </a:pPr>
            <a:r>
              <a:rPr sz="1500" b="0">
                <a:solidFill>
                  <a:srgbClr val="63B3ED"/>
                </a:solidFill>
                <a:latin typeface="Monaco"/>
                <a:ea typeface="Monaco"/>
                <a:cs typeface="Monaco"/>
              </a:rPr>
              <a:t>def</a:t>
            </a:r>
            <a:r>
              <a:rPr sz="1500" b="0">
                <a:solidFill>
                  <a:srgbClr val="F1F6FA"/>
                </a:solidFill>
                <a:latin typeface="Monaco"/>
                <a:ea typeface="Monaco"/>
                <a:cs typeface="Monaco"/>
              </a:rPr>
              <a:t> </a:t>
            </a:r>
            <a:r>
              <a:rPr sz="1500" b="0">
                <a:solidFill>
                  <a:srgbClr val="70D6E8"/>
                </a:solidFill>
                <a:latin typeface="Monaco"/>
                <a:ea typeface="Monaco"/>
                <a:cs typeface="Monaco"/>
              </a:rPr>
              <a:t>health</a:t>
            </a:r>
            <a:r>
              <a:rPr sz="1500" b="0">
                <a:solidFill>
                  <a:srgbClr val="F1F6FA"/>
                </a:solidFill>
                <a:latin typeface="Monaco"/>
                <a:ea typeface="Monaco"/>
                <a:cs typeface="Monaco"/>
              </a:rPr>
              <a:t>():</a:t>
            </a:r>
          </a:p>
          <a:p>
            <a:pPr algn="l">
              <a:buNone/>
              <a:defRPr sz="1500" b="0">
                <a:solidFill>
                  <a:srgbClr val="F1F6FA"/>
                </a:solidFill>
                <a:latin typeface="Monaco"/>
                <a:ea typeface="Monaco"/>
                <a:cs typeface="Monaco"/>
              </a:defRPr>
            </a:pPr>
            <a:r>
              <a:rPr sz="1500" b="0">
                <a:solidFill>
                  <a:srgbClr val="F1F6FA"/>
                </a:solidFill>
                <a:latin typeface="Monaco"/>
                <a:ea typeface="Monaco"/>
                <a:cs typeface="Monaco"/>
              </a:rPr>
              <a:t>    </a:t>
            </a:r>
            <a:r>
              <a:rPr sz="1500" b="0">
                <a:solidFill>
                  <a:srgbClr val="63B3ED"/>
                </a:solidFill>
                <a:latin typeface="Monaco"/>
                <a:ea typeface="Monaco"/>
                <a:cs typeface="Monaco"/>
              </a:rPr>
              <a:t>return</a:t>
            </a:r>
            <a:r>
              <a:rPr sz="1500" b="0">
                <a:solidFill>
                  <a:srgbClr val="F1F6FA"/>
                </a:solidFill>
                <a:latin typeface="Monaco"/>
                <a:ea typeface="Monaco"/>
                <a:cs typeface="Monaco"/>
              </a:rPr>
              <a:t> {</a:t>
            </a:r>
            <a:r>
              <a:rPr sz="1500" b="0">
                <a:solidFill>
                  <a:srgbClr val="F6C85F"/>
                </a:solidFill>
                <a:latin typeface="Monaco"/>
                <a:ea typeface="Monaco"/>
                <a:cs typeface="Monaco"/>
              </a:rPr>
              <a:t>"ok"</a:t>
            </a:r>
            <a:r>
              <a:rPr sz="1500" b="0">
                <a:solidFill>
                  <a:srgbClr val="F1F6FA"/>
                </a:solidFill>
                <a:latin typeface="Monaco"/>
                <a:ea typeface="Monaco"/>
                <a:cs typeface="Monaco"/>
              </a:rPr>
              <a:t>: </a:t>
            </a:r>
            <a:r>
              <a:rPr sz="1500" b="0">
                <a:solidFill>
                  <a:srgbClr val="F6C85F"/>
                </a:solidFill>
                <a:latin typeface="Monaco"/>
                <a:ea typeface="Monaco"/>
                <a:cs typeface="Monaco"/>
              </a:rPr>
              <a:t>True</a:t>
            </a:r>
            <a:r>
              <a:rPr sz="1500" b="0">
                <a:solidFill>
                  <a:srgbClr val="F1F6FA"/>
                </a:solidFill>
                <a:latin typeface="Monaco"/>
                <a:ea typeface="Monaco"/>
                <a:cs typeface="Monaco"/>
              </a:rPr>
              <a:t>}</a:t>
            </a:r>
          </a:p>
        </p:txBody>
      </p:sp>
      <p:sp>
        <p:nvSpPr>
          <p:cNvPr id="17" name="圆角矩形 16"/>
          <p:cNvSpPr>
            <a:spLocks noGrp="1"/>
          </p:cNvSpPr>
          <p:nvPr/>
        </p:nvSpPr>
        <p:spPr>
          <a:xfrm>
            <a:off x="7296150" y="1428750"/>
            <a:ext cx="3695700" cy="1162050"/>
          </a:xfrm>
          <a:prstGeom prst="roundRect">
            <a:avLst>
              <a:gd name="adj" fmla="val 6557"/>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505700" y="1590675"/>
            <a:ext cx="32766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WHAT IS A ROUTE?</a:t>
            </a:r>
          </a:p>
        </p:txBody>
      </p:sp>
      <p:sp>
        <p:nvSpPr>
          <p:cNvPr id="19" name="矩形 18"/>
          <p:cNvSpPr>
            <a:spLocks noGrp="1"/>
          </p:cNvSpPr>
          <p:nvPr/>
        </p:nvSpPr>
        <p:spPr>
          <a:xfrm>
            <a:off x="7505700" y="1981200"/>
            <a:ext cx="3276600" cy="476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A method + an address. Here, it is GET /health.</a:t>
            </a:r>
          </a:p>
        </p:txBody>
      </p:sp>
      <p:sp>
        <p:nvSpPr>
          <p:cNvPr id="20" name="圆角矩形 19"/>
          <p:cNvSpPr>
            <a:spLocks noGrp="1"/>
          </p:cNvSpPr>
          <p:nvPr/>
        </p:nvSpPr>
        <p:spPr>
          <a:xfrm>
            <a:off x="7296150" y="2800350"/>
            <a:ext cx="3695700" cy="1162050"/>
          </a:xfrm>
          <a:prstGeom prst="roundRect">
            <a:avLst>
              <a:gd name="adj" fmla="val 6557"/>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505700" y="2962275"/>
            <a:ext cx="32766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HOW DO YOU RUN IT?</a:t>
            </a:r>
          </a:p>
        </p:txBody>
      </p:sp>
      <p:sp>
        <p:nvSpPr>
          <p:cNvPr id="22" name="矩形 21"/>
          <p:cNvSpPr>
            <a:spLocks noGrp="1"/>
          </p:cNvSpPr>
          <p:nvPr/>
        </p:nvSpPr>
        <p:spPr>
          <a:xfrm>
            <a:off x="7505700" y="3352800"/>
            <a:ext cx="3276600" cy="476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uvicorn main:app --reload</a:t>
            </a:r>
          </a:p>
          <a:p>
            <a:pPr algn="l">
              <a:buNone/>
              <a:defRPr sz="1200" b="0">
                <a:solidFill>
                  <a:srgbClr val="637788"/>
                </a:solidFill>
                <a:latin typeface="Lato"/>
                <a:ea typeface="Lato"/>
                <a:cs typeface="Lato"/>
              </a:defRPr>
            </a:pPr>
            <a:r>
              <a:rPr sz="1200" b="0">
                <a:solidFill>
                  <a:srgbClr val="637788"/>
                </a:solidFill>
                <a:latin typeface="Lato"/>
                <a:ea typeface="Lato"/>
                <a:cs typeface="Lato"/>
              </a:rPr>
              <a:t>Then open /health.</a:t>
            </a:r>
          </a:p>
        </p:txBody>
      </p:sp>
      <p:sp>
        <p:nvSpPr>
          <p:cNvPr id="23" name="圆角矩形 22"/>
          <p:cNvSpPr>
            <a:spLocks noGrp="1"/>
          </p:cNvSpPr>
          <p:nvPr/>
        </p:nvSpPr>
        <p:spPr>
          <a:xfrm>
            <a:off x="7296150" y="4171950"/>
            <a:ext cx="3695700" cy="762000"/>
          </a:xfrm>
          <a:prstGeom prst="roundRect">
            <a:avLst>
              <a:gd name="adj" fmla="val 10000"/>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505700" y="4257675"/>
            <a:ext cx="32766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WHAT COUNTS AS PASSING?</a:t>
            </a:r>
          </a:p>
        </p:txBody>
      </p:sp>
      <p:sp>
        <p:nvSpPr>
          <p:cNvPr id="25" name="矩形 24"/>
          <p:cNvSpPr>
            <a:spLocks noGrp="1"/>
          </p:cNvSpPr>
          <p:nvPr/>
        </p:nvSpPr>
        <p:spPr>
          <a:xfrm>
            <a:off x="7505700" y="4495800"/>
            <a:ext cx="327660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200  {"ok": true}</a:t>
            </a:r>
          </a:p>
        </p:txBody>
      </p:sp>
      <p:sp>
        <p:nvSpPr>
          <p:cNvPr id="26" name="圆角矩形 25"/>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Enter the actual startup command</a:t>
            </a:r>
          </a:p>
        </p:txBody>
      </p:sp>
      <p:sp>
        <p:nvSpPr>
          <p:cNvPr id="29" name="圆角矩形 28"/>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Swagger + /health open successfully</a:t>
            </a:r>
          </a:p>
        </p:txBody>
      </p:sp>
      <p:sp>
        <p:nvSpPr>
          <p:cNvPr id="32" name="圆角矩形 31"/>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Failure → read the first backend error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FASTAPI · PYDANTIC</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Pydantic: define the shape of a question first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13</a:t>
            </a:r>
          </a:p>
        </p:txBody>
      </p:sp>
      <p:sp>
        <p:nvSpPr>
          <p:cNvPr id="14" name="圆角矩形 13"/>
          <p:cNvSpPr>
            <a:spLocks noGrp="1"/>
          </p:cNvSpPr>
          <p:nvPr/>
        </p:nvSpPr>
        <p:spPr>
          <a:xfrm>
            <a:off x="685800" y="1390650"/>
            <a:ext cx="6000750" cy="3124200"/>
          </a:xfrm>
          <a:prstGeom prst="roundRect">
            <a:avLst>
              <a:gd name="adj" fmla="val 2439"/>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56578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MAIN.PY · DEFINE THE INPUT FIRST; /CHAT IS REGISTERED ONCE ON SLIDE 19</a:t>
            </a:r>
          </a:p>
        </p:txBody>
      </p:sp>
      <p:sp>
        <p:nvSpPr>
          <p:cNvPr id="16" name="矩形 15"/>
          <p:cNvSpPr>
            <a:spLocks noGrp="1"/>
          </p:cNvSpPr>
          <p:nvPr/>
        </p:nvSpPr>
        <p:spPr>
          <a:xfrm>
            <a:off x="857250" y="1790700"/>
            <a:ext cx="5657850" cy="2609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F1F6FA"/>
                </a:solidFill>
                <a:latin typeface="Monaco"/>
                <a:ea typeface="Monaco"/>
                <a:cs typeface="Monaco"/>
              </a:defRPr>
            </a:pPr>
            <a:r>
              <a:rPr sz="1350" b="0">
                <a:solidFill>
                  <a:srgbClr val="63B3ED"/>
                </a:solidFill>
                <a:latin typeface="Monaco"/>
                <a:ea typeface="Monaco"/>
                <a:cs typeface="Monaco"/>
              </a:rPr>
              <a:t>from</a:t>
            </a:r>
            <a:r>
              <a:rPr sz="1350" b="0">
                <a:solidFill>
                  <a:srgbClr val="F1F6FA"/>
                </a:solidFill>
                <a:latin typeface="Monaco"/>
                <a:ea typeface="Monaco"/>
                <a:cs typeface="Monaco"/>
              </a:rPr>
              <a:t> pydantic </a:t>
            </a:r>
            <a:r>
              <a:rPr sz="1350" b="0">
                <a:solidFill>
                  <a:srgbClr val="63B3ED"/>
                </a:solidFill>
                <a:latin typeface="Monaco"/>
                <a:ea typeface="Monaco"/>
                <a:cs typeface="Monaco"/>
              </a:rPr>
              <a:t>import</a:t>
            </a:r>
            <a:r>
              <a:rPr sz="1350" b="0">
                <a:solidFill>
                  <a:srgbClr val="F1F6FA"/>
                </a:solidFill>
                <a:latin typeface="Monaco"/>
                <a:ea typeface="Monaco"/>
                <a:cs typeface="Monaco"/>
              </a:rPr>
              <a:t> BaseModel, Field</a:t>
            </a:r>
          </a:p>
          <a:p>
            <a:endParaRPr sz="1350"/>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Classroom request contract (</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One stable classroom ID: </a:t>
            </a:r>
            <a:r>
              <a:rPr sz="1350" b="0">
                <a:solidFill>
                  <a:srgbClr val="72AD47"/>
                </a:solidFill>
                <a:latin typeface="Monaco"/>
                <a:ea typeface="Monaco"/>
                <a:cs typeface="Monaco"/>
              </a:rPr>
              <a:t>day2-demo</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Bound message length: </a:t>
            </a:r>
            <a:r>
              <a:rPr sz="1350" b="0">
                <a:solidFill>
                  <a:srgbClr val="A7E3A1"/>
                </a:solidFill>
                <a:latin typeface="Monaco"/>
                <a:ea typeface="Monaco"/>
                <a:cs typeface="Monaco"/>
              </a:rPr>
              <a:t>2..2000</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a:t>
            </a:r>
          </a:p>
          <a:p>
            <a:endParaRPr sz="1350"/>
          </a:p>
          <a:p>
            <a:pPr algn="l">
              <a:buNone/>
              <a:defRPr sz="1350" b="0">
                <a:solidFill>
                  <a:srgbClr val="F1F6FA"/>
                </a:solidFill>
                <a:latin typeface="Monaco"/>
                <a:ea typeface="Monaco"/>
                <a:cs typeface="Monaco"/>
              </a:defRPr>
            </a:pPr>
            <a:r>
              <a:rPr sz="1350" b="0">
                <a:solidFill>
                  <a:srgbClr val="63B3ED"/>
                </a:solidFill>
                <a:latin typeface="Monaco"/>
                <a:ea typeface="Monaco"/>
                <a:cs typeface="Monaco"/>
              </a:rPr>
              <a:t>class</a:t>
            </a:r>
            <a:r>
              <a:rPr sz="1350" b="0">
                <a:solidFill>
                  <a:srgbClr val="F1F6FA"/>
                </a:solidFill>
                <a:latin typeface="Monaco"/>
                <a:ea typeface="Monaco"/>
                <a:cs typeface="Monaco"/>
              </a:rPr>
              <a:t> </a:t>
            </a:r>
            <a:r>
              <a:rPr sz="1350" b="0">
                <a:solidFill>
                  <a:srgbClr val="70D6E8"/>
                </a:solidFill>
                <a:latin typeface="Monaco"/>
                <a:ea typeface="Monaco"/>
                <a:cs typeface="Monaco"/>
              </a:rPr>
              <a:t>ChatRequest</a:t>
            </a:r>
            <a:r>
              <a:rPr sz="1350" b="0">
                <a:solidFill>
                  <a:srgbClr val="F1F6FA"/>
                </a:solidFill>
                <a:latin typeface="Monaco"/>
                <a:ea typeface="Monaco"/>
                <a:cs typeface="Monaco"/>
              </a:rPr>
              <a:t>(BaseModel):</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chat_id: str = "day2-demo"</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message: str = Field(min_length=2, max_length=2000)</a:t>
            </a:r>
          </a:p>
        </p:txBody>
      </p:sp>
      <p:sp>
        <p:nvSpPr>
          <p:cNvPr id="17" name="圆角矩形 16"/>
          <p:cNvSpPr>
            <a:spLocks noGrp="1"/>
          </p:cNvSpPr>
          <p:nvPr/>
        </p:nvSpPr>
        <p:spPr>
          <a:xfrm>
            <a:off x="7029450" y="1428750"/>
            <a:ext cx="3962400" cy="1028700"/>
          </a:xfrm>
          <a:prstGeom prst="roundRect">
            <a:avLst>
              <a:gd name="adj" fmla="val 7407"/>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239000" y="1590675"/>
            <a:ext cx="35433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BaseModel</a:t>
            </a:r>
          </a:p>
        </p:txBody>
      </p:sp>
      <p:sp>
        <p:nvSpPr>
          <p:cNvPr id="19" name="矩形 18"/>
          <p:cNvSpPr>
            <a:spLocks noGrp="1"/>
          </p:cNvSpPr>
          <p:nvPr/>
        </p:nvSpPr>
        <p:spPr>
          <a:xfrm>
            <a:off x="7239000" y="1981200"/>
            <a:ext cx="35433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Turn JSON into a validated Python object.</a:t>
            </a:r>
          </a:p>
        </p:txBody>
      </p:sp>
      <p:sp>
        <p:nvSpPr>
          <p:cNvPr id="20" name="圆角矩形 19"/>
          <p:cNvSpPr>
            <a:spLocks noGrp="1"/>
          </p:cNvSpPr>
          <p:nvPr/>
        </p:nvSpPr>
        <p:spPr>
          <a:xfrm>
            <a:off x="7029450" y="2667000"/>
            <a:ext cx="3962400" cy="1028700"/>
          </a:xfrm>
          <a:prstGeom prst="roundRect">
            <a:avLst>
              <a:gd name="adj" fmla="val 7407"/>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239000" y="2828925"/>
            <a:ext cx="35433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Field(...)</a:t>
            </a:r>
          </a:p>
        </p:txBody>
      </p:sp>
      <p:sp>
        <p:nvSpPr>
          <p:cNvPr id="22" name="矩形 21"/>
          <p:cNvSpPr>
            <a:spLocks noGrp="1"/>
          </p:cNvSpPr>
          <p:nvPr/>
        </p:nvSpPr>
        <p:spPr>
          <a:xfrm>
            <a:off x="7239000" y="3219450"/>
            <a:ext cx="35433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Default chat_id to day2-demo; accept messages only from 2 to 2000 characters.</a:t>
            </a:r>
          </a:p>
        </p:txBody>
      </p:sp>
      <p:sp>
        <p:nvSpPr>
          <p:cNvPr id="23" name="圆角矩形 22"/>
          <p:cNvSpPr>
            <a:spLocks noGrp="1"/>
          </p:cNvSpPr>
          <p:nvPr/>
        </p:nvSpPr>
        <p:spPr>
          <a:xfrm>
            <a:off x="7029450" y="3905250"/>
            <a:ext cx="3962400" cy="1028700"/>
          </a:xfrm>
          <a:prstGeom prst="roundRect">
            <a:avLst>
              <a:gd name="adj" fmla="val 7407"/>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239000" y="4067175"/>
            <a:ext cx="35433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SWAGGER IS GENERATED AUTOMATICALLY</a:t>
            </a:r>
          </a:p>
        </p:txBody>
      </p:sp>
      <p:sp>
        <p:nvSpPr>
          <p:cNvPr id="25" name="矩形 24"/>
          <p:cNvSpPr>
            <a:spLocks noGrp="1"/>
          </p:cNvSpPr>
          <p:nvPr/>
        </p:nvSpPr>
        <p:spPr>
          <a:xfrm>
            <a:off x="7239000" y="4457700"/>
            <a:ext cx="35433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You can see the fields directly, try a request, and observe a 422 response.</a:t>
            </a:r>
          </a:p>
        </p:txBody>
      </p:sp>
      <p:sp>
        <p:nvSpPr>
          <p:cNvPr id="26" name="圆角矩形 25"/>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fontScale="92500"/>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Send valid JSON, then try a 1-character and a 2001-character message</a:t>
            </a:r>
          </a:p>
        </p:txBody>
      </p:sp>
      <p:sp>
        <p:nvSpPr>
          <p:cNvPr id="29" name="圆角矩形 28"/>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Valid request accepted; invalid message length returns 422</a:t>
            </a:r>
          </a:p>
        </p:txBody>
      </p:sp>
      <p:sp>
        <p:nvSpPr>
          <p:cNvPr id="32" name="圆角矩形 31"/>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Wrong field → inspect the request body first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3B74"/>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003B74"/>
          </a:solidFill>
          <a:ln w="9525">
            <a:solidFill>
              <a:srgbClr val="003B74"/>
            </a:solidFill>
            <a:prstDash val="solid"/>
          </a:ln>
        </p:spPr>
        <p:txBody>
          <a:bodyPr/>
          <a:lstStyle/>
          <a:p>
            <a:endParaRPr/>
          </a:p>
        </p:txBody>
      </p:sp>
      <p:sp>
        <p:nvSpPr>
          <p:cNvPr id="2" name="矩形 1"/>
          <p:cNvSpPr>
            <a:spLocks noGrp="1"/>
          </p:cNvSpPr>
          <p:nvPr/>
        </p:nvSpPr>
        <p:spPr>
          <a:xfrm>
            <a:off x="0" y="2571750"/>
            <a:ext cx="190500" cy="1143000"/>
          </a:xfrm>
          <a:prstGeom prst="rect">
            <a:avLst/>
          </a:prstGeom>
          <a:solidFill>
            <a:srgbClr val="00467F"/>
          </a:solidFill>
          <a:ln w="9525">
            <a:solidFill>
              <a:srgbClr val="00467F"/>
            </a:solidFill>
            <a:prstDash val="solid"/>
          </a:ln>
        </p:spPr>
        <p:txBody>
          <a:bodyPr/>
          <a:lstStyle/>
          <a:p>
            <a:endParaRPr/>
          </a:p>
        </p:txBody>
      </p:sp>
      <p:sp>
        <p:nvSpPr>
          <p:cNvPr id="3" name="矩形 2"/>
          <p:cNvSpPr>
            <a:spLocks noGrp="1"/>
          </p:cNvSpPr>
          <p:nvPr/>
        </p:nvSpPr>
        <p:spPr>
          <a:xfrm>
            <a:off x="781050" y="220980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D8E6EF"/>
                </a:solidFill>
                <a:latin typeface="Lato"/>
                <a:ea typeface="Lato"/>
                <a:cs typeface="Lato"/>
              </a:defRPr>
            </a:pPr>
            <a:r>
              <a:rPr sz="975" b="1">
                <a:solidFill>
                  <a:srgbClr val="D8E6EF"/>
                </a:solidFill>
                <a:latin typeface="Lato"/>
                <a:ea typeface="Lato"/>
                <a:cs typeface="Lato"/>
              </a:rPr>
              <a:t>PDF AS EVIDENCE</a:t>
            </a:r>
          </a:p>
        </p:txBody>
      </p:sp>
      <p:sp>
        <p:nvSpPr>
          <p:cNvPr id="4" name="矩形 3"/>
          <p:cNvSpPr>
            <a:spLocks noGrp="1"/>
          </p:cNvSpPr>
          <p:nvPr/>
        </p:nvSpPr>
        <p:spPr>
          <a:xfrm>
            <a:off x="781050" y="2647950"/>
            <a:ext cx="9982200" cy="1066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300" b="1">
                <a:solidFill>
                  <a:srgbClr val="FFFFFF"/>
                </a:solidFill>
                <a:latin typeface="Lato"/>
                <a:ea typeface="Lato"/>
                <a:cs typeface="Lato"/>
              </a:defRPr>
            </a:pPr>
            <a:r>
              <a:rPr sz="3300" b="1">
                <a:solidFill>
                  <a:srgbClr val="FFFFFF"/>
                </a:solidFill>
                <a:latin typeface="Lato"/>
                <a:ea typeface="Lato"/>
                <a:cs typeface="Lato"/>
              </a:rPr>
              <a:t>Core concept 2 | How page numbers become evidence</a:t>
            </a:r>
          </a:p>
        </p:txBody>
      </p:sp>
      <p:sp>
        <p:nvSpPr>
          <p:cNvPr id="5" name="矩形 4"/>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D8E6EF"/>
                </a:solidFill>
                <a:latin typeface="Lato"/>
                <a:ea typeface="Lato"/>
                <a:cs typeface="Lato"/>
              </a:defRPr>
            </a:pPr>
            <a:r>
              <a:rPr sz="825" b="1">
                <a:solidFill>
                  <a:srgbClr val="D8E6EF"/>
                </a:solidFill>
                <a:latin typeface="Lato"/>
                <a:ea typeface="Lato"/>
                <a:cs typeface="Lato"/>
              </a:rPr>
              <a:t>TEACHER CORE · 22–24 MIN</a:t>
            </a:r>
          </a:p>
        </p:txBody>
      </p:sp>
      <p:sp>
        <p:nvSpPr>
          <p:cNvPr id="6" name="矩形 5"/>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9658350" y="647700"/>
            <a:ext cx="400050" cy="28575"/>
          </a:xfrm>
          <a:prstGeom prst="rect">
            <a:avLst/>
          </a:prstGeom>
          <a:solidFill>
            <a:srgbClr val="7FA0B9"/>
          </a:solidFill>
          <a:ln w="9525">
            <a:solidFill>
              <a:srgbClr val="7FA0B9"/>
            </a:solidFill>
            <a:prstDash val="solid"/>
          </a:ln>
        </p:spPr>
        <p:txBody>
          <a:bodyPr/>
          <a:lstStyle/>
          <a:p>
            <a:endParaRPr/>
          </a:p>
        </p:txBody>
      </p:sp>
      <p:sp>
        <p:nvSpPr>
          <p:cNvPr id="9" name="矩形 8"/>
          <p:cNvSpPr>
            <a:spLocks noGrp="1"/>
          </p:cNvSpPr>
          <p:nvPr/>
        </p:nvSpPr>
        <p:spPr>
          <a:xfrm>
            <a:off x="10153650" y="647700"/>
            <a:ext cx="400050" cy="28575"/>
          </a:xfrm>
          <a:prstGeom prst="rect">
            <a:avLst/>
          </a:prstGeom>
          <a:solidFill>
            <a:srgbClr val="7FA0B9"/>
          </a:solidFill>
          <a:ln w="9525">
            <a:solidFill>
              <a:srgbClr val="7FA0B9"/>
            </a:solidFill>
            <a:prstDash val="solid"/>
          </a:ln>
        </p:spPr>
        <p:txBody>
          <a:bodyPr/>
          <a:lstStyle/>
          <a:p>
            <a:endParaRPr/>
          </a:p>
        </p:txBody>
      </p:sp>
      <p:sp>
        <p:nvSpPr>
          <p:cNvPr id="10" name="矩形 9"/>
          <p:cNvSpPr>
            <a:spLocks noGrp="1"/>
          </p:cNvSpPr>
          <p:nvPr/>
        </p:nvSpPr>
        <p:spPr>
          <a:xfrm>
            <a:off x="10648950" y="647700"/>
            <a:ext cx="400050" cy="28575"/>
          </a:xfrm>
          <a:prstGeom prst="rect">
            <a:avLst/>
          </a:prstGeom>
          <a:solidFill>
            <a:srgbClr val="7FA0B9"/>
          </a:solidFill>
          <a:ln w="9525">
            <a:solidFill>
              <a:srgbClr val="7FA0B9"/>
            </a:solidFill>
            <a:prstDash val="solid"/>
          </a:ln>
        </p:spPr>
        <p:txBody>
          <a:bodyPr/>
          <a:lstStyle/>
          <a:p>
            <a:endParaRP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14</a:t>
            </a:r>
          </a:p>
        </p:txBody>
      </p:sp>
      <p:sp>
        <p:nvSpPr>
          <p:cNvPr id="15" name="矩形 14"/>
          <p:cNvSpPr>
            <a:spLocks noGrp="1"/>
          </p:cNvSpPr>
          <p:nvPr/>
        </p:nvSpPr>
        <p:spPr>
          <a:xfrm>
            <a:off x="781050" y="1600200"/>
            <a:ext cx="24765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D6E6F3"/>
                </a:solidFill>
                <a:latin typeface="Lato"/>
                <a:ea typeface="Lato"/>
                <a:cs typeface="Lato"/>
              </a:defRPr>
            </a:pPr>
            <a:r>
              <a:rPr sz="1200" b="1">
                <a:solidFill>
                  <a:srgbClr val="D6E6F3"/>
                </a:solidFill>
                <a:latin typeface="Lato"/>
                <a:ea typeface="Lato"/>
                <a:cs typeface="Lato"/>
              </a:rPr>
              <a:t>SECTION 02</a:t>
            </a:r>
          </a:p>
        </p:txBody>
      </p:sp>
      <p:sp>
        <p:nvSpPr>
          <p:cNvPr id="16" name="矩形 15"/>
          <p:cNvSpPr>
            <a:spLocks noGrp="1"/>
          </p:cNvSpPr>
          <p:nvPr/>
        </p:nvSpPr>
        <p:spPr>
          <a:xfrm>
            <a:off x="781050" y="3905250"/>
            <a:ext cx="9296400" cy="476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650" b="0">
                <a:solidFill>
                  <a:srgbClr val="E1EBF2"/>
                </a:solidFill>
                <a:latin typeface="Lato"/>
                <a:ea typeface="Lato"/>
                <a:cs typeface="Lato"/>
              </a:defRPr>
            </a:pPr>
            <a:r>
              <a:rPr sz="1650" b="0">
                <a:solidFill>
                  <a:srgbClr val="E1EBF2"/>
                </a:solidFill>
                <a:latin typeface="Lato"/>
                <a:ea typeface="Lato"/>
                <a:cs typeface="Lato"/>
              </a:rPr>
              <a:t>Read the text on every page first, then make each answer traceable to the source.</a:t>
            </a:r>
          </a:p>
        </p:txBody>
      </p:sp>
      <p:sp>
        <p:nvSpPr>
          <p:cNvPr id="17" name="圆角矩形 16"/>
          <p:cNvSpPr>
            <a:spLocks noGrp="1"/>
          </p:cNvSpPr>
          <p:nvPr/>
        </p:nvSpPr>
        <p:spPr>
          <a:xfrm>
            <a:off x="7810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18" name="矩形 17"/>
          <p:cNvSpPr>
            <a:spLocks noGrp="1"/>
          </p:cNvSpPr>
          <p:nvPr/>
        </p:nvSpPr>
        <p:spPr>
          <a:xfrm>
            <a:off x="9525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WHY</a:t>
            </a:r>
          </a:p>
        </p:txBody>
      </p:sp>
      <p:sp>
        <p:nvSpPr>
          <p:cNvPr id="19" name="矩形 18"/>
          <p:cNvSpPr>
            <a:spLocks noGrp="1"/>
          </p:cNvSpPr>
          <p:nvPr/>
        </p:nvSpPr>
        <p:spPr>
          <a:xfrm>
            <a:off x="9525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Without readable text, there are no reliable page references.</a:t>
            </a:r>
          </a:p>
        </p:txBody>
      </p:sp>
      <p:sp>
        <p:nvSpPr>
          <p:cNvPr id="20" name="圆角矩形 19"/>
          <p:cNvSpPr>
            <a:spLocks noGrp="1"/>
          </p:cNvSpPr>
          <p:nvPr/>
        </p:nvSpPr>
        <p:spPr>
          <a:xfrm>
            <a:off x="426720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1" name="矩形 20"/>
          <p:cNvSpPr>
            <a:spLocks noGrp="1"/>
          </p:cNvSpPr>
          <p:nvPr/>
        </p:nvSpPr>
        <p:spPr>
          <a:xfrm>
            <a:off x="443865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WHAT TO LEARN</a:t>
            </a:r>
          </a:p>
        </p:txBody>
      </p:sp>
      <p:sp>
        <p:nvSpPr>
          <p:cNvPr id="22" name="矩形 21"/>
          <p:cNvSpPr>
            <a:spLocks noGrp="1"/>
          </p:cNvSpPr>
          <p:nvPr/>
        </p:nvSpPr>
        <p:spPr>
          <a:xfrm>
            <a:off x="4438650" y="5105400"/>
            <a:ext cx="2957195" cy="3429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Page-by-page parsing, input boundaries, and stopping when evidence is insufficient.</a:t>
            </a:r>
          </a:p>
        </p:txBody>
      </p:sp>
      <p:sp>
        <p:nvSpPr>
          <p:cNvPr id="23" name="圆角矩形 22"/>
          <p:cNvSpPr>
            <a:spLocks noGrp="1"/>
          </p:cNvSpPr>
          <p:nvPr/>
        </p:nvSpPr>
        <p:spPr>
          <a:xfrm>
            <a:off x="77533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4" name="矩形 23"/>
          <p:cNvSpPr>
            <a:spLocks noGrp="1"/>
          </p:cNvSpPr>
          <p:nvPr/>
        </p:nvSpPr>
        <p:spPr>
          <a:xfrm>
            <a:off x="79248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PASS CRITERIA</a:t>
            </a:r>
          </a:p>
        </p:txBody>
      </p:sp>
      <p:sp>
        <p:nvSpPr>
          <p:cNvPr id="25" name="矩形 24"/>
          <p:cNvSpPr>
            <a:spLocks noGrp="1"/>
          </p:cNvSpPr>
          <p:nvPr/>
        </p:nvSpPr>
        <p:spPr>
          <a:xfrm>
            <a:off x="79248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Explain why an answer points to a particular page.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FASTAPI · /UPLOAD?CHAT_ID</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UploadFile: send the PDF to the backend first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15</a:t>
            </a:r>
          </a:p>
        </p:txBody>
      </p:sp>
      <p:sp>
        <p:nvSpPr>
          <p:cNvPr id="14" name="圆角矩形 13"/>
          <p:cNvSpPr>
            <a:spLocks noGrp="1"/>
          </p:cNvSpPr>
          <p:nvPr/>
        </p:nvSpPr>
        <p:spPr>
          <a:xfrm>
            <a:off x="685800" y="1390650"/>
            <a:ext cx="6419850" cy="3600450"/>
          </a:xfrm>
          <a:prstGeom prst="roundRect">
            <a:avLst>
              <a:gd name="adj" fmla="val 2116"/>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60769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MAIN.PY · FOLLOW FOUR GATES: TYPE → READ → PARSE → STORE IN MEMORY</a:t>
            </a:r>
          </a:p>
        </p:txBody>
      </p:sp>
      <p:sp>
        <p:nvSpPr>
          <p:cNvPr id="16" name="矩形 15"/>
          <p:cNvSpPr>
            <a:spLocks noGrp="1"/>
          </p:cNvSpPr>
          <p:nvPr/>
        </p:nvSpPr>
        <p:spPr>
          <a:xfrm>
            <a:off x="857250" y="1790700"/>
            <a:ext cx="6076950" cy="3086100"/>
          </a:xfrm>
          <a:prstGeom prst="rect">
            <a:avLst/>
          </a:prstGeom>
          <a:solidFill>
            <a:srgbClr val="FFFFFF">
              <a:alpha val="0"/>
            </a:srgbClr>
          </a:solidFill>
          <a:ln w="0">
            <a:solidFill>
              <a:srgbClr val="000000">
                <a:alpha val="0"/>
              </a:srgbClr>
            </a:solidFill>
            <a:prstDash val="solid"/>
          </a:ln>
        </p:spPr>
        <p:txBody>
          <a:bodyPr lIns="0" tIns="0" rIns="0" bIns="0" anchor="t">
            <a:normAutofit fontScale="98901"/>
          </a:bodyPr>
          <a:lstStyle/>
          <a:p>
            <a:pPr algn="l">
              <a:buNone/>
              <a:defRPr sz="975" b="0">
                <a:solidFill>
                  <a:srgbClr val="F1F6FA"/>
                </a:solidFill>
                <a:latin typeface="Monaco"/>
                <a:ea typeface="Monaco"/>
                <a:cs typeface="Monaco"/>
              </a:defRPr>
            </a:pPr>
            <a:r>
              <a:rPr sz="975" b="0">
                <a:solidFill>
                  <a:srgbClr val="F08DB1"/>
                </a:solidFill>
                <a:latin typeface="Monaco"/>
                <a:ea typeface="Monaco"/>
                <a:cs typeface="Monaco"/>
              </a:rPr>
              <a:t>@app.</a:t>
            </a:r>
            <a:r>
              <a:rPr sz="975" b="0">
                <a:solidFill>
                  <a:srgbClr val="70D6E8"/>
                </a:solidFill>
                <a:latin typeface="Monaco"/>
                <a:ea typeface="Monaco"/>
                <a:cs typeface="Monaco"/>
              </a:rPr>
              <a:t>post</a:t>
            </a:r>
            <a:r>
              <a:rPr sz="975" b="0">
                <a:solidFill>
                  <a:srgbClr val="F1F6FA"/>
                </a:solidFill>
                <a:latin typeface="Monaco"/>
                <a:ea typeface="Monaco"/>
                <a:cs typeface="Monaco"/>
              </a:rPr>
              <a:t>(</a:t>
            </a:r>
            <a:r>
              <a:rPr sz="975" b="0">
                <a:solidFill>
                  <a:srgbClr val="F6C85F"/>
                </a:solidFill>
                <a:latin typeface="Monaco"/>
                <a:ea typeface="Monaco"/>
                <a:cs typeface="Monaco"/>
              </a:rPr>
              <a:t>"/upload"</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63B3ED"/>
                </a:solidFill>
                <a:latin typeface="Monaco"/>
                <a:ea typeface="Monaco"/>
                <a:cs typeface="Monaco"/>
              </a:rPr>
              <a:t>async</a:t>
            </a:r>
            <a:r>
              <a:rPr sz="975" b="0">
                <a:solidFill>
                  <a:srgbClr val="F1F6FA"/>
                </a:solidFill>
                <a:latin typeface="Monaco"/>
                <a:ea typeface="Monaco"/>
                <a:cs typeface="Monaco"/>
              </a:rPr>
              <a:t> </a:t>
            </a:r>
            <a:r>
              <a:rPr sz="975" b="0">
                <a:solidFill>
                  <a:srgbClr val="63B3ED"/>
                </a:solidFill>
                <a:latin typeface="Monaco"/>
                <a:ea typeface="Monaco"/>
                <a:cs typeface="Monaco"/>
              </a:rPr>
              <a:t>def</a:t>
            </a:r>
            <a:r>
              <a:rPr sz="975" b="0">
                <a:solidFill>
                  <a:srgbClr val="F1F6FA"/>
                </a:solidFill>
                <a:latin typeface="Monaco"/>
                <a:ea typeface="Monaco"/>
                <a:cs typeface="Monaco"/>
              </a:rPr>
              <a:t> </a:t>
            </a:r>
            <a:r>
              <a:rPr sz="975" b="0">
                <a:solidFill>
                  <a:srgbClr val="70D6E8"/>
                </a:solidFill>
                <a:latin typeface="Monaco"/>
                <a:ea typeface="Monaco"/>
                <a:cs typeface="Monaco"/>
              </a:rPr>
              <a:t>upload</a:t>
            </a:r>
            <a:r>
              <a:rPr sz="975" b="0">
                <a:solidFill>
                  <a:srgbClr val="F1F6FA"/>
                </a:solidFill>
                <a:latin typeface="Monaco"/>
                <a:ea typeface="Monaco"/>
                <a:cs typeface="Monaco"/>
              </a:rPr>
              <a:t>(chat_id: str, file: UploadFile):</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63B3ED"/>
                </a:solidFill>
                <a:latin typeface="Monaco"/>
                <a:ea typeface="Monaco"/>
                <a:cs typeface="Monaco"/>
              </a:rPr>
              <a:t>if</a:t>
            </a:r>
            <a:r>
              <a:rPr sz="975" b="0">
                <a:solidFill>
                  <a:srgbClr val="F1F6FA"/>
                </a:solidFill>
                <a:latin typeface="Monaco"/>
                <a:ea typeface="Monaco"/>
                <a:cs typeface="Monaco"/>
              </a:rPr>
              <a:t> file.content_type != </a:t>
            </a:r>
            <a:r>
              <a:rPr sz="975" b="0">
                <a:solidFill>
                  <a:srgbClr val="F6C85F"/>
                </a:solidFill>
                <a:latin typeface="Monaco"/>
                <a:ea typeface="Monaco"/>
                <a:cs typeface="Monaco"/>
              </a:rPr>
              <a:t>"application/pdf"</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63B3ED"/>
                </a:solidFill>
                <a:latin typeface="Monaco"/>
                <a:ea typeface="Monaco"/>
                <a:cs typeface="Monaco"/>
              </a:rPr>
              <a:t>raise</a:t>
            </a:r>
            <a:r>
              <a:rPr sz="975" b="0">
                <a:solidFill>
                  <a:srgbClr val="F1F6FA"/>
                </a:solidFill>
                <a:latin typeface="Monaco"/>
                <a:ea typeface="Monaco"/>
                <a:cs typeface="Monaco"/>
              </a:rPr>
              <a:t> </a:t>
            </a:r>
            <a:r>
              <a:rPr sz="975" b="0">
                <a:solidFill>
                  <a:srgbClr val="FF8A7D"/>
                </a:solidFill>
                <a:latin typeface="Monaco"/>
                <a:ea typeface="Monaco"/>
                <a:cs typeface="Monaco"/>
              </a:rPr>
              <a:t>HTTPException</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status_code=</a:t>
            </a:r>
            <a:r>
              <a:rPr sz="975" b="0">
                <a:solidFill>
                  <a:srgbClr val="A7E3A1"/>
                </a:solidFill>
                <a:latin typeface="Monaco"/>
                <a:ea typeface="Monaco"/>
                <a:cs typeface="Monaco"/>
              </a:rPr>
              <a:t>400</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detail=</a:t>
            </a:r>
            <a:r>
              <a:rPr sz="975" b="0">
                <a:solidFill>
                  <a:srgbClr val="F6C85F"/>
                </a:solidFill>
                <a:latin typeface="Monaco"/>
                <a:ea typeface="Monaco"/>
                <a:cs typeface="Monaco"/>
              </a:rPr>
              <a:t>"Please upload a PDF"</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p>
          <a:p>
            <a:endParaRPr sz="975"/>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data = </a:t>
            </a:r>
            <a:r>
              <a:rPr sz="975" b="0">
                <a:solidFill>
                  <a:srgbClr val="63B3ED"/>
                </a:solidFill>
                <a:latin typeface="Monaco"/>
                <a:ea typeface="Monaco"/>
                <a:cs typeface="Monaco"/>
              </a:rPr>
              <a:t>await</a:t>
            </a:r>
            <a:r>
              <a:rPr sz="975" b="0">
                <a:solidFill>
                  <a:srgbClr val="F1F6FA"/>
                </a:solidFill>
                <a:latin typeface="Monaco"/>
                <a:ea typeface="Monaco"/>
                <a:cs typeface="Monaco"/>
              </a:rPr>
              <a:t> file.</a:t>
            </a:r>
            <a:r>
              <a:rPr sz="975" b="0">
                <a:solidFill>
                  <a:srgbClr val="70D6E8"/>
                </a:solidFill>
                <a:latin typeface="Monaco"/>
                <a:ea typeface="Monaco"/>
                <a:cs typeface="Monaco"/>
              </a:rPr>
              <a:t>read</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70D6E8"/>
                </a:solidFill>
                <a:latin typeface="Monaco"/>
                <a:ea typeface="Monaco"/>
                <a:cs typeface="Monaco"/>
              </a:rPr>
              <a:t>if</a:t>
            </a:r>
            <a:r>
              <a:rPr sz="975" b="0">
                <a:solidFill>
                  <a:srgbClr val="F1F6FA"/>
                </a:solidFill>
                <a:latin typeface="Monaco"/>
                <a:ea typeface="Monaco"/>
                <a:cs typeface="Monaco"/>
              </a:rPr>
              <a:t>(</a:t>
            </a:r>
            <a:r>
              <a:rPr sz="975" b="0">
                <a:solidFill>
                  <a:srgbClr val="70D6E8"/>
                </a:solidFill>
                <a:latin typeface="Monaco"/>
                <a:ea typeface="Monaco"/>
                <a:cs typeface="Monaco"/>
              </a:rPr>
              <a:t>not data</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70D6E8"/>
                </a:solidFill>
                <a:latin typeface="Monaco"/>
                <a:ea typeface="Monaco"/>
                <a:cs typeface="Monaco"/>
              </a:rPr>
              <a:t>raise HTTPException</a:t>
            </a:r>
            <a:r>
              <a:rPr sz="975" b="0">
                <a:solidFill>
                  <a:srgbClr val="F1F6FA"/>
                </a:solidFill>
                <a:latin typeface="Monaco"/>
                <a:ea typeface="Monaco"/>
                <a:cs typeface="Monaco"/>
              </a:rPr>
              <a:t>(</a:t>
            </a:r>
            <a:r>
              <a:rPr sz="975" b="0">
                <a:solidFill>
                  <a:srgbClr val="F6C85F"/>
                </a:solidFill>
                <a:latin typeface="Monaco"/>
                <a:ea typeface="Monaco"/>
                <a:cs typeface="Monaco"/>
              </a:rPr>
              <a:t>400</a:t>
            </a:r>
            <a:r>
              <a:rPr sz="975" b="0">
                <a:solidFill>
                  <a:srgbClr val="F1F6FA"/>
                </a:solidFill>
                <a:latin typeface="Monaco"/>
                <a:ea typeface="Monaco"/>
                <a:cs typeface="Monaco"/>
              </a:rPr>
              <a:t>, </a:t>
            </a:r>
            <a:r>
              <a:rPr sz="975" b="0">
                <a:solidFill>
                  <a:srgbClr val="F6C85F"/>
                </a:solidFill>
                <a:latin typeface="Monaco"/>
                <a:ea typeface="Monaco"/>
                <a:cs typeface="Monaco"/>
              </a:rPr>
              <a:t>"Empty file")</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70D6E8"/>
                </a:solidFill>
                <a:latin typeface="Monaco"/>
                <a:ea typeface="Monaco"/>
                <a:cs typeface="Monaco"/>
              </a:rPr>
              <a:t>try: # parse bytes in memory </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pages = </a:t>
            </a:r>
            <a:r>
              <a:rPr sz="975" b="0">
                <a:solidFill>
                  <a:srgbClr val="70D6E8"/>
                </a:solidFill>
                <a:latin typeface="Monaco"/>
                <a:ea typeface="Monaco"/>
                <a:cs typeface="Monaco"/>
              </a:rPr>
              <a:t>extract_pages</a:t>
            </a:r>
            <a:r>
              <a:rPr sz="975" b="0">
                <a:solidFill>
                  <a:srgbClr val="F1F6FA"/>
                </a:solidFill>
                <a:latin typeface="Monaco"/>
                <a:ea typeface="Monaco"/>
                <a:cs typeface="Monaco"/>
              </a:rPr>
              <a:t>(data)</a:t>
            </a:r>
          </a:p>
          <a:p>
            <a:endParaRPr sz="975"/>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63B3ED"/>
                </a:solidFill>
                <a:latin typeface="Monaco"/>
                <a:ea typeface="Monaco"/>
                <a:cs typeface="Monaco"/>
              </a:rPr>
              <a:t>except (ValueError, PdfReadError) as error</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raise HTTPException(400, </a:t>
            </a:r>
            <a:r>
              <a:rPr sz="975" b="0">
                <a:solidFill>
                  <a:srgbClr val="70D6E8"/>
                </a:solidFill>
                <a:latin typeface="Monaco"/>
                <a:ea typeface="Monaco"/>
                <a:cs typeface="Monaco"/>
              </a:rPr>
              <a:t>str</a:t>
            </a:r>
            <a:r>
              <a:rPr sz="975" b="0">
                <a:solidFill>
                  <a:srgbClr val="F1F6FA"/>
                </a:solidFill>
                <a:latin typeface="Monaco"/>
                <a:ea typeface="Monaco"/>
                <a:cs typeface="Monaco"/>
              </a:rPr>
              <a:t>(error)) from error</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a:t>
            </a:r>
            <a:r>
              <a:rPr sz="975" b="0">
                <a:solidFill>
                  <a:srgbClr val="70D6E8"/>
                </a:solidFill>
                <a:latin typeface="Monaco"/>
                <a:ea typeface="Monaco"/>
                <a:cs typeface="Monaco"/>
              </a:rPr>
              <a:t>characters = sum</a:t>
            </a:r>
            <a:r>
              <a:rPr sz="975" b="0">
                <a:solidFill>
                  <a:srgbClr val="F1F6FA"/>
                </a:solidFill>
                <a:latin typeface="Monaco"/>
                <a:ea typeface="Monaco"/>
                <a:cs typeface="Monaco"/>
              </a:rPr>
              <a:t>(len(page["text"]) </a:t>
            </a:r>
            <a:r>
              <a:rPr sz="975" b="0">
                <a:solidFill>
                  <a:srgbClr val="63B3ED"/>
                </a:solidFill>
                <a:latin typeface="Monaco"/>
                <a:ea typeface="Monaco"/>
                <a:cs typeface="Monaco"/>
              </a:rPr>
              <a:t>for</a:t>
            </a:r>
            <a:r>
              <a:rPr sz="975" b="0">
                <a:solidFill>
                  <a:srgbClr val="F1F6FA"/>
                </a:solidFill>
                <a:latin typeface="Monaco"/>
                <a:ea typeface="Monaco"/>
                <a:cs typeface="Monaco"/>
              </a:rPr>
              <a:t> </a:t>
            </a:r>
            <a:r>
              <a:rPr sz="975" b="0">
                <a:solidFill>
                  <a:srgbClr val="FF8A7D"/>
                </a:solidFill>
                <a:latin typeface="Monaco"/>
                <a:ea typeface="Monaco"/>
                <a:cs typeface="Monaco"/>
              </a:rPr>
              <a:t>page in pages</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if characters == 0: </a:t>
            </a:r>
            <a:r>
              <a:rPr sz="975" b="0">
                <a:solidFill>
                  <a:srgbClr val="70D6E8"/>
                </a:solidFill>
                <a:latin typeface="Monaco"/>
                <a:ea typeface="Monaco"/>
                <a:cs typeface="Monaco"/>
              </a:rPr>
              <a:t>raise HTTPException</a:t>
            </a:r>
            <a:r>
              <a:rPr sz="975" b="0">
                <a:solidFill>
                  <a:srgbClr val="F1F6FA"/>
                </a:solidFill>
                <a:latin typeface="Monaco"/>
                <a:ea typeface="Monaco"/>
                <a:cs typeface="Monaco"/>
              </a:rPr>
              <a:t>(</a:t>
            </a:r>
            <a:r>
              <a:rPr sz="975" b="0">
                <a:solidFill>
                  <a:srgbClr val="72AD47"/>
                </a:solidFill>
                <a:latin typeface="Monaco"/>
                <a:ea typeface="Monaco"/>
                <a:cs typeface="Monaco"/>
              </a:rPr>
              <a:t>422, "No text; OCR unsupported"</a:t>
            </a:r>
            <a:r>
              <a:rPr sz="975" b="0">
                <a:solidFill>
                  <a:srgbClr val="F1F6FA"/>
                </a:solidFill>
                <a:latin typeface="Monaco"/>
                <a:ea typeface="Monaco"/>
                <a:cs typeface="Monaco"/>
              </a:rPr>
              <a:t>)</a:t>
            </a:r>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 </a:t>
            </a:r>
            <a:r>
              <a:rPr sz="975" b="0">
                <a:solidFill>
                  <a:srgbClr val="63B3ED"/>
                </a:solidFill>
                <a:latin typeface="Monaco"/>
                <a:ea typeface="Monaco"/>
                <a:cs typeface="Monaco"/>
              </a:rPr>
              <a:t>Return</a:t>
            </a:r>
            <a:r>
              <a:rPr sz="975" b="0">
                <a:solidFill>
                  <a:srgbClr val="F1F6FA"/>
                </a:solidFill>
                <a:latin typeface="Monaco"/>
                <a:ea typeface="Monaco"/>
                <a:cs typeface="Monaco"/>
              </a:rPr>
              <a:t> </a:t>
            </a:r>
            <a:r>
              <a:rPr sz="975" b="0">
                <a:solidFill>
                  <a:srgbClr val="FF8A7D"/>
                </a:solidFill>
                <a:latin typeface="Monaco"/>
                <a:ea typeface="Monaco"/>
                <a:cs typeface="Monaco"/>
              </a:rPr>
              <a:t>status</a:t>
            </a:r>
            <a:r>
              <a:rPr sz="975" b="0">
                <a:solidFill>
                  <a:srgbClr val="F1F6FA"/>
                </a:solidFill>
                <a:latin typeface="Monaco"/>
                <a:ea typeface="Monaco"/>
                <a:cs typeface="Monaco"/>
              </a:rPr>
              <a:t>, </a:t>
            </a:r>
            <a:r>
              <a:rPr sz="975" b="0">
                <a:solidFill>
                  <a:srgbClr val="A7E3A1"/>
                </a:solidFill>
                <a:latin typeface="Monaco"/>
                <a:ea typeface="Monaco"/>
                <a:cs typeface="Monaco"/>
              </a:rPr>
              <a:t>filename</a:t>
            </a:r>
            <a:r>
              <a:rPr sz="975" b="0">
                <a:solidFill>
                  <a:srgbClr val="F1F6FA"/>
                </a:solidFill>
                <a:latin typeface="Monaco"/>
                <a:ea typeface="Monaco"/>
                <a:cs typeface="Monaco"/>
              </a:rPr>
              <a:t>, </a:t>
            </a:r>
            <a:r>
              <a:rPr sz="975" b="0">
                <a:solidFill>
                  <a:srgbClr val="70D6E8"/>
                </a:solidFill>
                <a:latin typeface="Monaco"/>
                <a:ea typeface="Monaco"/>
                <a:cs typeface="Monaco"/>
              </a:rPr>
              <a:t>pages</a:t>
            </a:r>
            <a:r>
              <a:rPr sz="975" b="0">
                <a:solidFill>
                  <a:srgbClr val="F1F6FA"/>
                </a:solidFill>
                <a:latin typeface="Monaco"/>
                <a:ea typeface="Monaco"/>
                <a:cs typeface="Monaco"/>
              </a:rPr>
              <a:t>, </a:t>
            </a:r>
            <a:r>
              <a:rPr sz="975" b="0">
                <a:solidFill>
                  <a:srgbClr val="FF8A7D"/>
                </a:solidFill>
                <a:latin typeface="Monaco"/>
                <a:ea typeface="Monaco"/>
                <a:cs typeface="Monaco"/>
              </a:rPr>
              <a:t>characters</a:t>
            </a:r>
            <a:r>
              <a:rPr sz="975" b="0">
                <a:solidFill>
                  <a:srgbClr val="F1F6FA"/>
                </a:solidFill>
                <a:latin typeface="Monaco"/>
                <a:ea typeface="Monaco"/>
                <a:cs typeface="Monaco"/>
              </a:rPr>
              <a:t> </a:t>
            </a:r>
          </a:p>
          <a:p>
            <a:endParaRPr sz="975"/>
          </a:p>
          <a:p>
            <a:pPr algn="l">
              <a:buNone/>
              <a:defRPr sz="975" b="0">
                <a:solidFill>
                  <a:srgbClr val="F1F6FA"/>
                </a:solidFill>
                <a:latin typeface="Monaco"/>
                <a:ea typeface="Monaco"/>
                <a:cs typeface="Monaco"/>
              </a:defRPr>
            </a:pPr>
            <a:r>
              <a:rPr sz="975" b="0">
                <a:solidFill>
                  <a:srgbClr val="F1F6FA"/>
                </a:solidFill>
                <a:latin typeface="Monaco"/>
                <a:ea typeface="Monaco"/>
                <a:cs typeface="Monaco"/>
              </a:rPr>
              <a:t>  documents[chat_id] = pages</a:t>
            </a:r>
          </a:p>
        </p:txBody>
      </p:sp>
      <p:sp>
        <p:nvSpPr>
          <p:cNvPr id="17" name="圆角矩形 16"/>
          <p:cNvSpPr>
            <a:spLocks noGrp="1"/>
          </p:cNvSpPr>
          <p:nvPr/>
        </p:nvSpPr>
        <p:spPr>
          <a:xfrm>
            <a:off x="7467600" y="1428750"/>
            <a:ext cx="3543300" cy="1009650"/>
          </a:xfrm>
          <a:prstGeom prst="roundRect">
            <a:avLst>
              <a:gd name="adj" fmla="val 7547"/>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677150" y="1590675"/>
            <a:ext cx="31242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GATE 1 | FILE TYPE</a:t>
            </a:r>
          </a:p>
        </p:txBody>
      </p:sp>
      <p:sp>
        <p:nvSpPr>
          <p:cNvPr id="19" name="矩形 18"/>
          <p:cNvSpPr>
            <a:spLocks noGrp="1"/>
          </p:cNvSpPr>
          <p:nvPr/>
        </p:nvSpPr>
        <p:spPr>
          <a:xfrm>
            <a:off x="7677150" y="1981200"/>
            <a:ext cx="31242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Return 400 for non-PDF files without attempting to parse them.</a:t>
            </a:r>
          </a:p>
        </p:txBody>
      </p:sp>
      <p:sp>
        <p:nvSpPr>
          <p:cNvPr id="20" name="圆角矩形 19"/>
          <p:cNvSpPr>
            <a:spLocks noGrp="1"/>
          </p:cNvSpPr>
          <p:nvPr/>
        </p:nvSpPr>
        <p:spPr>
          <a:xfrm>
            <a:off x="7467600" y="2647950"/>
            <a:ext cx="3543300" cy="1009650"/>
          </a:xfrm>
          <a:prstGeom prst="roundRect">
            <a:avLst>
              <a:gd name="adj" fmla="val 7547"/>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677150" y="2809875"/>
            <a:ext cx="31242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GATE 2 | PARSE PAGE BY PAGE</a:t>
            </a:r>
          </a:p>
        </p:txBody>
      </p:sp>
      <p:sp>
        <p:nvSpPr>
          <p:cNvPr id="22" name="矩形 21"/>
          <p:cNvSpPr>
            <a:spLocks noGrp="1"/>
          </p:cNvSpPr>
          <p:nvPr/>
        </p:nvSpPr>
        <p:spPr>
          <a:xfrm>
            <a:off x="7677150" y="3200400"/>
            <a:ext cx="31242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If the PDF is invalid, too long, or has no readable text, return 400/422; never save it.</a:t>
            </a:r>
          </a:p>
        </p:txBody>
      </p:sp>
      <p:sp>
        <p:nvSpPr>
          <p:cNvPr id="23" name="圆角矩形 22"/>
          <p:cNvSpPr>
            <a:spLocks noGrp="1"/>
          </p:cNvSpPr>
          <p:nvPr/>
        </p:nvSpPr>
        <p:spPr>
          <a:xfrm>
            <a:off x="7467600" y="3867150"/>
            <a:ext cx="3543300" cy="1123950"/>
          </a:xfrm>
          <a:prstGeom prst="roundRect">
            <a:avLst>
              <a:gd name="adj" fmla="val 6780"/>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677150" y="4029075"/>
            <a:ext cx="31242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GATE 3 | RETURN EVIDENCE</a:t>
            </a:r>
          </a:p>
        </p:txBody>
      </p:sp>
      <p:sp>
        <p:nvSpPr>
          <p:cNvPr id="25" name="矩形 24"/>
          <p:cNvSpPr>
            <a:spLocks noGrp="1"/>
          </p:cNvSpPr>
          <p:nvPr/>
        </p:nvSpPr>
        <p:spPr>
          <a:xfrm>
            <a:off x="7677150" y="4419600"/>
            <a:ext cx="31242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Store documents[chat_id] only after parsing; return status, filename, pages, and characters.</a:t>
            </a:r>
          </a:p>
        </p:txBody>
      </p:sp>
      <p:sp>
        <p:nvSpPr>
          <p:cNvPr id="26" name="圆角矩形 25"/>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Upload a PDF in Swagger</a:t>
            </a:r>
          </a:p>
        </p:txBody>
      </p:sp>
      <p:sp>
        <p:nvSpPr>
          <p:cNvPr id="29" name="圆角矩形 28"/>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Receive status + filename + pages + characters</a:t>
            </a:r>
          </a:p>
        </p:txBody>
      </p:sp>
      <p:sp>
        <p:nvSpPr>
          <p:cNvPr id="32" name="圆角矩形 31"/>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400 → check the file type or readable text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SPLIT THE PDF INTO PAGE-NUMBERED TEXT</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pypdf: preserve text and page numbers page by page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24–28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16</a:t>
            </a:r>
          </a:p>
        </p:txBody>
      </p:sp>
      <p:sp>
        <p:nvSpPr>
          <p:cNvPr id="14" name="圆角矩形 13"/>
          <p:cNvSpPr>
            <a:spLocks noGrp="1"/>
          </p:cNvSpPr>
          <p:nvPr/>
        </p:nvSpPr>
        <p:spPr>
          <a:xfrm>
            <a:off x="685800" y="1390650"/>
            <a:ext cx="6667500" cy="3505200"/>
          </a:xfrm>
          <a:prstGeom prst="roundRect">
            <a:avLst>
              <a:gd name="adj" fmla="val 2174"/>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6324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SERVICES/PDF.PY · BYTESIO AND PDFREADER ARE ALREADY IMPORTED</a:t>
            </a:r>
          </a:p>
        </p:txBody>
      </p:sp>
      <p:sp>
        <p:nvSpPr>
          <p:cNvPr id="16" name="矩形 15"/>
          <p:cNvSpPr>
            <a:spLocks noGrp="1"/>
          </p:cNvSpPr>
          <p:nvPr/>
        </p:nvSpPr>
        <p:spPr>
          <a:xfrm>
            <a:off x="857250" y="1790700"/>
            <a:ext cx="6324600" cy="2990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63B3ED"/>
                </a:solidFill>
                <a:latin typeface="Monaco"/>
                <a:ea typeface="Monaco"/>
                <a:cs typeface="Monaco"/>
              </a:rPr>
              <a:t>def</a:t>
            </a:r>
            <a:r>
              <a:rPr sz="1200" b="0">
                <a:solidFill>
                  <a:srgbClr val="F1F6FA"/>
                </a:solidFill>
                <a:latin typeface="Monaco"/>
                <a:ea typeface="Monaco"/>
                <a:cs typeface="Monaco"/>
              </a:rPr>
              <a:t> </a:t>
            </a:r>
            <a:r>
              <a:rPr sz="1200" b="0">
                <a:solidFill>
                  <a:srgbClr val="70D6E8"/>
                </a:solidFill>
                <a:latin typeface="Monaco"/>
                <a:ea typeface="Monaco"/>
                <a:cs typeface="Monaco"/>
              </a:rPr>
              <a:t>extract_pages</a:t>
            </a:r>
            <a:r>
              <a:rPr sz="1200" b="0">
                <a:solidFill>
                  <a:srgbClr val="F1F6FA"/>
                </a:solidFill>
                <a:latin typeface="Monaco"/>
                <a:ea typeface="Monaco"/>
                <a:cs typeface="Monaco"/>
              </a:rPr>
              <a:t>(data: bytes):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reader = </a:t>
            </a:r>
            <a:r>
              <a:rPr sz="1200" b="0">
                <a:solidFill>
                  <a:srgbClr val="70D6E8"/>
                </a:solidFill>
                <a:latin typeface="Monaco"/>
                <a:ea typeface="Monaco"/>
                <a:cs typeface="Monaco"/>
              </a:rPr>
              <a:t>PdfReader</a:t>
            </a:r>
            <a:r>
              <a:rPr sz="1200" b="0">
                <a:solidFill>
                  <a:srgbClr val="F1F6FA"/>
                </a:solidFill>
                <a:latin typeface="Monaco"/>
                <a:ea typeface="Monaco"/>
                <a:cs typeface="Monaco"/>
              </a:rPr>
              <a:t>(</a:t>
            </a:r>
            <a:r>
              <a:rPr sz="1200" b="0">
                <a:solidFill>
                  <a:srgbClr val="70D6E8"/>
                </a:solidFill>
                <a:latin typeface="Monaco"/>
                <a:ea typeface="Monaco"/>
                <a:cs typeface="Monaco"/>
              </a:rPr>
              <a:t>BytesIO</a:t>
            </a:r>
            <a:r>
              <a:rPr sz="1200" b="0">
                <a:solidFill>
                  <a:srgbClr val="F1F6FA"/>
                </a:solidFill>
                <a:latin typeface="Monaco"/>
                <a:ea typeface="Monaco"/>
                <a:cs typeface="Monaco"/>
              </a:rPr>
              <a:t>(data))</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if</a:t>
            </a:r>
            <a:r>
              <a:rPr sz="1200" b="0">
                <a:solidFill>
                  <a:srgbClr val="F1F6FA"/>
                </a:solidFill>
                <a:latin typeface="Monaco"/>
                <a:ea typeface="Monaco"/>
                <a:cs typeface="Monaco"/>
              </a:rPr>
              <a:t> </a:t>
            </a:r>
            <a:r>
              <a:rPr sz="1200" b="0">
                <a:solidFill>
                  <a:srgbClr val="70D6E8"/>
                </a:solidFill>
                <a:latin typeface="Monaco"/>
                <a:ea typeface="Monaco"/>
                <a:cs typeface="Monaco"/>
              </a:rPr>
              <a:t>len</a:t>
            </a:r>
            <a:r>
              <a:rPr sz="1200" b="0">
                <a:solidFill>
                  <a:srgbClr val="F1F6FA"/>
                </a:solidFill>
                <a:latin typeface="Monaco"/>
                <a:ea typeface="Monaco"/>
                <a:cs typeface="Monaco"/>
              </a:rPr>
              <a:t>(reader.pages) &gt; </a:t>
            </a:r>
            <a:r>
              <a:rPr sz="1200" b="0">
                <a:solidFill>
                  <a:srgbClr val="A7E3A1"/>
                </a:solidFill>
                <a:latin typeface="Monaco"/>
                <a:ea typeface="Monaco"/>
                <a:cs typeface="Monaco"/>
              </a:rPr>
              <a:t>30</a:t>
            </a: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raise</a:t>
            </a:r>
            <a:r>
              <a:rPr sz="1200" b="0">
                <a:solidFill>
                  <a:srgbClr val="F1F6FA"/>
                </a:solidFill>
                <a:latin typeface="Monaco"/>
                <a:ea typeface="Monaco"/>
                <a:cs typeface="Monaco"/>
              </a:rPr>
              <a:t> </a:t>
            </a:r>
            <a:r>
              <a:rPr sz="1200" b="0">
                <a:solidFill>
                  <a:srgbClr val="70D6E8"/>
                </a:solidFill>
                <a:latin typeface="Monaco"/>
                <a:ea typeface="Monaco"/>
                <a:cs typeface="Monaco"/>
              </a:rPr>
              <a:t>ValueError</a:t>
            </a:r>
            <a:r>
              <a:rPr sz="1200" b="0">
                <a:solidFill>
                  <a:srgbClr val="F1F6FA"/>
                </a:solidFill>
                <a:latin typeface="Monaco"/>
                <a:ea typeface="Monaco"/>
                <a:cs typeface="Monaco"/>
              </a:rPr>
              <a:t>(</a:t>
            </a:r>
            <a:r>
              <a:rPr sz="1200" b="0">
                <a:solidFill>
                  <a:srgbClr val="F6C85F"/>
                </a:solidFill>
                <a:latin typeface="Monaco"/>
                <a:ea typeface="Monaco"/>
                <a:cs typeface="Monaco"/>
              </a:rPr>
              <a:t>"PDF must contain at most 30 pages"</a:t>
            </a:r>
            <a:r>
              <a:rPr sz="1200" b="0">
                <a:solidFill>
                  <a:srgbClr val="F1F6FA"/>
                </a:solidFill>
                <a:latin typeface="Monaco"/>
                <a:ea typeface="Monaco"/>
                <a:cs typeface="Monaco"/>
              </a:rPr>
              <a:t>)</a:t>
            </a:r>
          </a:p>
          <a:p>
            <a:endParaRPr sz="1200"/>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pages = [</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F6C85F"/>
                </a:solidFill>
                <a:latin typeface="Monaco"/>
                <a:ea typeface="Monaco"/>
                <a:cs typeface="Monaco"/>
              </a:rPr>
              <a:t>"page"</a:t>
            </a:r>
            <a:r>
              <a:rPr sz="1200" b="0">
                <a:solidFill>
                  <a:srgbClr val="F1F6FA"/>
                </a:solidFill>
                <a:latin typeface="Monaco"/>
                <a:ea typeface="Monaco"/>
                <a:cs typeface="Monaco"/>
              </a:rPr>
              <a:t>: n, </a:t>
            </a:r>
            <a:r>
              <a:rPr sz="1200" b="0">
                <a:solidFill>
                  <a:srgbClr val="F6C85F"/>
                </a:solidFill>
                <a:latin typeface="Monaco"/>
                <a:ea typeface="Monaco"/>
                <a:cs typeface="Monaco"/>
              </a:rPr>
              <a:t>"text"</a:t>
            </a:r>
            <a:r>
              <a:rPr sz="1200" b="0">
                <a:solidFill>
                  <a:srgbClr val="F1F6FA"/>
                </a:solidFill>
                <a:latin typeface="Monaco"/>
                <a:ea typeface="Monaco"/>
                <a:cs typeface="Monaco"/>
              </a:rPr>
              <a:t>: (page.</a:t>
            </a:r>
            <a:r>
              <a:rPr sz="1200" b="0">
                <a:solidFill>
                  <a:srgbClr val="70D6E8"/>
                </a:solidFill>
                <a:latin typeface="Monaco"/>
                <a:ea typeface="Monaco"/>
                <a:cs typeface="Monaco"/>
              </a:rPr>
              <a:t>extract_text</a:t>
            </a:r>
            <a:r>
              <a:rPr sz="1200" b="0">
                <a:solidFill>
                  <a:srgbClr val="F1F6FA"/>
                </a:solidFill>
                <a:latin typeface="Monaco"/>
                <a:ea typeface="Monaco"/>
                <a:cs typeface="Monaco"/>
              </a:rPr>
              <a:t>() </a:t>
            </a:r>
            <a:r>
              <a:rPr sz="1200" b="0">
                <a:solidFill>
                  <a:srgbClr val="63B3ED"/>
                </a:solidFill>
                <a:latin typeface="Monaco"/>
                <a:ea typeface="Monaco"/>
                <a:cs typeface="Monaco"/>
              </a:rPr>
              <a:t>or</a:t>
            </a:r>
            <a:r>
              <a:rPr sz="1200" b="0">
                <a:solidFill>
                  <a:srgbClr val="F1F6FA"/>
                </a:solidFill>
                <a:latin typeface="Monaco"/>
                <a:ea typeface="Monaco"/>
                <a:cs typeface="Monaco"/>
              </a:rPr>
              <a:t> </a:t>
            </a:r>
            <a:r>
              <a:rPr sz="1200" b="0">
                <a:solidFill>
                  <a:srgbClr val="F6C85F"/>
                </a:solidFill>
                <a:latin typeface="Monaco"/>
                <a:ea typeface="Monaco"/>
                <a:cs typeface="Monaco"/>
              </a:rPr>
              <a:t>""</a:t>
            </a:r>
            <a:r>
              <a:rPr sz="1200" b="0">
                <a:solidFill>
                  <a:srgbClr val="F1F6FA"/>
                </a:solidFill>
                <a:latin typeface="Monaco"/>
                <a:ea typeface="Monaco"/>
                <a:cs typeface="Monaco"/>
              </a:rPr>
              <a:t>).</a:t>
            </a:r>
            <a:r>
              <a:rPr sz="1200" b="0">
                <a:solidFill>
                  <a:srgbClr val="70D6E8"/>
                </a:solidFill>
                <a:latin typeface="Monaco"/>
                <a:ea typeface="Monaco"/>
                <a:cs typeface="Monaco"/>
              </a:rPr>
              <a:t>strip</a:t>
            </a: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for</a:t>
            </a:r>
            <a:r>
              <a:rPr sz="1200" b="0">
                <a:solidFill>
                  <a:srgbClr val="F1F6FA"/>
                </a:solidFill>
                <a:latin typeface="Monaco"/>
                <a:ea typeface="Monaco"/>
                <a:cs typeface="Monaco"/>
              </a:rPr>
              <a:t> n, page </a:t>
            </a:r>
            <a:r>
              <a:rPr sz="1200" b="0">
                <a:solidFill>
                  <a:srgbClr val="63B3ED"/>
                </a:solidFill>
                <a:latin typeface="Monaco"/>
                <a:ea typeface="Monaco"/>
                <a:cs typeface="Monaco"/>
              </a:rPr>
              <a:t>in</a:t>
            </a:r>
            <a:r>
              <a:rPr sz="1200" b="0">
                <a:solidFill>
                  <a:srgbClr val="F1F6FA"/>
                </a:solidFill>
                <a:latin typeface="Monaco"/>
                <a:ea typeface="Monaco"/>
                <a:cs typeface="Monaco"/>
              </a:rPr>
              <a:t> </a:t>
            </a:r>
            <a:r>
              <a:rPr sz="1200" b="0">
                <a:solidFill>
                  <a:srgbClr val="70D6E8"/>
                </a:solidFill>
                <a:latin typeface="Monaco"/>
                <a:ea typeface="Monaco"/>
                <a:cs typeface="Monaco"/>
              </a:rPr>
              <a:t>enumerate</a:t>
            </a:r>
            <a:r>
              <a:rPr sz="1200" b="0">
                <a:solidFill>
                  <a:srgbClr val="F1F6FA"/>
                </a:solidFill>
                <a:latin typeface="Monaco"/>
                <a:ea typeface="Monaco"/>
                <a:cs typeface="Monaco"/>
              </a:rPr>
              <a:t>(reader.pages, start=</a:t>
            </a:r>
            <a:r>
              <a:rPr sz="1200" b="0">
                <a:solidFill>
                  <a:srgbClr val="A7E3A1"/>
                </a:solidFill>
                <a:latin typeface="Monaco"/>
                <a:ea typeface="Monaco"/>
                <a:cs typeface="Monaco"/>
              </a:rPr>
              <a:t>1</a:t>
            </a: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Preserve page numbers even when text is empty</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The upload route checks total readable text</a:t>
            </a:r>
          </a:p>
          <a:p>
            <a:pPr algn="l">
              <a:buNone/>
              <a:defRPr sz="1200" b="0">
                <a:solidFill>
                  <a:srgbClr val="F1F6FA"/>
                </a:solidFill>
                <a:latin typeface="Monaco"/>
                <a:ea typeface="Monaco"/>
                <a:cs typeface="Monaco"/>
              </a:defRPr>
            </a:pPr>
            <a:endParaRPr sz="1200" b="0">
              <a:solidFill>
                <a:srgbClr val="F1F6FA"/>
              </a:solidFill>
              <a:latin typeface="Monaco"/>
              <a:ea typeface="Monaco"/>
              <a:cs typeface="Monaco"/>
            </a:endParaRP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return</a:t>
            </a:r>
            <a:r>
              <a:rPr sz="1200" b="0">
                <a:solidFill>
                  <a:srgbClr val="F1F6FA"/>
                </a:solidFill>
                <a:latin typeface="Monaco"/>
                <a:ea typeface="Monaco"/>
                <a:cs typeface="Monaco"/>
              </a:rPr>
              <a:t> pages</a:t>
            </a:r>
          </a:p>
        </p:txBody>
      </p:sp>
      <p:sp>
        <p:nvSpPr>
          <p:cNvPr id="17" name="圆角矩形 16"/>
          <p:cNvSpPr>
            <a:spLocks noGrp="1"/>
          </p:cNvSpPr>
          <p:nvPr/>
        </p:nvSpPr>
        <p:spPr>
          <a:xfrm>
            <a:off x="7696200" y="1428750"/>
            <a:ext cx="3295650" cy="952500"/>
          </a:xfrm>
          <a:prstGeom prst="roundRect">
            <a:avLst>
              <a:gd name="adj" fmla="val 8000"/>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7867650" y="1562100"/>
            <a:ext cx="29527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TOP OF SERVICES/PDF.PY</a:t>
            </a:r>
          </a:p>
        </p:txBody>
      </p:sp>
      <p:sp>
        <p:nvSpPr>
          <p:cNvPr id="19" name="矩形 18"/>
          <p:cNvSpPr>
            <a:spLocks noGrp="1"/>
          </p:cNvSpPr>
          <p:nvPr/>
        </p:nvSpPr>
        <p:spPr>
          <a:xfrm>
            <a:off x="7867650" y="1828800"/>
            <a:ext cx="295275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F1F6FA"/>
                </a:solidFill>
                <a:latin typeface="Monaco"/>
                <a:ea typeface="Monaco"/>
                <a:cs typeface="Monaco"/>
              </a:defRPr>
            </a:pPr>
            <a:r>
              <a:rPr sz="1125" b="0">
                <a:solidFill>
                  <a:srgbClr val="63B3ED"/>
                </a:solidFill>
                <a:latin typeface="Monaco"/>
                <a:ea typeface="Monaco"/>
                <a:cs typeface="Monaco"/>
              </a:rPr>
              <a:t>from</a:t>
            </a:r>
            <a:r>
              <a:rPr sz="1125" b="0">
                <a:solidFill>
                  <a:srgbClr val="F1F6FA"/>
                </a:solidFill>
                <a:latin typeface="Monaco"/>
                <a:ea typeface="Monaco"/>
                <a:cs typeface="Monaco"/>
              </a:rPr>
              <a:t> io </a:t>
            </a:r>
            <a:r>
              <a:rPr sz="1125" b="0">
                <a:solidFill>
                  <a:srgbClr val="63B3ED"/>
                </a:solidFill>
                <a:latin typeface="Monaco"/>
                <a:ea typeface="Monaco"/>
                <a:cs typeface="Monaco"/>
              </a:rPr>
              <a:t>import</a:t>
            </a:r>
            <a:r>
              <a:rPr sz="1125" b="0">
                <a:solidFill>
                  <a:srgbClr val="F1F6FA"/>
                </a:solidFill>
                <a:latin typeface="Monaco"/>
                <a:ea typeface="Monaco"/>
                <a:cs typeface="Monaco"/>
              </a:rPr>
              <a:t> BytesIO</a:t>
            </a:r>
          </a:p>
          <a:p>
            <a:pPr algn="l">
              <a:buNone/>
              <a:defRPr sz="1125" b="0">
                <a:solidFill>
                  <a:srgbClr val="F1F6FA"/>
                </a:solidFill>
                <a:latin typeface="Monaco"/>
                <a:ea typeface="Monaco"/>
                <a:cs typeface="Monaco"/>
              </a:defRPr>
            </a:pPr>
            <a:r>
              <a:rPr sz="1125" b="0">
                <a:solidFill>
                  <a:srgbClr val="63B3ED"/>
                </a:solidFill>
                <a:latin typeface="Monaco"/>
                <a:ea typeface="Monaco"/>
                <a:cs typeface="Monaco"/>
              </a:rPr>
              <a:t>from</a:t>
            </a:r>
            <a:r>
              <a:rPr sz="1125" b="0">
                <a:solidFill>
                  <a:srgbClr val="F1F6FA"/>
                </a:solidFill>
                <a:latin typeface="Monaco"/>
                <a:ea typeface="Monaco"/>
                <a:cs typeface="Monaco"/>
              </a:rPr>
              <a:t> pypdf </a:t>
            </a:r>
            <a:r>
              <a:rPr sz="1125" b="0">
                <a:solidFill>
                  <a:srgbClr val="63B3ED"/>
                </a:solidFill>
                <a:latin typeface="Monaco"/>
                <a:ea typeface="Monaco"/>
                <a:cs typeface="Monaco"/>
              </a:rPr>
              <a:t>import</a:t>
            </a:r>
            <a:r>
              <a:rPr sz="1125" b="0">
                <a:solidFill>
                  <a:srgbClr val="F1F6FA"/>
                </a:solidFill>
                <a:latin typeface="Monaco"/>
                <a:ea typeface="Monaco"/>
                <a:cs typeface="Monaco"/>
              </a:rPr>
              <a:t> PdfReader</a:t>
            </a:r>
          </a:p>
        </p:txBody>
      </p:sp>
      <p:sp>
        <p:nvSpPr>
          <p:cNvPr id="20" name="圆角矩形 19"/>
          <p:cNvSpPr>
            <a:spLocks noGrp="1"/>
          </p:cNvSpPr>
          <p:nvPr/>
        </p:nvSpPr>
        <p:spPr>
          <a:xfrm>
            <a:off x="7696200" y="2590800"/>
            <a:ext cx="3295650" cy="952500"/>
          </a:xfrm>
          <a:prstGeom prst="roundRect">
            <a:avLst>
              <a:gd name="adj" fmla="val 8000"/>
            </a:avLst>
          </a:prstGeom>
          <a:solidFill>
            <a:srgbClr val="FFF8E6"/>
          </a:solidFill>
          <a:ln w="9525">
            <a:solidFill>
              <a:srgbClr val="D4A72C"/>
            </a:solidFill>
            <a:prstDash val="solid"/>
          </a:ln>
        </p:spPr>
        <p:txBody>
          <a:bodyPr/>
          <a:lstStyle/>
          <a:p>
            <a:endParaRPr/>
          </a:p>
        </p:txBody>
      </p:sp>
      <p:sp>
        <p:nvSpPr>
          <p:cNvPr id="21" name="矩形 20"/>
          <p:cNvSpPr>
            <a:spLocks noGrp="1"/>
          </p:cNvSpPr>
          <p:nvPr/>
        </p:nvSpPr>
        <p:spPr>
          <a:xfrm>
            <a:off x="7905750" y="2752725"/>
            <a:ext cx="2876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WHAT ABOUT SCANNED PDFS?</a:t>
            </a:r>
          </a:p>
        </p:txBody>
      </p:sp>
      <p:sp>
        <p:nvSpPr>
          <p:cNvPr id="22" name="矩形 21"/>
          <p:cNvSpPr>
            <a:spLocks noGrp="1"/>
          </p:cNvSpPr>
          <p:nvPr/>
        </p:nvSpPr>
        <p:spPr>
          <a:xfrm>
            <a:off x="7905750" y="3143250"/>
            <a:ext cx="2876550" cy="2667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Without OCR, the text may be unreadable; tell the user clearly.</a:t>
            </a:r>
          </a:p>
        </p:txBody>
      </p:sp>
      <p:sp>
        <p:nvSpPr>
          <p:cNvPr id="23" name="圆角矩形 22"/>
          <p:cNvSpPr>
            <a:spLocks noGrp="1"/>
          </p:cNvSpPr>
          <p:nvPr/>
        </p:nvSpPr>
        <p:spPr>
          <a:xfrm>
            <a:off x="7696200" y="3752850"/>
            <a:ext cx="3295650" cy="1143000"/>
          </a:xfrm>
          <a:prstGeom prst="roundRect">
            <a:avLst>
              <a:gd name="adj" fmla="val 6667"/>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905750" y="3914775"/>
            <a:ext cx="287655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77500" lnSpcReduction="20000"/>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WHAT DOES THE OUTPUT LOOK LIKE?</a:t>
            </a:r>
          </a:p>
        </p:txBody>
      </p:sp>
      <p:sp>
        <p:nvSpPr>
          <p:cNvPr id="25" name="矩形 24"/>
          <p:cNvSpPr>
            <a:spLocks noGrp="1"/>
          </p:cNvSpPr>
          <p:nvPr/>
        </p:nvSpPr>
        <p:spPr>
          <a:xfrm>
            <a:off x="7905750" y="4305300"/>
            <a:ext cx="2876550" cy="4572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[{"page": 1, "text": "..."},</a:t>
            </a:r>
          </a:p>
          <a:p>
            <a:pPr algn="l">
              <a:buNone/>
              <a:defRPr sz="1050" b="0">
                <a:solidFill>
                  <a:srgbClr val="637788"/>
                </a:solidFill>
                <a:latin typeface="Lato"/>
                <a:ea typeface="Lato"/>
                <a:cs typeface="Lato"/>
              </a:defRPr>
            </a:pPr>
            <a:r>
              <a:rPr sz="1050" b="0">
                <a:solidFill>
                  <a:srgbClr val="637788"/>
                </a:solidFill>
                <a:latin typeface="Lato"/>
                <a:ea typeface="Lato"/>
                <a:cs typeface="Lato"/>
              </a:rPr>
              <a:t> {"page": 2, "text": "..."}]</a:t>
            </a:r>
          </a:p>
        </p:txBody>
      </p:sp>
      <p:sp>
        <p:nvSpPr>
          <p:cNvPr id="26" name="圆角矩形 25"/>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Print page + text for the first two pages</a:t>
            </a:r>
          </a:p>
        </p:txBody>
      </p:sp>
      <p:sp>
        <p:nvSpPr>
          <p:cNvPr id="29" name="圆角矩形 28"/>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Page numbers and text appear together</a:t>
            </a:r>
          </a:p>
        </p:txBody>
      </p:sp>
      <p:sp>
        <p:nvSpPr>
          <p:cNvPr id="32" name="圆角矩形 31"/>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Empty text → check whether the PDF is scanned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矩形 31"/>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FRONTEND AND BACKEND AGREE ON THE DATA FORMAT FIRST</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Frontend–backend contract: make both sides agree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28–32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17</a:t>
            </a:r>
          </a:p>
        </p:txBody>
      </p:sp>
      <p:sp>
        <p:nvSpPr>
          <p:cNvPr id="14" name="圆角矩形 13"/>
          <p:cNvSpPr>
            <a:spLocks noGrp="1"/>
          </p:cNvSpPr>
          <p:nvPr/>
        </p:nvSpPr>
        <p:spPr>
          <a:xfrm>
            <a:off x="685800" y="1428750"/>
            <a:ext cx="4953000" cy="2857500"/>
          </a:xfrm>
          <a:prstGeom prst="roundRect">
            <a:avLst>
              <a:gd name="adj" fmla="val 2667"/>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62100"/>
            <a:ext cx="4610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FIRST: ACTUAL RESULT FROM PYPDF 6.14.2</a:t>
            </a:r>
          </a:p>
        </p:txBody>
      </p:sp>
      <p:sp>
        <p:nvSpPr>
          <p:cNvPr id="16" name="矩形 15"/>
          <p:cNvSpPr>
            <a:spLocks noGrp="1"/>
          </p:cNvSpPr>
          <p:nvPr/>
        </p:nvSpPr>
        <p:spPr>
          <a:xfrm>
            <a:off x="857250" y="1828800"/>
            <a:ext cx="4610100" cy="2343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POST</a:t>
            </a:r>
            <a:r>
              <a:rPr sz="1125" b="0">
                <a:solidFill>
                  <a:srgbClr val="F1F6FA"/>
                </a:solidFill>
                <a:latin typeface="Monaco"/>
                <a:ea typeface="Monaco"/>
                <a:cs typeface="Monaco"/>
              </a:rPr>
              <a:t> /upload?chat_id=day2-demo</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Content-Type: multipart/form-data</a:t>
            </a:r>
          </a:p>
          <a:p>
            <a:endParaRPr sz="1125"/>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file = day2_workshop_test.pdf</a:t>
            </a:r>
          </a:p>
          <a:p>
            <a:endParaRPr sz="1125"/>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200</a:t>
            </a:r>
            <a:r>
              <a:rPr sz="1125" b="0">
                <a:solidFill>
                  <a:srgbClr val="F1F6FA"/>
                </a:solidFill>
                <a:latin typeface="Monaco"/>
                <a:ea typeface="Monaco"/>
                <a:cs typeface="Monaco"/>
              </a:rPr>
              <a:t> OK</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"status"</a:t>
            </a:r>
            <a:r>
              <a:rPr sz="1125" b="0">
                <a:solidFill>
                  <a:srgbClr val="F1F6FA"/>
                </a:solidFill>
                <a:latin typeface="Monaco"/>
                <a:ea typeface="Monaco"/>
                <a:cs typeface="Monaco"/>
              </a:rPr>
              <a:t>: </a:t>
            </a:r>
            <a:r>
              <a:rPr sz="1125" b="0">
                <a:solidFill>
                  <a:srgbClr val="F6C85F"/>
                </a:solidFill>
                <a:latin typeface="Monaco"/>
                <a:ea typeface="Monaco"/>
                <a:cs typeface="Monaco"/>
              </a:rPr>
              <a:t>"ok", "filename": "day2_workshop_test.pdf",</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"pages"</a:t>
            </a:r>
            <a:r>
              <a:rPr sz="1125" b="0">
                <a:solidFill>
                  <a:srgbClr val="F1F6FA"/>
                </a:solidFill>
                <a:latin typeface="Monaco"/>
                <a:ea typeface="Monaco"/>
                <a:cs typeface="Monaco"/>
              </a:rPr>
              <a:t>: </a:t>
            </a:r>
            <a:r>
              <a:rPr sz="1125" b="0">
                <a:solidFill>
                  <a:srgbClr val="A7E3A1"/>
                </a:solidFill>
                <a:latin typeface="Monaco"/>
                <a:ea typeface="Monaco"/>
                <a:cs typeface="Monaco"/>
              </a:rPr>
              <a:t>3</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"characters"</a:t>
            </a:r>
            <a:r>
              <a:rPr sz="1125" b="0">
                <a:solidFill>
                  <a:srgbClr val="F1F6FA"/>
                </a:solidFill>
                <a:latin typeface="Monaco"/>
                <a:ea typeface="Monaco"/>
                <a:cs typeface="Monaco"/>
              </a:rPr>
              <a:t>: </a:t>
            </a:r>
            <a:r>
              <a:rPr sz="1125" b="0">
                <a:solidFill>
                  <a:srgbClr val="A7E3A1"/>
                </a:solidFill>
                <a:latin typeface="Monaco"/>
                <a:ea typeface="Monaco"/>
                <a:cs typeface="Monaco"/>
              </a:rPr>
              <a:t>1111</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a:t>
            </a:r>
          </a:p>
        </p:txBody>
      </p:sp>
      <p:sp>
        <p:nvSpPr>
          <p:cNvPr id="17" name="圆角矩形 16"/>
          <p:cNvSpPr>
            <a:spLocks noGrp="1"/>
          </p:cNvSpPr>
          <p:nvPr/>
        </p:nvSpPr>
        <p:spPr>
          <a:xfrm>
            <a:off x="6096000" y="1428750"/>
            <a:ext cx="4953000" cy="2857500"/>
          </a:xfrm>
          <a:prstGeom prst="roundRect">
            <a:avLst>
              <a:gd name="adj" fmla="val 2667"/>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6267450" y="1562100"/>
            <a:ext cx="4610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SECOND: EXPECTED SHAPE FOR QUESTION 1 ON THE WORKSHEET</a:t>
            </a:r>
          </a:p>
        </p:txBody>
      </p:sp>
      <p:sp>
        <p:nvSpPr>
          <p:cNvPr id="19" name="矩形 18"/>
          <p:cNvSpPr>
            <a:spLocks noGrp="1"/>
          </p:cNvSpPr>
          <p:nvPr/>
        </p:nvSpPr>
        <p:spPr>
          <a:xfrm>
            <a:off x="6267450" y="1828800"/>
            <a:ext cx="4610100" cy="2343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POST</a:t>
            </a:r>
            <a:r>
              <a:rPr sz="1125" b="0">
                <a:solidFill>
                  <a:srgbClr val="F1F6FA"/>
                </a:solidFill>
                <a:latin typeface="Monaco"/>
                <a:ea typeface="Monaco"/>
                <a:cs typeface="Monaco"/>
              </a:rPr>
              <a:t> /chat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Content-Type: application/json</a:t>
            </a:r>
          </a:p>
          <a:p>
            <a:endParaRPr sz="1125"/>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"chat_id"</a:t>
            </a:r>
            <a:r>
              <a:rPr sz="1125" b="0">
                <a:solidFill>
                  <a:srgbClr val="F1F6FA"/>
                </a:solidFill>
                <a:latin typeface="Monaco"/>
                <a:ea typeface="Monaco"/>
                <a:cs typeface="Monaco"/>
              </a:rPr>
              <a:t>: </a:t>
            </a:r>
            <a:r>
              <a:rPr sz="1125" b="0">
                <a:solidFill>
                  <a:srgbClr val="F6C85F"/>
                </a:solidFill>
                <a:latin typeface="Monaco"/>
                <a:ea typeface="Monaco"/>
                <a:cs typeface="Monaco"/>
              </a:rPr>
              <a:t>"day2-demo"</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"message"</a:t>
            </a:r>
            <a:r>
              <a:rPr sz="1125" b="0">
                <a:solidFill>
                  <a:srgbClr val="F1F6FA"/>
                </a:solidFill>
                <a:latin typeface="Monaco"/>
                <a:ea typeface="Monaco"/>
                <a:cs typeface="Monaco"/>
              </a:rPr>
              <a:t>: </a:t>
            </a:r>
            <a:r>
              <a:rPr sz="1125" b="0">
                <a:solidFill>
                  <a:srgbClr val="F6C85F"/>
                </a:solidFill>
                <a:latin typeface="Monaco"/>
                <a:ea typeface="Monaco"/>
                <a:cs typeface="Monaco"/>
              </a:rPr>
              <a:t>"Which frameworks are used on Day 2?"</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a:t>
            </a:r>
          </a:p>
          <a:p>
            <a:endParaRPr sz="1125"/>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200</a:t>
            </a:r>
            <a:r>
              <a:rPr sz="1125" b="0">
                <a:solidFill>
                  <a:srgbClr val="F1F6FA"/>
                </a:solidFill>
                <a:latin typeface="Monaco"/>
                <a:ea typeface="Monaco"/>
                <a:cs typeface="Monaco"/>
              </a:rPr>
              <a:t> OK</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a:t>
            </a:r>
            <a:r>
              <a:rPr sz="1125" b="0">
                <a:solidFill>
                  <a:srgbClr val="F6C85F"/>
                </a:solidFill>
                <a:latin typeface="Monaco"/>
                <a:ea typeface="Monaco"/>
                <a:cs typeface="Monaco"/>
              </a:rPr>
              <a:t>"answer"</a:t>
            </a:r>
            <a:r>
              <a:rPr sz="1125" b="0">
                <a:solidFill>
                  <a:srgbClr val="F1F6FA"/>
                </a:solidFill>
                <a:latin typeface="Monaco"/>
                <a:ea typeface="Monaco"/>
                <a:cs typeface="Monaco"/>
              </a:rPr>
              <a:t>:</a:t>
            </a:r>
            <a:r>
              <a:rPr sz="1125" b="0">
                <a:solidFill>
                  <a:srgbClr val="F6C85F"/>
                </a:solidFill>
                <a:latin typeface="Monaco"/>
                <a:ea typeface="Monaco"/>
                <a:cs typeface="Monaco"/>
              </a:rPr>
              <a:t>"FastAPI and React/Vite [Page 1]"</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"citations"</a:t>
            </a:r>
            <a:r>
              <a:rPr sz="1125" b="0">
                <a:solidFill>
                  <a:srgbClr val="F1F6FA"/>
                </a:solidFill>
                <a:latin typeface="Monaco"/>
                <a:ea typeface="Monaco"/>
                <a:cs typeface="Monaco"/>
              </a:rPr>
              <a:t>:[</a:t>
            </a:r>
            <a:r>
              <a:rPr sz="1125" b="0">
                <a:solidFill>
                  <a:srgbClr val="A7E3A1"/>
                </a:solidFill>
                <a:latin typeface="Monaco"/>
                <a:ea typeface="Monaco"/>
                <a:cs typeface="Monaco"/>
              </a:rPr>
              <a:t>1</a:t>
            </a:r>
            <a:r>
              <a:rPr sz="1125" b="0">
                <a:solidFill>
                  <a:srgbClr val="F1F6FA"/>
                </a:solidFill>
                <a:latin typeface="Monaco"/>
                <a:ea typeface="Monaco"/>
                <a:cs typeface="Monaco"/>
              </a:rPr>
              <a:t>]}</a:t>
            </a:r>
          </a:p>
        </p:txBody>
      </p:sp>
      <p:sp>
        <p:nvSpPr>
          <p:cNvPr id="20" name="圆角矩形 19"/>
          <p:cNvSpPr>
            <a:spLocks noGrp="1"/>
          </p:cNvSpPr>
          <p:nvPr/>
        </p:nvSpPr>
        <p:spPr>
          <a:xfrm>
            <a:off x="685800" y="4591050"/>
            <a:ext cx="10363200" cy="590550"/>
          </a:xfrm>
          <a:prstGeom prst="roundRect">
            <a:avLst>
              <a:gd name="adj" fmla="val 12903"/>
            </a:avLst>
          </a:prstGeom>
          <a:solidFill>
            <a:srgbClr val="EEF7EE"/>
          </a:solidFill>
          <a:ln w="9525">
            <a:solidFill>
              <a:srgbClr val="39825B"/>
            </a:solidFill>
            <a:prstDash val="solid"/>
          </a:ln>
        </p:spPr>
        <p:txBody>
          <a:bodyPr/>
          <a:lstStyle/>
          <a:p>
            <a:endParaRPr/>
          </a:p>
        </p:txBody>
      </p:sp>
      <p:sp>
        <p:nvSpPr>
          <p:cNvPr id="21" name="矩形 20"/>
          <p:cNvSpPr>
            <a:spLocks noGrp="1"/>
          </p:cNvSpPr>
          <p:nvPr/>
        </p:nvSpPr>
        <p:spPr>
          <a:xfrm>
            <a:off x="895350" y="4676775"/>
            <a:ext cx="99441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ORDER FOR READING THE CONTRACT</a:t>
            </a:r>
          </a:p>
        </p:txBody>
      </p:sp>
      <p:sp>
        <p:nvSpPr>
          <p:cNvPr id="22" name="矩形 21"/>
          <p:cNvSpPr>
            <a:spLocks noGrp="1"/>
          </p:cNvSpPr>
          <p:nvPr/>
        </p:nvSpPr>
        <p:spPr>
          <a:xfrm>
            <a:off x="895350" y="4914900"/>
            <a:ext cx="994410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method → path → Content-Type → body → status → response. If any item differs, the frontend and backend are not speaking the same language.</a:t>
            </a:r>
          </a:p>
        </p:txBody>
      </p:sp>
      <p:sp>
        <p:nvSpPr>
          <p:cNvPr id="23" name="圆角矩形 22"/>
          <p:cNvSpPr>
            <a:spLocks noGrp="1"/>
          </p:cNvSpPr>
          <p:nvPr/>
        </p:nvSpPr>
        <p:spPr>
          <a:xfrm>
            <a:off x="704850" y="53340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4" name="矩形 23"/>
          <p:cNvSpPr>
            <a:spLocks noGrp="1"/>
          </p:cNvSpPr>
          <p:nvPr/>
        </p:nvSpPr>
        <p:spPr>
          <a:xfrm>
            <a:off x="838200" y="54483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5" name="矩形 24"/>
          <p:cNvSpPr>
            <a:spLocks noGrp="1"/>
          </p:cNvSpPr>
          <p:nvPr/>
        </p:nvSpPr>
        <p:spPr>
          <a:xfrm>
            <a:off x="1543050" y="54292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Compare all six items in Network</a:t>
            </a:r>
          </a:p>
        </p:txBody>
      </p:sp>
      <p:sp>
        <p:nvSpPr>
          <p:cNvPr id="26" name="圆角矩形 25"/>
          <p:cNvSpPr>
            <a:spLocks noGrp="1"/>
          </p:cNvSpPr>
          <p:nvPr/>
        </p:nvSpPr>
        <p:spPr>
          <a:xfrm>
            <a:off x="4381500" y="53340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4514850" y="54483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28" name="矩形 27"/>
          <p:cNvSpPr>
            <a:spLocks noGrp="1"/>
          </p:cNvSpPr>
          <p:nvPr/>
        </p:nvSpPr>
        <p:spPr>
          <a:xfrm>
            <a:off x="5219700" y="54292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Fields match Swagger</a:t>
            </a:r>
          </a:p>
        </p:txBody>
      </p:sp>
      <p:sp>
        <p:nvSpPr>
          <p:cNvPr id="29" name="圆角矩形 28"/>
          <p:cNvSpPr>
            <a:spLocks noGrp="1"/>
          </p:cNvSpPr>
          <p:nvPr/>
        </p:nvSpPr>
        <p:spPr>
          <a:xfrm>
            <a:off x="8058150" y="53340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8191500" y="54483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1" name="矩形 30"/>
          <p:cNvSpPr>
            <a:spLocks noGrp="1"/>
          </p:cNvSpPr>
          <p:nvPr/>
        </p:nvSpPr>
        <p:spPr>
          <a:xfrm>
            <a:off x="8896350" y="54292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422 → inspect the JSON fields first</a:t>
            </a:r>
          </a:p>
        </p:txBody>
      </p:sp>
      <p:sp>
        <p:nvSpPr>
          <p:cNvPr id="33" name="矩形 32"/>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34" name="圆角矩形 33"/>
          <p:cNvSpPr>
            <a:spLocks noGrp="1"/>
          </p:cNvSpPr>
          <p:nvPr/>
        </p:nvSpPr>
        <p:spPr>
          <a:xfrm>
            <a:off x="781050" y="142875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35" name="矩形 34"/>
          <p:cNvSpPr>
            <a:spLocks noGrp="1"/>
          </p:cNvSpPr>
          <p:nvPr/>
        </p:nvSpPr>
        <p:spPr>
          <a:xfrm>
            <a:off x="312420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36" name="圆角矩形 35"/>
          <p:cNvSpPr>
            <a:spLocks noGrp="1"/>
          </p:cNvSpPr>
          <p:nvPr/>
        </p:nvSpPr>
        <p:spPr>
          <a:xfrm>
            <a:off x="3429000" y="142875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37" name="矩形 36"/>
          <p:cNvSpPr>
            <a:spLocks noGrp="1"/>
          </p:cNvSpPr>
          <p:nvPr/>
        </p:nvSpPr>
        <p:spPr>
          <a:xfrm>
            <a:off x="577215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38" name="圆角矩形 37"/>
          <p:cNvSpPr>
            <a:spLocks noGrp="1"/>
          </p:cNvSpPr>
          <p:nvPr/>
        </p:nvSpPr>
        <p:spPr>
          <a:xfrm>
            <a:off x="6076950" y="1428750"/>
            <a:ext cx="2305050" cy="361950"/>
          </a:xfrm>
          <a:prstGeom prst="roundRect">
            <a:avLst>
              <a:gd name="adj" fmla="val 21053"/>
            </a:avLst>
          </a:prstGeom>
          <a:solidFill>
            <a:srgbClr val="F1ECFF"/>
          </a:solidFill>
          <a:ln w="10478">
            <a:solidFill>
              <a:srgbClr val="7557C8"/>
            </a:solidFill>
            <a:prstDash val="solid"/>
          </a:ln>
        </p:spPr>
        <p:txBody>
          <a:bodyPr lIns="57150" tIns="57150" rIns="57150" bIns="57150" anchor="ctr">
            <a:normAutofit/>
          </a:bodyPr>
          <a:lstStyle/>
          <a:p>
            <a:pPr algn="ctr">
              <a:buNone/>
              <a:defRPr sz="1200" b="1">
                <a:solidFill>
                  <a:srgbClr val="7557C8"/>
                </a:solidFill>
                <a:latin typeface="Aptos"/>
                <a:ea typeface="Aptos"/>
                <a:cs typeface="Aptos"/>
              </a:defRPr>
            </a:pPr>
            <a:r>
              <a:rPr sz="1200" b="1">
                <a:solidFill>
                  <a:srgbClr val="7557C8"/>
                </a:solidFill>
                <a:latin typeface="Aptos"/>
                <a:ea typeface="Aptos"/>
                <a:cs typeface="Aptos"/>
              </a:rPr>
              <a:t>React state</a:t>
            </a:r>
          </a:p>
        </p:txBody>
      </p:sp>
      <p:sp>
        <p:nvSpPr>
          <p:cNvPr id="39" name="矩形 38"/>
          <p:cNvSpPr>
            <a:spLocks noGrp="1"/>
          </p:cNvSpPr>
          <p:nvPr/>
        </p:nvSpPr>
        <p:spPr>
          <a:xfrm>
            <a:off x="842010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0" name="圆角矩形 39"/>
          <p:cNvSpPr>
            <a:spLocks noGrp="1"/>
          </p:cNvSpPr>
          <p:nvPr/>
        </p:nvSpPr>
        <p:spPr>
          <a:xfrm>
            <a:off x="8724900" y="1428750"/>
            <a:ext cx="2305050" cy="361950"/>
          </a:xfrm>
          <a:prstGeom prst="roundRect">
            <a:avLst>
              <a:gd name="adj" fmla="val 21053"/>
            </a:avLst>
          </a:prstGeom>
          <a:solidFill>
            <a:srgbClr val="EAF5EE"/>
          </a:solidFill>
          <a:ln w="10478">
            <a:solidFill>
              <a:srgbClr val="3A8B61"/>
            </a:solidFill>
            <a:prstDash val="solid"/>
          </a:ln>
        </p:spPr>
        <p:txBody>
          <a:bodyPr lIns="57150" tIns="57150" rIns="57150" bIns="57150" anchor="ctr">
            <a:normAutofit/>
          </a:bodyPr>
          <a:lstStyle/>
          <a:p>
            <a:pPr algn="ctr">
              <a:buNone/>
              <a:defRPr sz="1200" b="1">
                <a:solidFill>
                  <a:srgbClr val="3A8B61"/>
                </a:solidFill>
                <a:latin typeface="Aptos"/>
                <a:ea typeface="Aptos"/>
                <a:cs typeface="Aptos"/>
              </a:defRPr>
            </a:pPr>
            <a:r>
              <a:rPr sz="1200" b="1">
                <a:solidFill>
                  <a:srgbClr val="3A8B61"/>
                </a:solidFill>
                <a:latin typeface="Aptos"/>
                <a:ea typeface="Aptos"/>
                <a:cs typeface="Aptos"/>
              </a:rPr>
              <a:t>Delivery</a:t>
            </a:r>
          </a:p>
        </p:txBody>
      </p:sp>
      <p:sp>
        <p:nvSpPr>
          <p:cNvPr id="41" name="圆角矩形 40"/>
          <p:cNvSpPr>
            <a:spLocks noGrp="1"/>
          </p:cNvSpPr>
          <p:nvPr/>
        </p:nvSpPr>
        <p:spPr>
          <a:xfrm>
            <a:off x="781050" y="2152650"/>
            <a:ext cx="4476750" cy="419100"/>
          </a:xfrm>
          <a:prstGeom prst="roundRect">
            <a:avLst>
              <a:gd name="adj" fmla="val 18182"/>
            </a:avLst>
          </a:prstGeom>
          <a:solidFill>
            <a:srgbClr val="123F6D"/>
          </a:solidFill>
          <a:ln w="10478">
            <a:solidFill>
              <a:srgbClr val="123F6D"/>
            </a:solidFill>
            <a:prstDash val="solid"/>
          </a:ln>
        </p:spPr>
        <p:txBody>
          <a:bodyPr lIns="0" tIns="0" rIns="0" bIns="0" anchor="ctr">
            <a:normAutofit/>
          </a:bodyPr>
          <a:lstStyle/>
          <a:p>
            <a:pPr algn="ctr">
              <a:buNone/>
              <a:defRPr sz="1500" b="1">
                <a:solidFill>
                  <a:srgbClr val="FFFFFF"/>
                </a:solidFill>
                <a:latin typeface="Aptos"/>
                <a:ea typeface="Aptos"/>
                <a:cs typeface="Aptos"/>
              </a:defRPr>
            </a:pPr>
            <a:r>
              <a:rPr sz="1500" b="1">
                <a:solidFill>
                  <a:srgbClr val="FFFFFF"/>
                </a:solidFill>
                <a:latin typeface="Aptos"/>
                <a:ea typeface="Aptos"/>
                <a:cs typeface="Aptos"/>
              </a:rPr>
              <a:t>Browser sends</a:t>
            </a:r>
          </a:p>
        </p:txBody>
      </p:sp>
      <p:sp>
        <p:nvSpPr>
          <p:cNvPr id="42" name="圆角矩形 41"/>
          <p:cNvSpPr>
            <a:spLocks noGrp="1"/>
          </p:cNvSpPr>
          <p:nvPr/>
        </p:nvSpPr>
        <p:spPr>
          <a:xfrm>
            <a:off x="6934200" y="2152650"/>
            <a:ext cx="4305300" cy="419100"/>
          </a:xfrm>
          <a:prstGeom prst="roundRect">
            <a:avLst>
              <a:gd name="adj" fmla="val 18182"/>
            </a:avLst>
          </a:prstGeom>
          <a:solidFill>
            <a:srgbClr val="123F6D"/>
          </a:solidFill>
          <a:ln w="10478">
            <a:solidFill>
              <a:srgbClr val="123F6D"/>
            </a:solidFill>
            <a:prstDash val="solid"/>
          </a:ln>
        </p:spPr>
        <p:txBody>
          <a:bodyPr lIns="0" tIns="0" rIns="0" bIns="0" anchor="ctr">
            <a:normAutofit/>
          </a:bodyPr>
          <a:lstStyle/>
          <a:p>
            <a:pPr algn="ctr">
              <a:buNone/>
              <a:defRPr sz="1500" b="1">
                <a:solidFill>
                  <a:srgbClr val="FFFFFF"/>
                </a:solidFill>
                <a:latin typeface="Aptos"/>
                <a:ea typeface="Aptos"/>
                <a:cs typeface="Aptos"/>
              </a:defRPr>
            </a:pPr>
            <a:r>
              <a:rPr sz="1500" b="1">
                <a:solidFill>
                  <a:srgbClr val="FFFFFF"/>
                </a:solidFill>
                <a:latin typeface="Aptos"/>
                <a:ea typeface="Aptos"/>
                <a:cs typeface="Aptos"/>
              </a:rPr>
              <a:t>FastAPI returns</a:t>
            </a:r>
          </a:p>
        </p:txBody>
      </p:sp>
      <p:sp>
        <p:nvSpPr>
          <p:cNvPr id="43" name="圆角矩形 42"/>
          <p:cNvSpPr>
            <a:spLocks noGrp="1"/>
          </p:cNvSpPr>
          <p:nvPr/>
        </p:nvSpPr>
        <p:spPr>
          <a:xfrm>
            <a:off x="781050" y="2743200"/>
            <a:ext cx="4476750" cy="876300"/>
          </a:xfrm>
          <a:prstGeom prst="roundRect">
            <a:avLst>
              <a:gd name="adj" fmla="val 8696"/>
            </a:avLst>
          </a:prstGeom>
          <a:solidFill>
            <a:srgbClr val="FFF4DE"/>
          </a:solidFill>
          <a:ln w="11430">
            <a:solidFill>
              <a:srgbClr val="F59E0B"/>
            </a:solidFill>
            <a:prstDash val="solid"/>
          </a:ln>
        </p:spPr>
        <p:txBody>
          <a:bodyPr/>
          <a:lstStyle/>
          <a:p>
            <a:endParaRPr lang="zh-CN" altLang="en-US"/>
          </a:p>
        </p:txBody>
      </p:sp>
      <p:sp>
        <p:nvSpPr>
          <p:cNvPr id="44" name="矩形 43"/>
          <p:cNvSpPr>
            <a:spLocks noGrp="1"/>
          </p:cNvSpPr>
          <p:nvPr/>
        </p:nvSpPr>
        <p:spPr>
          <a:xfrm>
            <a:off x="781050" y="2743200"/>
            <a:ext cx="76200" cy="876300"/>
          </a:xfrm>
          <a:prstGeom prst="rect">
            <a:avLst/>
          </a:prstGeom>
          <a:solidFill>
            <a:srgbClr val="F59E0B"/>
          </a:solidFill>
          <a:ln w="0">
            <a:solidFill>
              <a:srgbClr val="F59E0B"/>
            </a:solidFill>
            <a:prstDash val="solid"/>
          </a:ln>
        </p:spPr>
        <p:txBody>
          <a:bodyPr/>
          <a:lstStyle/>
          <a:p>
            <a:endParaRPr lang="zh-CN" altLang="en-US"/>
          </a:p>
        </p:txBody>
      </p:sp>
      <p:sp>
        <p:nvSpPr>
          <p:cNvPr id="45" name="矩形 44"/>
          <p:cNvSpPr>
            <a:spLocks noGrp="1"/>
          </p:cNvSpPr>
          <p:nvPr/>
        </p:nvSpPr>
        <p:spPr>
          <a:xfrm>
            <a:off x="990600" y="2876550"/>
            <a:ext cx="41148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425" b="1">
                <a:solidFill>
                  <a:srgbClr val="F59E0B"/>
                </a:solidFill>
                <a:latin typeface="Aptos"/>
                <a:ea typeface="Aptos"/>
                <a:cs typeface="Aptos"/>
              </a:defRPr>
            </a:pPr>
            <a:r>
              <a:rPr sz="1425" b="1">
                <a:solidFill>
                  <a:srgbClr val="F59E0B"/>
                </a:solidFill>
                <a:latin typeface="Aptos"/>
                <a:ea typeface="Aptos"/>
                <a:cs typeface="Aptos"/>
              </a:rPr>
              <a:t>Upload</a:t>
            </a:r>
          </a:p>
        </p:txBody>
      </p:sp>
      <p:sp>
        <p:nvSpPr>
          <p:cNvPr id="46" name="矩形 45"/>
          <p:cNvSpPr>
            <a:spLocks noGrp="1"/>
          </p:cNvSpPr>
          <p:nvPr/>
        </p:nvSpPr>
        <p:spPr>
          <a:xfrm>
            <a:off x="990600" y="3295650"/>
            <a:ext cx="4114800" cy="190500"/>
          </a:xfrm>
          <a:prstGeom prst="rect">
            <a:avLst/>
          </a:prstGeom>
          <a:solidFill>
            <a:srgbClr val="FFFFFF">
              <a:alpha val="0"/>
            </a:srgbClr>
          </a:solidFill>
          <a:ln w="0">
            <a:solidFill>
              <a:srgbClr val="FFFFFF">
                <a:alpha val="0"/>
              </a:srgbClr>
            </a:solidFill>
            <a:prstDash val="solid"/>
          </a:ln>
        </p:spPr>
        <p:txBody>
          <a:bodyPr lIns="0" tIns="0" rIns="0" bIns="0" anchor="t">
            <a:normAutofit fontScale="98039"/>
          </a:bodyPr>
          <a:lstStyle/>
          <a:p>
            <a:pPr algn="l">
              <a:buNone/>
              <a:defRPr sz="1275" b="0">
                <a:solidFill>
                  <a:srgbClr val="123F6D"/>
                </a:solidFill>
                <a:latin typeface="Aptos"/>
                <a:ea typeface="Aptos"/>
                <a:cs typeface="Aptos"/>
              </a:defRPr>
            </a:pPr>
            <a:r>
              <a:rPr sz="1275" b="0">
                <a:solidFill>
                  <a:srgbClr val="123F6D"/>
                </a:solidFill>
                <a:latin typeface="Aptos"/>
                <a:ea typeface="Aptos"/>
                <a:cs typeface="Aptos"/>
              </a:rPr>
              <a:t>multipart file + chat_id</a:t>
            </a:r>
          </a:p>
        </p:txBody>
      </p:sp>
      <p:sp>
        <p:nvSpPr>
          <p:cNvPr id="47" name="右箭头 46"/>
          <p:cNvSpPr>
            <a:spLocks noGrp="1"/>
          </p:cNvSpPr>
          <p:nvPr/>
        </p:nvSpPr>
        <p:spPr>
          <a:xfrm>
            <a:off x="5600700" y="3067050"/>
            <a:ext cx="742950" cy="247650"/>
          </a:xfrm>
          <a:prstGeom prst="rightArrow">
            <a:avLst/>
          </a:prstGeom>
          <a:solidFill>
            <a:srgbClr val="F59E0B"/>
          </a:solidFill>
          <a:ln w="0">
            <a:solidFill>
              <a:srgbClr val="F59E0B"/>
            </a:solidFill>
            <a:prstDash val="solid"/>
          </a:ln>
        </p:spPr>
        <p:txBody>
          <a:bodyPr/>
          <a:lstStyle/>
          <a:p>
            <a:endParaRPr lang="zh-CN" altLang="en-US"/>
          </a:p>
        </p:txBody>
      </p:sp>
      <p:sp>
        <p:nvSpPr>
          <p:cNvPr id="48" name="圆角矩形 47"/>
          <p:cNvSpPr>
            <a:spLocks noGrp="1"/>
          </p:cNvSpPr>
          <p:nvPr/>
        </p:nvSpPr>
        <p:spPr>
          <a:xfrm>
            <a:off x="6934200" y="2743200"/>
            <a:ext cx="4305300" cy="876300"/>
          </a:xfrm>
          <a:prstGeom prst="roundRect">
            <a:avLst>
              <a:gd name="adj" fmla="val 8696"/>
            </a:avLst>
          </a:prstGeom>
          <a:solidFill>
            <a:srgbClr val="E4F7F5"/>
          </a:solidFill>
          <a:ln w="11430">
            <a:solidFill>
              <a:srgbClr val="00A7A0"/>
            </a:solidFill>
            <a:prstDash val="solid"/>
          </a:ln>
        </p:spPr>
        <p:txBody>
          <a:bodyPr/>
          <a:lstStyle/>
          <a:p>
            <a:endParaRPr lang="zh-CN" altLang="en-US"/>
          </a:p>
        </p:txBody>
      </p:sp>
      <p:sp>
        <p:nvSpPr>
          <p:cNvPr id="49" name="矩形 48"/>
          <p:cNvSpPr>
            <a:spLocks noGrp="1"/>
          </p:cNvSpPr>
          <p:nvPr/>
        </p:nvSpPr>
        <p:spPr>
          <a:xfrm>
            <a:off x="6934200" y="2743200"/>
            <a:ext cx="76200" cy="876300"/>
          </a:xfrm>
          <a:prstGeom prst="rect">
            <a:avLst/>
          </a:prstGeom>
          <a:solidFill>
            <a:srgbClr val="00A7A0"/>
          </a:solidFill>
          <a:ln w="0">
            <a:solidFill>
              <a:srgbClr val="00A7A0"/>
            </a:solidFill>
            <a:prstDash val="solid"/>
          </a:ln>
        </p:spPr>
        <p:txBody>
          <a:bodyPr/>
          <a:lstStyle/>
          <a:p>
            <a:endParaRPr lang="zh-CN" altLang="en-US"/>
          </a:p>
        </p:txBody>
      </p:sp>
      <p:sp>
        <p:nvSpPr>
          <p:cNvPr id="50" name="矩形 49"/>
          <p:cNvSpPr>
            <a:spLocks noGrp="1"/>
          </p:cNvSpPr>
          <p:nvPr/>
        </p:nvSpPr>
        <p:spPr>
          <a:xfrm>
            <a:off x="7143750" y="2876550"/>
            <a:ext cx="394335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425" b="1">
                <a:solidFill>
                  <a:srgbClr val="00A7A0"/>
                </a:solidFill>
                <a:latin typeface="Aptos"/>
                <a:ea typeface="Aptos"/>
                <a:cs typeface="Aptos"/>
              </a:defRPr>
            </a:pPr>
            <a:r>
              <a:rPr sz="1425" b="1">
                <a:solidFill>
                  <a:srgbClr val="00A7A0"/>
                </a:solidFill>
                <a:latin typeface="Aptos"/>
                <a:ea typeface="Aptos"/>
                <a:cs typeface="Aptos"/>
              </a:rPr>
              <a:t>200</a:t>
            </a:r>
          </a:p>
        </p:txBody>
      </p:sp>
      <p:sp>
        <p:nvSpPr>
          <p:cNvPr id="51" name="矩形 50"/>
          <p:cNvSpPr>
            <a:spLocks noGrp="1"/>
          </p:cNvSpPr>
          <p:nvPr/>
        </p:nvSpPr>
        <p:spPr>
          <a:xfrm>
            <a:off x="7143750" y="3295650"/>
            <a:ext cx="3943350" cy="190500"/>
          </a:xfrm>
          <a:prstGeom prst="rect">
            <a:avLst/>
          </a:prstGeom>
          <a:solidFill>
            <a:srgbClr val="FFFFFF">
              <a:alpha val="0"/>
            </a:srgbClr>
          </a:solidFill>
          <a:ln w="0">
            <a:solidFill>
              <a:srgbClr val="FFFFFF">
                <a:alpha val="0"/>
              </a:srgbClr>
            </a:solidFill>
            <a:prstDash val="solid"/>
          </a:ln>
        </p:spPr>
        <p:txBody>
          <a:bodyPr lIns="0" tIns="0" rIns="0" bIns="0" anchor="t">
            <a:normAutofit fontScale="98039"/>
          </a:bodyPr>
          <a:lstStyle/>
          <a:p>
            <a:pPr algn="l">
              <a:buNone/>
              <a:defRPr sz="1275" b="0">
                <a:solidFill>
                  <a:srgbClr val="123F6D"/>
                </a:solidFill>
                <a:latin typeface="Aptos"/>
                <a:ea typeface="Aptos"/>
                <a:cs typeface="Aptos"/>
              </a:defRPr>
            </a:pPr>
            <a:r>
              <a:rPr sz="1275" b="0">
                <a:solidFill>
                  <a:srgbClr val="123F6D"/>
                </a:solidFill>
                <a:latin typeface="Aptos"/>
                <a:ea typeface="Aptos"/>
                <a:cs typeface="Aptos"/>
              </a:rPr>
              <a:t>status + pages + characters</a:t>
            </a:r>
          </a:p>
        </p:txBody>
      </p:sp>
      <p:sp>
        <p:nvSpPr>
          <p:cNvPr id="52" name="圆角矩形 51"/>
          <p:cNvSpPr>
            <a:spLocks noGrp="1"/>
          </p:cNvSpPr>
          <p:nvPr/>
        </p:nvSpPr>
        <p:spPr>
          <a:xfrm>
            <a:off x="781050" y="3829050"/>
            <a:ext cx="4476750" cy="876300"/>
          </a:xfrm>
          <a:prstGeom prst="roundRect">
            <a:avLst>
              <a:gd name="adj" fmla="val 8696"/>
            </a:avLst>
          </a:prstGeom>
          <a:solidFill>
            <a:srgbClr val="FFF4DE"/>
          </a:solidFill>
          <a:ln w="11430">
            <a:solidFill>
              <a:srgbClr val="F59E0B"/>
            </a:solidFill>
            <a:prstDash val="solid"/>
          </a:ln>
        </p:spPr>
        <p:txBody>
          <a:bodyPr/>
          <a:lstStyle/>
          <a:p>
            <a:endParaRPr lang="zh-CN" altLang="en-US"/>
          </a:p>
        </p:txBody>
      </p:sp>
      <p:sp>
        <p:nvSpPr>
          <p:cNvPr id="53" name="矩形 52"/>
          <p:cNvSpPr>
            <a:spLocks noGrp="1"/>
          </p:cNvSpPr>
          <p:nvPr/>
        </p:nvSpPr>
        <p:spPr>
          <a:xfrm>
            <a:off x="781050" y="3829050"/>
            <a:ext cx="76200" cy="876300"/>
          </a:xfrm>
          <a:prstGeom prst="rect">
            <a:avLst/>
          </a:prstGeom>
          <a:solidFill>
            <a:srgbClr val="F59E0B"/>
          </a:solidFill>
          <a:ln w="0">
            <a:solidFill>
              <a:srgbClr val="F59E0B"/>
            </a:solidFill>
            <a:prstDash val="solid"/>
          </a:ln>
        </p:spPr>
        <p:txBody>
          <a:bodyPr/>
          <a:lstStyle/>
          <a:p>
            <a:endParaRPr lang="zh-CN" altLang="en-US"/>
          </a:p>
        </p:txBody>
      </p:sp>
      <p:sp>
        <p:nvSpPr>
          <p:cNvPr id="54" name="矩形 53"/>
          <p:cNvSpPr>
            <a:spLocks noGrp="1"/>
          </p:cNvSpPr>
          <p:nvPr/>
        </p:nvSpPr>
        <p:spPr>
          <a:xfrm>
            <a:off x="990600" y="3962400"/>
            <a:ext cx="41148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425" b="1">
                <a:solidFill>
                  <a:srgbClr val="F59E0B"/>
                </a:solidFill>
                <a:latin typeface="Aptos"/>
                <a:ea typeface="Aptos"/>
                <a:cs typeface="Aptos"/>
              </a:defRPr>
            </a:pPr>
            <a:r>
              <a:rPr sz="1425" b="1">
                <a:solidFill>
                  <a:srgbClr val="F59E0B"/>
                </a:solidFill>
                <a:latin typeface="Aptos"/>
                <a:ea typeface="Aptos"/>
                <a:cs typeface="Aptos"/>
              </a:rPr>
              <a:t>Chat</a:t>
            </a:r>
          </a:p>
        </p:txBody>
      </p:sp>
      <p:sp>
        <p:nvSpPr>
          <p:cNvPr id="55" name="矩形 54"/>
          <p:cNvSpPr>
            <a:spLocks noGrp="1"/>
          </p:cNvSpPr>
          <p:nvPr/>
        </p:nvSpPr>
        <p:spPr>
          <a:xfrm>
            <a:off x="990600" y="4381500"/>
            <a:ext cx="4114800" cy="190500"/>
          </a:xfrm>
          <a:prstGeom prst="rect">
            <a:avLst/>
          </a:prstGeom>
          <a:solidFill>
            <a:srgbClr val="FFFFFF">
              <a:alpha val="0"/>
            </a:srgbClr>
          </a:solidFill>
          <a:ln w="0">
            <a:solidFill>
              <a:srgbClr val="FFFFFF">
                <a:alpha val="0"/>
              </a:srgbClr>
            </a:solidFill>
            <a:prstDash val="solid"/>
          </a:ln>
        </p:spPr>
        <p:txBody>
          <a:bodyPr lIns="0" tIns="0" rIns="0" bIns="0" anchor="t">
            <a:normAutofit fontScale="98039"/>
          </a:bodyPr>
          <a:lstStyle/>
          <a:p>
            <a:pPr algn="l">
              <a:buNone/>
              <a:defRPr sz="1275" b="0">
                <a:solidFill>
                  <a:srgbClr val="123F6D"/>
                </a:solidFill>
                <a:latin typeface="Aptos"/>
                <a:ea typeface="Aptos"/>
                <a:cs typeface="Aptos"/>
              </a:defRPr>
            </a:pPr>
            <a:r>
              <a:rPr sz="1275" b="0">
                <a:solidFill>
                  <a:srgbClr val="123F6D"/>
                </a:solidFill>
                <a:latin typeface="Aptos"/>
                <a:ea typeface="Aptos"/>
                <a:cs typeface="Aptos"/>
              </a:rPr>
              <a:t>JSON { chat_id, message }</a:t>
            </a:r>
          </a:p>
        </p:txBody>
      </p:sp>
      <p:sp>
        <p:nvSpPr>
          <p:cNvPr id="56" name="右箭头 55"/>
          <p:cNvSpPr>
            <a:spLocks noGrp="1"/>
          </p:cNvSpPr>
          <p:nvPr/>
        </p:nvSpPr>
        <p:spPr>
          <a:xfrm>
            <a:off x="5600700" y="4152900"/>
            <a:ext cx="742950" cy="247650"/>
          </a:xfrm>
          <a:prstGeom prst="rightArrow">
            <a:avLst/>
          </a:prstGeom>
          <a:solidFill>
            <a:srgbClr val="F59E0B"/>
          </a:solidFill>
          <a:ln w="0">
            <a:solidFill>
              <a:srgbClr val="F59E0B"/>
            </a:solidFill>
            <a:prstDash val="solid"/>
          </a:ln>
        </p:spPr>
        <p:txBody>
          <a:bodyPr/>
          <a:lstStyle/>
          <a:p>
            <a:endParaRPr lang="zh-CN" altLang="en-US"/>
          </a:p>
        </p:txBody>
      </p:sp>
      <p:sp>
        <p:nvSpPr>
          <p:cNvPr id="57" name="圆角矩形 56"/>
          <p:cNvSpPr>
            <a:spLocks noGrp="1"/>
          </p:cNvSpPr>
          <p:nvPr/>
        </p:nvSpPr>
        <p:spPr>
          <a:xfrm>
            <a:off x="6934200" y="3829050"/>
            <a:ext cx="4305300" cy="876300"/>
          </a:xfrm>
          <a:prstGeom prst="roundRect">
            <a:avLst>
              <a:gd name="adj" fmla="val 8696"/>
            </a:avLst>
          </a:prstGeom>
          <a:solidFill>
            <a:srgbClr val="E4F7F5"/>
          </a:solidFill>
          <a:ln w="11430">
            <a:solidFill>
              <a:srgbClr val="00A7A0"/>
            </a:solidFill>
            <a:prstDash val="solid"/>
          </a:ln>
        </p:spPr>
        <p:txBody>
          <a:bodyPr/>
          <a:lstStyle/>
          <a:p>
            <a:endParaRPr lang="zh-CN" altLang="en-US"/>
          </a:p>
        </p:txBody>
      </p:sp>
      <p:sp>
        <p:nvSpPr>
          <p:cNvPr id="58" name="矩形 57"/>
          <p:cNvSpPr>
            <a:spLocks noGrp="1"/>
          </p:cNvSpPr>
          <p:nvPr/>
        </p:nvSpPr>
        <p:spPr>
          <a:xfrm>
            <a:off x="6934200" y="3829050"/>
            <a:ext cx="76200" cy="876300"/>
          </a:xfrm>
          <a:prstGeom prst="rect">
            <a:avLst/>
          </a:prstGeom>
          <a:solidFill>
            <a:srgbClr val="00A7A0"/>
          </a:solidFill>
          <a:ln w="0">
            <a:solidFill>
              <a:srgbClr val="00A7A0"/>
            </a:solidFill>
            <a:prstDash val="solid"/>
          </a:ln>
        </p:spPr>
        <p:txBody>
          <a:bodyPr/>
          <a:lstStyle/>
          <a:p>
            <a:endParaRPr lang="zh-CN" altLang="en-US"/>
          </a:p>
        </p:txBody>
      </p:sp>
      <p:sp>
        <p:nvSpPr>
          <p:cNvPr id="59" name="矩形 58"/>
          <p:cNvSpPr>
            <a:spLocks noGrp="1"/>
          </p:cNvSpPr>
          <p:nvPr/>
        </p:nvSpPr>
        <p:spPr>
          <a:xfrm>
            <a:off x="7143750" y="3962400"/>
            <a:ext cx="394335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425" b="1">
                <a:solidFill>
                  <a:srgbClr val="00A7A0"/>
                </a:solidFill>
                <a:latin typeface="Aptos"/>
                <a:ea typeface="Aptos"/>
                <a:cs typeface="Aptos"/>
              </a:defRPr>
            </a:pPr>
            <a:r>
              <a:rPr sz="1425" b="1">
                <a:solidFill>
                  <a:srgbClr val="00A7A0"/>
                </a:solidFill>
                <a:latin typeface="Aptos"/>
                <a:ea typeface="Aptos"/>
                <a:cs typeface="Aptos"/>
              </a:rPr>
              <a:t>200</a:t>
            </a:r>
          </a:p>
        </p:txBody>
      </p:sp>
      <p:sp>
        <p:nvSpPr>
          <p:cNvPr id="60" name="矩形 59"/>
          <p:cNvSpPr>
            <a:spLocks noGrp="1"/>
          </p:cNvSpPr>
          <p:nvPr/>
        </p:nvSpPr>
        <p:spPr>
          <a:xfrm>
            <a:off x="7143750" y="4381500"/>
            <a:ext cx="3943350" cy="190500"/>
          </a:xfrm>
          <a:prstGeom prst="rect">
            <a:avLst/>
          </a:prstGeom>
          <a:solidFill>
            <a:srgbClr val="FFFFFF">
              <a:alpha val="0"/>
            </a:srgbClr>
          </a:solidFill>
          <a:ln w="0">
            <a:solidFill>
              <a:srgbClr val="FFFFFF">
                <a:alpha val="0"/>
              </a:srgbClr>
            </a:solidFill>
            <a:prstDash val="solid"/>
          </a:ln>
        </p:spPr>
        <p:txBody>
          <a:bodyPr lIns="0" tIns="0" rIns="0" bIns="0" anchor="t">
            <a:normAutofit fontScale="98039"/>
          </a:bodyPr>
          <a:lstStyle/>
          <a:p>
            <a:pPr algn="l">
              <a:buNone/>
              <a:defRPr sz="1275" b="0">
                <a:solidFill>
                  <a:srgbClr val="123F6D"/>
                </a:solidFill>
                <a:latin typeface="Aptos"/>
                <a:ea typeface="Aptos"/>
                <a:cs typeface="Aptos"/>
              </a:defRPr>
            </a:pPr>
            <a:r>
              <a:rPr sz="1275" b="0">
                <a:solidFill>
                  <a:srgbClr val="123F6D"/>
                </a:solidFill>
                <a:latin typeface="Aptos"/>
                <a:ea typeface="Aptos"/>
                <a:cs typeface="Aptos"/>
              </a:rPr>
              <a:t>{ answer, citations }</a:t>
            </a:r>
          </a:p>
        </p:txBody>
      </p:sp>
      <p:sp>
        <p:nvSpPr>
          <p:cNvPr id="61" name="圆角矩形 60"/>
          <p:cNvSpPr>
            <a:spLocks noGrp="1"/>
          </p:cNvSpPr>
          <p:nvPr/>
        </p:nvSpPr>
        <p:spPr>
          <a:xfrm>
            <a:off x="78105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method</a:t>
            </a:r>
          </a:p>
        </p:txBody>
      </p:sp>
      <p:sp>
        <p:nvSpPr>
          <p:cNvPr id="62" name="矩形 61"/>
          <p:cNvSpPr>
            <a:spLocks noGrp="1"/>
          </p:cNvSpPr>
          <p:nvPr/>
        </p:nvSpPr>
        <p:spPr>
          <a:xfrm>
            <a:off x="1981200" y="5038725"/>
            <a:ext cx="1905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637A90"/>
                </a:solidFill>
                <a:latin typeface="Aptos"/>
                <a:ea typeface="Aptos"/>
                <a:cs typeface="Aptos"/>
              </a:defRPr>
            </a:pPr>
            <a:r>
              <a:rPr sz="1275" b="1">
                <a:solidFill>
                  <a:srgbClr val="637A90"/>
                </a:solidFill>
                <a:latin typeface="Aptos"/>
                <a:ea typeface="Aptos"/>
                <a:cs typeface="Aptos"/>
              </a:rPr>
              <a:t>→</a:t>
            </a:r>
          </a:p>
        </p:txBody>
      </p:sp>
      <p:sp>
        <p:nvSpPr>
          <p:cNvPr id="63" name="圆角矩形 62"/>
          <p:cNvSpPr>
            <a:spLocks noGrp="1"/>
          </p:cNvSpPr>
          <p:nvPr/>
        </p:nvSpPr>
        <p:spPr>
          <a:xfrm>
            <a:off x="217170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path</a:t>
            </a:r>
          </a:p>
        </p:txBody>
      </p:sp>
      <p:sp>
        <p:nvSpPr>
          <p:cNvPr id="64" name="矩形 63"/>
          <p:cNvSpPr>
            <a:spLocks noGrp="1"/>
          </p:cNvSpPr>
          <p:nvPr/>
        </p:nvSpPr>
        <p:spPr>
          <a:xfrm>
            <a:off x="3371850" y="5038725"/>
            <a:ext cx="1905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637A90"/>
                </a:solidFill>
                <a:latin typeface="Aptos"/>
                <a:ea typeface="Aptos"/>
                <a:cs typeface="Aptos"/>
              </a:defRPr>
            </a:pPr>
            <a:r>
              <a:rPr sz="1275" b="1">
                <a:solidFill>
                  <a:srgbClr val="637A90"/>
                </a:solidFill>
                <a:latin typeface="Aptos"/>
                <a:ea typeface="Aptos"/>
                <a:cs typeface="Aptos"/>
              </a:rPr>
              <a:t>→</a:t>
            </a:r>
          </a:p>
        </p:txBody>
      </p:sp>
      <p:sp>
        <p:nvSpPr>
          <p:cNvPr id="65" name="圆角矩形 64"/>
          <p:cNvSpPr>
            <a:spLocks noGrp="1"/>
          </p:cNvSpPr>
          <p:nvPr/>
        </p:nvSpPr>
        <p:spPr>
          <a:xfrm>
            <a:off x="356235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type</a:t>
            </a:r>
          </a:p>
        </p:txBody>
      </p:sp>
      <p:sp>
        <p:nvSpPr>
          <p:cNvPr id="66" name="矩形 65"/>
          <p:cNvSpPr>
            <a:spLocks noGrp="1"/>
          </p:cNvSpPr>
          <p:nvPr/>
        </p:nvSpPr>
        <p:spPr>
          <a:xfrm>
            <a:off x="4762500" y="5038725"/>
            <a:ext cx="1905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637A90"/>
                </a:solidFill>
                <a:latin typeface="Aptos"/>
                <a:ea typeface="Aptos"/>
                <a:cs typeface="Aptos"/>
              </a:defRPr>
            </a:pPr>
            <a:r>
              <a:rPr sz="1275" b="1">
                <a:solidFill>
                  <a:srgbClr val="637A90"/>
                </a:solidFill>
                <a:latin typeface="Aptos"/>
                <a:ea typeface="Aptos"/>
                <a:cs typeface="Aptos"/>
              </a:rPr>
              <a:t>→</a:t>
            </a:r>
          </a:p>
        </p:txBody>
      </p:sp>
      <p:sp>
        <p:nvSpPr>
          <p:cNvPr id="67" name="圆角矩形 66"/>
          <p:cNvSpPr>
            <a:spLocks noGrp="1"/>
          </p:cNvSpPr>
          <p:nvPr/>
        </p:nvSpPr>
        <p:spPr>
          <a:xfrm>
            <a:off x="495300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body</a:t>
            </a:r>
          </a:p>
        </p:txBody>
      </p:sp>
      <p:sp>
        <p:nvSpPr>
          <p:cNvPr id="68" name="矩形 67"/>
          <p:cNvSpPr>
            <a:spLocks noGrp="1"/>
          </p:cNvSpPr>
          <p:nvPr/>
        </p:nvSpPr>
        <p:spPr>
          <a:xfrm>
            <a:off x="6153150" y="5038725"/>
            <a:ext cx="1905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637A90"/>
                </a:solidFill>
                <a:latin typeface="Aptos"/>
                <a:ea typeface="Aptos"/>
                <a:cs typeface="Aptos"/>
              </a:defRPr>
            </a:pPr>
            <a:r>
              <a:rPr sz="1275" b="1">
                <a:solidFill>
                  <a:srgbClr val="637A90"/>
                </a:solidFill>
                <a:latin typeface="Aptos"/>
                <a:ea typeface="Aptos"/>
                <a:cs typeface="Aptos"/>
              </a:rPr>
              <a:t>→</a:t>
            </a:r>
          </a:p>
        </p:txBody>
      </p:sp>
      <p:sp>
        <p:nvSpPr>
          <p:cNvPr id="69" name="圆角矩形 68"/>
          <p:cNvSpPr>
            <a:spLocks noGrp="1"/>
          </p:cNvSpPr>
          <p:nvPr/>
        </p:nvSpPr>
        <p:spPr>
          <a:xfrm>
            <a:off x="634365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status</a:t>
            </a:r>
          </a:p>
        </p:txBody>
      </p:sp>
      <p:sp>
        <p:nvSpPr>
          <p:cNvPr id="70" name="矩形 69"/>
          <p:cNvSpPr>
            <a:spLocks noGrp="1"/>
          </p:cNvSpPr>
          <p:nvPr/>
        </p:nvSpPr>
        <p:spPr>
          <a:xfrm>
            <a:off x="7543800" y="5038725"/>
            <a:ext cx="1905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637A90"/>
                </a:solidFill>
                <a:latin typeface="Aptos"/>
                <a:ea typeface="Aptos"/>
                <a:cs typeface="Aptos"/>
              </a:defRPr>
            </a:pPr>
            <a:r>
              <a:rPr sz="1275" b="1">
                <a:solidFill>
                  <a:srgbClr val="637A90"/>
                </a:solidFill>
                <a:latin typeface="Aptos"/>
                <a:ea typeface="Aptos"/>
                <a:cs typeface="Aptos"/>
              </a:rPr>
              <a:t>→</a:t>
            </a:r>
          </a:p>
        </p:txBody>
      </p:sp>
      <p:sp>
        <p:nvSpPr>
          <p:cNvPr id="71" name="圆角矩形 70"/>
          <p:cNvSpPr>
            <a:spLocks noGrp="1"/>
          </p:cNvSpPr>
          <p:nvPr/>
        </p:nvSpPr>
        <p:spPr>
          <a:xfrm>
            <a:off x="7734300" y="5029200"/>
            <a:ext cx="12001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response</a:t>
            </a:r>
          </a:p>
        </p:txBody>
      </p:sp>
      <p:sp>
        <p:nvSpPr>
          <p:cNvPr id="72" name="圆角矩形 71"/>
          <p:cNvSpPr>
            <a:spLocks noGrp="1"/>
          </p:cNvSpPr>
          <p:nvPr/>
        </p:nvSpPr>
        <p:spPr>
          <a:xfrm>
            <a:off x="9220200" y="5010150"/>
            <a:ext cx="2019300" cy="361950"/>
          </a:xfrm>
          <a:prstGeom prst="roundRect">
            <a:avLst>
              <a:gd name="adj" fmla="val 21053"/>
            </a:avLst>
          </a:prstGeom>
          <a:solidFill>
            <a:srgbClr val="FCEBEC"/>
          </a:solidFill>
          <a:ln w="10478">
            <a:solidFill>
              <a:srgbClr val="C94A4A"/>
            </a:solidFill>
            <a:prstDash val="solid"/>
          </a:ln>
        </p:spPr>
        <p:txBody>
          <a:bodyPr lIns="38100" tIns="38100" rIns="38100" bIns="38100" anchor="ctr">
            <a:normAutofit fontScale="94870"/>
          </a:bodyPr>
          <a:lstStyle/>
          <a:p>
            <a:pPr algn="ctr">
              <a:buNone/>
              <a:defRPr sz="1125" b="1">
                <a:solidFill>
                  <a:srgbClr val="C94A4A"/>
                </a:solidFill>
                <a:latin typeface="Aptos"/>
                <a:ea typeface="Aptos"/>
                <a:cs typeface="Aptos"/>
              </a:defRPr>
            </a:pPr>
            <a:r>
              <a:rPr sz="1125" b="1">
                <a:solidFill>
                  <a:srgbClr val="C94A4A"/>
                </a:solidFill>
                <a:latin typeface="Aptos"/>
                <a:ea typeface="Aptos"/>
                <a:cs typeface="Aptos"/>
              </a:rPr>
              <a:t>422? Compare the fields first.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矩形 28"/>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MAKE ANSWERS POINT BACK TO THE SOURCE</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Ground the prompt with page-numbered text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18</a:t>
            </a:r>
          </a:p>
        </p:txBody>
      </p:sp>
      <p:sp>
        <p:nvSpPr>
          <p:cNvPr id="14" name="圆角矩形 13"/>
          <p:cNvSpPr>
            <a:spLocks noGrp="1"/>
          </p:cNvSpPr>
          <p:nvPr/>
        </p:nvSpPr>
        <p:spPr>
          <a:xfrm>
            <a:off x="685800" y="1390650"/>
            <a:ext cx="4953000" cy="3562350"/>
          </a:xfrm>
          <a:prstGeom prst="roundRect">
            <a:avLst>
              <a:gd name="adj" fmla="val 2139"/>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4610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SERVICES/PDF.PY · COPY THE PAGE-AWARE PARSER FROM LAB A</a:t>
            </a:r>
          </a:p>
        </p:txBody>
      </p:sp>
      <p:sp>
        <p:nvSpPr>
          <p:cNvPr id="16" name="矩形 15"/>
          <p:cNvSpPr>
            <a:spLocks noGrp="1"/>
          </p:cNvSpPr>
          <p:nvPr/>
        </p:nvSpPr>
        <p:spPr>
          <a:xfrm>
            <a:off x="857250" y="1790700"/>
            <a:ext cx="4610100" cy="30480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63B3ED"/>
                </a:solidFill>
                <a:latin typeface="Monaco"/>
                <a:ea typeface="Monaco"/>
                <a:cs typeface="Monaco"/>
              </a:rPr>
              <a:t>def</a:t>
            </a:r>
            <a:r>
              <a:rPr sz="1200" b="0">
                <a:solidFill>
                  <a:srgbClr val="F1F6FA"/>
                </a:solidFill>
                <a:latin typeface="Monaco"/>
                <a:ea typeface="Monaco"/>
                <a:cs typeface="Monaco"/>
              </a:rPr>
              <a:t> </a:t>
            </a:r>
            <a:r>
              <a:rPr sz="1200" b="0">
                <a:solidFill>
                  <a:srgbClr val="70D6E8"/>
                </a:solidFill>
                <a:latin typeface="Monaco"/>
                <a:ea typeface="Monaco"/>
                <a:cs typeface="Monaco"/>
              </a:rPr>
              <a:t>extract_pages</a:t>
            </a:r>
            <a:r>
              <a:rPr sz="1200" b="0">
                <a:solidFill>
                  <a:srgbClr val="F1F6FA"/>
                </a:solidFill>
                <a:latin typeface="Monaco"/>
                <a:ea typeface="Monaco"/>
                <a:cs typeface="Monaco"/>
              </a:rPr>
              <a:t>(pdf_bytes: bytes):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reader = PdfReader</a:t>
            </a:r>
            <a:r>
              <a:rPr sz="1200" b="0">
                <a:solidFill>
                  <a:srgbClr val="F1F6FA"/>
                </a:solidFill>
                <a:latin typeface="Monaco"/>
                <a:ea typeface="Monaco"/>
                <a:cs typeface="Monaco"/>
              </a:rPr>
              <a:t> </a:t>
            </a:r>
            <a:r>
              <a:rPr sz="1200" b="0">
                <a:solidFill>
                  <a:srgbClr val="F6C85F"/>
                </a:solidFill>
                <a:latin typeface="Monaco"/>
                <a:ea typeface="Monaco"/>
                <a:cs typeface="Monaco"/>
              </a:rPr>
              <a:t>(</a:t>
            </a:r>
            <a:r>
              <a:rPr sz="1200" b="0">
                <a:solidFill>
                  <a:srgbClr val="F1F6FA"/>
                </a:solidFill>
                <a:latin typeface="Monaco"/>
                <a:ea typeface="Monaco"/>
                <a:cs typeface="Monaco"/>
              </a:rPr>
              <a:t>BytesIO(pdf_bytes))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if len(reader.pages) &gt; MAX_PAGES: # </a:t>
            </a:r>
            <a:r>
              <a:rPr sz="1200" b="0">
                <a:solidFill>
                  <a:srgbClr val="F6C85F"/>
                </a:solidFill>
                <a:latin typeface="Monaco"/>
                <a:ea typeface="Monaco"/>
                <a:cs typeface="Monaco"/>
              </a:rPr>
              <a:t>30-page guardrail</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raise</a:t>
            </a:r>
            <a:r>
              <a:rPr sz="1200" b="0">
                <a:solidFill>
                  <a:srgbClr val="F1F6FA"/>
                </a:solidFill>
                <a:latin typeface="Monaco"/>
                <a:ea typeface="Monaco"/>
                <a:cs typeface="Monaco"/>
              </a:rPr>
              <a:t> ValueError("PDF must be &lt;= 30 pages") # </a:t>
            </a:r>
            <a:r>
              <a:rPr sz="1200" b="0">
                <a:solidFill>
                  <a:srgbClr val="63B3ED"/>
                </a:solidFill>
                <a:latin typeface="Monaco"/>
                <a:ea typeface="Monaco"/>
                <a:cs typeface="Monaco"/>
              </a:rPr>
              <a:t>limit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 Return page-aware records</a:t>
            </a:r>
          </a:p>
          <a:p>
            <a:endParaRPr sz="1200"/>
          </a:p>
          <a:p>
            <a:pPr algn="l">
              <a:buNone/>
              <a:defRPr sz="1200" b="0">
                <a:solidFill>
                  <a:srgbClr val="F1F6FA"/>
                </a:solidFill>
                <a:latin typeface="Monaco"/>
                <a:ea typeface="Monaco"/>
                <a:cs typeface="Monaco"/>
              </a:defRPr>
            </a:pPr>
            <a:r>
              <a:rPr sz="1200" b="0">
                <a:solidFill>
                  <a:srgbClr val="A7E3A1"/>
                </a:solidFill>
                <a:latin typeface="Monaco"/>
                <a:ea typeface="Monaco"/>
                <a:cs typeface="Monaco"/>
              </a:rPr>
              <a:t>  return</a:t>
            </a:r>
            <a:r>
              <a:rPr sz="1200" b="0">
                <a:solidFill>
                  <a:srgbClr val="F1F6FA"/>
                </a:solidFill>
                <a:latin typeface="Monaco"/>
                <a:ea typeface="Monaco"/>
                <a:cs typeface="Monaco"/>
              </a:rPr>
              <a:t> [{"page": n, "text": </a:t>
            </a:r>
            <a:r>
              <a:rPr sz="1200" b="0">
                <a:solidFill>
                  <a:srgbClr val="F6C85F"/>
                </a:solidFill>
                <a:latin typeface="Monaco"/>
                <a:ea typeface="Monaco"/>
                <a:cs typeface="Monaco"/>
              </a:rPr>
              <a:t>(p.extract_text() or "").strip()}</a:t>
            </a:r>
          </a:p>
          <a:p>
            <a:pPr algn="l">
              <a:buNone/>
              <a:defRPr sz="1200" b="0">
                <a:solidFill>
                  <a:srgbClr val="F1F6FA"/>
                </a:solidFill>
                <a:latin typeface="Monaco"/>
                <a:ea typeface="Monaco"/>
                <a:cs typeface="Monaco"/>
              </a:defRPr>
            </a:pPr>
            <a:r>
              <a:rPr sz="1200" b="0">
                <a:solidFill>
                  <a:srgbClr val="F6C85F"/>
                </a:solidFill>
                <a:latin typeface="Monaco"/>
                <a:ea typeface="Monaco"/>
                <a:cs typeface="Monaco"/>
              </a:rPr>
              <a:t>    for n, p in enumerate(reader.pages, 1)]</a:t>
            </a:r>
          </a:p>
          <a:p>
            <a:pPr algn="l">
              <a:buNone/>
              <a:defRPr sz="1200" b="0">
                <a:solidFill>
                  <a:srgbClr val="F1F6FA"/>
                </a:solidFill>
                <a:latin typeface="Monaco"/>
                <a:ea typeface="Monaco"/>
                <a:cs typeface="Monaco"/>
              </a:defRPr>
            </a:pPr>
            <a:r>
              <a:rPr sz="1200" b="0">
                <a:solidFill>
                  <a:srgbClr val="F6C85F"/>
                </a:solidFill>
                <a:latin typeface="Monaco"/>
                <a:ea typeface="Monaco"/>
                <a:cs typeface="Monaco"/>
              </a:rPr>
              <a:t># pypdf extracts text; it does not perform OCR.</a:t>
            </a:r>
          </a:p>
          <a:p>
            <a:pPr algn="l">
              <a:buNone/>
              <a:defRPr sz="1200" b="0">
                <a:solidFill>
                  <a:srgbClr val="F1F6FA"/>
                </a:solidFill>
                <a:latin typeface="Monaco"/>
                <a:ea typeface="Monaco"/>
                <a:cs typeface="Monaco"/>
              </a:defRPr>
            </a:pPr>
            <a:r>
              <a:rPr sz="1200" b="0">
                <a:solidFill>
                  <a:srgbClr val="F6C85F"/>
                </a:solidFill>
                <a:latin typeface="Monaco"/>
                <a:ea typeface="Monaco"/>
                <a:cs typeface="Monaco"/>
              </a:rPr>
              <a:t># Each record keeps its original page number.</a:t>
            </a:r>
          </a:p>
          <a:p>
            <a:pPr algn="l">
              <a:buNone/>
              <a:defRPr sz="1200" b="0">
                <a:solidFill>
                  <a:srgbClr val="F1F6FA"/>
                </a:solidFill>
                <a:latin typeface="Monaco"/>
                <a:ea typeface="Monaco"/>
                <a:cs typeface="Monaco"/>
              </a:defRPr>
            </a:pPr>
            <a:endParaRPr sz="1200" b="0">
              <a:solidFill>
                <a:srgbClr val="F6C85F"/>
              </a:solidFill>
              <a:latin typeface="Monaco"/>
              <a:ea typeface="Monaco"/>
              <a:cs typeface="Monaco"/>
            </a:endParaRPr>
          </a:p>
        </p:txBody>
      </p:sp>
      <p:sp>
        <p:nvSpPr>
          <p:cNvPr id="17" name="圆角矩形 16"/>
          <p:cNvSpPr>
            <a:spLocks noGrp="1"/>
          </p:cNvSpPr>
          <p:nvPr/>
        </p:nvSpPr>
        <p:spPr>
          <a:xfrm>
            <a:off x="5905500" y="1390650"/>
            <a:ext cx="5219700" cy="3562350"/>
          </a:xfrm>
          <a:prstGeom prst="roundRect">
            <a:avLst>
              <a:gd name="adj" fmla="val 2139"/>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6076950" y="1524000"/>
            <a:ext cx="48768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SERVICES/LLM.PY · LAB A PROVIDES THE GROUNDED OPENROUTER SERVICE</a:t>
            </a:r>
          </a:p>
        </p:txBody>
      </p:sp>
      <p:sp>
        <p:nvSpPr>
          <p:cNvPr id="19" name="矩形 18"/>
          <p:cNvSpPr>
            <a:spLocks noGrp="1"/>
          </p:cNvSpPr>
          <p:nvPr/>
        </p:nvSpPr>
        <p:spPr>
          <a:xfrm>
            <a:off x="6076950" y="1790700"/>
            <a:ext cx="4876800" cy="3048000"/>
          </a:xfrm>
          <a:prstGeom prst="rect">
            <a:avLst/>
          </a:prstGeom>
          <a:solidFill>
            <a:srgbClr val="FFFFFF">
              <a:alpha val="0"/>
            </a:srgbClr>
          </a:solidFill>
          <a:ln w="0">
            <a:solidFill>
              <a:srgbClr val="000000">
                <a:alpha val="0"/>
              </a:srgbClr>
            </a:solidFill>
            <a:prstDash val="solid"/>
          </a:ln>
        </p:spPr>
        <p:txBody>
          <a:bodyPr lIns="171450" tIns="152400" rIns="171450" bIns="133350" anchor="t">
            <a:normAutofit/>
          </a:bodyPr>
          <a:lstStyle/>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def answer_from_pages(pages, message):</a:t>
            </a:r>
          </a:p>
          <a:p>
            <a:r>
              <a:rPr sz="1050">
                <a:solidFill>
                  <a:srgbClr val="F4F8FB"/>
                </a:solidFill>
                <a:latin typeface="Consolas"/>
                <a:ea typeface="Consolas"/>
                <a:cs typeface="Consolas"/>
              </a:rPr>
              <a:t>  document_text = "\n\n".join(</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f"### [Page {p['page']}]\n{p['text']}"</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for p in pages if p["text"]</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prompt = f"PDF text:\n{document_text}\n\nmessage: {message}"</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response = client.chat.completions.create(</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model=MODEL,</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temperature=0.0,</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messages=[</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{"role": "system", "content": SYSTEM_PROMPT},</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{"role": "user", "content": prompt},</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a:t>
            </a:r>
          </a:p>
          <a:p>
            <a:pPr algn="l">
              <a:buNone/>
              <a:defRPr sz="1050" b="0">
                <a:solidFill>
                  <a:srgbClr val="F1F6FA"/>
                </a:solidFill>
                <a:latin typeface="Monaco"/>
                <a:ea typeface="Monaco"/>
                <a:cs typeface="Monaco"/>
              </a:defRPr>
            </a:pPr>
            <a:r>
              <a:rPr sz="1050" b="0">
                <a:solidFill>
                  <a:srgbClr val="F4F8FB"/>
                </a:solidFill>
                <a:latin typeface="Consolas"/>
                <a:ea typeface="Consolas"/>
                <a:cs typeface="Consolas"/>
              </a:rPr>
              <a:t>  return response.choices[0].message.content.strip()</a:t>
            </a:r>
          </a:p>
        </p:txBody>
      </p:sp>
      <p:sp>
        <p:nvSpPr>
          <p:cNvPr id="20" name="圆角矩形 19"/>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1" name="矩形 20"/>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2" name="矩形 21"/>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Inspect page records and the grounded prompt</a:t>
            </a:r>
          </a:p>
        </p:txBody>
      </p:sp>
      <p:sp>
        <p:nvSpPr>
          <p:cNvPr id="23" name="圆角矩形 22"/>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4" name="矩形 23"/>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25" name="矩形 24"/>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See page 1 text and [Page 1] in the answer</a:t>
            </a:r>
          </a:p>
        </p:txBody>
      </p:sp>
      <p:sp>
        <p:nvSpPr>
          <p:cNvPr id="26" name="圆角矩形 25"/>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28" name="矩形 27"/>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No page numbers → return to extract_pages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FASTAPI · CHAT ROUTE</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/chat: retrieve the pages first, then call the model</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A · REFERENCE</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19</a:t>
            </a:r>
          </a:p>
        </p:txBody>
      </p:sp>
      <p:sp>
        <p:nvSpPr>
          <p:cNvPr id="14" name="圆角矩形 13"/>
          <p:cNvSpPr>
            <a:spLocks noGrp="1"/>
          </p:cNvSpPr>
          <p:nvPr/>
        </p:nvSpPr>
        <p:spPr>
          <a:xfrm>
            <a:off x="685800" y="1390650"/>
            <a:ext cx="6724650" cy="3524250"/>
          </a:xfrm>
          <a:prstGeom prst="roundRect">
            <a:avLst>
              <a:gd name="adj" fmla="val 216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24000"/>
            <a:ext cx="63817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MAIN.PY · FIND CHAT → CALL MODEL → VALIDATE CITATIONS → RETURN</a:t>
            </a:r>
          </a:p>
        </p:txBody>
      </p:sp>
      <p:sp>
        <p:nvSpPr>
          <p:cNvPr id="16" name="矩形 15"/>
          <p:cNvSpPr>
            <a:spLocks noGrp="1"/>
          </p:cNvSpPr>
          <p:nvPr/>
        </p:nvSpPr>
        <p:spPr>
          <a:xfrm>
            <a:off x="857250" y="1790700"/>
            <a:ext cx="6381750" cy="3009900"/>
          </a:xfrm>
          <a:prstGeom prst="rect">
            <a:avLst/>
          </a:prstGeom>
          <a:solidFill>
            <a:srgbClr val="FFFFFF">
              <a:alpha val="0"/>
            </a:srgbClr>
          </a:solidFill>
          <a:ln w="0">
            <a:solidFill>
              <a:srgbClr val="000000">
                <a:alpha val="0"/>
              </a:srgbClr>
            </a:solidFill>
            <a:prstDash val="solid"/>
          </a:ln>
        </p:spPr>
        <p:txBody>
          <a:bodyPr lIns="0" tIns="0" rIns="0" bIns="0" anchor="t">
            <a:normAutofit fontScale="92398"/>
          </a:bodyPr>
          <a:lstStyle/>
          <a:p>
            <a:pPr algn="l">
              <a:buNone/>
              <a:defRPr sz="1125" b="0">
                <a:solidFill>
                  <a:srgbClr val="F1F6FA"/>
                </a:solidFill>
                <a:latin typeface="Monaco"/>
                <a:ea typeface="Monaco"/>
                <a:cs typeface="Monaco"/>
              </a:defRPr>
            </a:pPr>
            <a:r>
              <a:rPr sz="1125" b="0">
                <a:solidFill>
                  <a:srgbClr val="F08DB1"/>
                </a:solidFill>
                <a:latin typeface="Monaco"/>
                <a:ea typeface="Monaco"/>
                <a:cs typeface="Monaco"/>
              </a:rPr>
              <a:t>@app.</a:t>
            </a:r>
            <a:r>
              <a:rPr sz="1125" b="0">
                <a:solidFill>
                  <a:srgbClr val="70D6E8"/>
                </a:solidFill>
                <a:latin typeface="Monaco"/>
                <a:ea typeface="Monaco"/>
                <a:cs typeface="Monaco"/>
              </a:rPr>
              <a:t>post</a:t>
            </a:r>
            <a:r>
              <a:rPr sz="1125" b="0">
                <a:solidFill>
                  <a:srgbClr val="F1F6FA"/>
                </a:solidFill>
                <a:latin typeface="Monaco"/>
                <a:ea typeface="Monaco"/>
                <a:cs typeface="Monaco"/>
              </a:rPr>
              <a:t>(</a:t>
            </a:r>
            <a:r>
              <a:rPr sz="1125" b="0">
                <a:solidFill>
                  <a:srgbClr val="F6C85F"/>
                </a:solidFill>
                <a:latin typeface="Monaco"/>
                <a:ea typeface="Monaco"/>
                <a:cs typeface="Monaco"/>
              </a:rPr>
              <a:t>"/chat"</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63B3ED"/>
                </a:solidFill>
                <a:latin typeface="Monaco"/>
                <a:ea typeface="Monaco"/>
                <a:cs typeface="Monaco"/>
              </a:rPr>
              <a:t>def</a:t>
            </a:r>
            <a:r>
              <a:rPr sz="1125" b="0">
                <a:solidFill>
                  <a:srgbClr val="F1F6FA"/>
                </a:solidFill>
                <a:latin typeface="Monaco"/>
                <a:ea typeface="Monaco"/>
                <a:cs typeface="Monaco"/>
              </a:rPr>
              <a:t> </a:t>
            </a:r>
            <a:r>
              <a:rPr sz="1125" b="0">
                <a:solidFill>
                  <a:srgbClr val="70D6E8"/>
                </a:solidFill>
                <a:latin typeface="Monaco"/>
                <a:ea typeface="Monaco"/>
                <a:cs typeface="Monaco"/>
              </a:rPr>
              <a:t>chat</a:t>
            </a:r>
            <a:r>
              <a:rPr sz="1125" b="0">
                <a:solidFill>
                  <a:srgbClr val="F1F6FA"/>
                </a:solidFill>
                <a:latin typeface="Monaco"/>
                <a:ea typeface="Monaco"/>
                <a:cs typeface="Monaco"/>
              </a:rPr>
              <a:t>(request: ChatRequest):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pages = documents.</a:t>
            </a:r>
            <a:r>
              <a:rPr sz="1125" b="0">
                <a:solidFill>
                  <a:srgbClr val="70D6E8"/>
                </a:solidFill>
                <a:latin typeface="Monaco"/>
                <a:ea typeface="Monaco"/>
                <a:cs typeface="Monaco"/>
              </a:rPr>
              <a:t>get</a:t>
            </a:r>
            <a:r>
              <a:rPr sz="1125" b="0">
                <a:solidFill>
                  <a:srgbClr val="F1F6FA"/>
                </a:solidFill>
                <a:latin typeface="Monaco"/>
                <a:ea typeface="Monaco"/>
                <a:cs typeface="Monaco"/>
              </a:rPr>
              <a:t>(request.chat_id)</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63B3ED"/>
                </a:solidFill>
                <a:latin typeface="Monaco"/>
                <a:ea typeface="Monaco"/>
                <a:cs typeface="Monaco"/>
              </a:rPr>
              <a:t>if</a:t>
            </a:r>
            <a:r>
              <a:rPr sz="1125" b="0">
                <a:solidFill>
                  <a:srgbClr val="F1F6FA"/>
                </a:solidFill>
                <a:latin typeface="Monaco"/>
                <a:ea typeface="Monaco"/>
                <a:cs typeface="Monaco"/>
              </a:rPr>
              <a:t> pages is </a:t>
            </a:r>
            <a:r>
              <a:rPr sz="1125" b="0">
                <a:solidFill>
                  <a:srgbClr val="72AD47"/>
                </a:solidFill>
                <a:latin typeface="Monaco"/>
                <a:ea typeface="Monaco"/>
                <a:cs typeface="Monaco"/>
              </a:rPr>
              <a:t>None</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63B3ED"/>
                </a:solidFill>
                <a:latin typeface="Monaco"/>
                <a:ea typeface="Monaco"/>
                <a:cs typeface="Monaco"/>
              </a:rPr>
              <a:t>raise</a:t>
            </a:r>
            <a:r>
              <a:rPr sz="1125" b="0">
                <a:solidFill>
                  <a:srgbClr val="F1F6FA"/>
                </a:solidFill>
                <a:latin typeface="Monaco"/>
                <a:ea typeface="Monaco"/>
                <a:cs typeface="Monaco"/>
              </a:rPr>
              <a:t> </a:t>
            </a:r>
            <a:r>
              <a:rPr sz="1125" b="0">
                <a:solidFill>
                  <a:srgbClr val="FF8A7D"/>
                </a:solidFill>
                <a:latin typeface="Monaco"/>
                <a:ea typeface="Monaco"/>
                <a:cs typeface="Monaco"/>
              </a:rPr>
              <a:t>HTTPException</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A7E3A1"/>
                </a:solidFill>
                <a:latin typeface="Monaco"/>
                <a:ea typeface="Monaco"/>
                <a:cs typeface="Monaco"/>
              </a:rPr>
              <a:t>404</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F6C85F"/>
                </a:solidFill>
                <a:latin typeface="Monaco"/>
                <a:ea typeface="Monaco"/>
                <a:cs typeface="Monaco"/>
              </a:rPr>
              <a:t>"chat_id not found. Upload first."</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p>
          <a:p>
            <a:endParaRPr sz="1125"/>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answer = </a:t>
            </a:r>
            <a:r>
              <a:rPr sz="1125" b="0">
                <a:solidFill>
                  <a:srgbClr val="70D6E8"/>
                </a:solidFill>
                <a:latin typeface="Monaco"/>
                <a:ea typeface="Monaco"/>
                <a:cs typeface="Monaco"/>
              </a:rPr>
              <a:t>answer_from_pages</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pages, request.message</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citations = </a:t>
            </a:r>
            <a:r>
              <a:rPr sz="1125" b="0">
                <a:solidFill>
                  <a:srgbClr val="70D6E8"/>
                </a:solidFill>
                <a:latin typeface="Monaco"/>
                <a:ea typeface="Monaco"/>
                <a:cs typeface="Monaco"/>
              </a:rPr>
              <a:t>valid_citations</a:t>
            </a:r>
            <a:r>
              <a:rPr sz="1125" b="0">
                <a:solidFill>
                  <a:srgbClr val="F1F6FA"/>
                </a:solidFill>
                <a:latin typeface="Monaco"/>
                <a:ea typeface="Monaco"/>
                <a:cs typeface="Monaco"/>
              </a:rPr>
              <a:t>(answer, pages)</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answer = </a:t>
            </a:r>
            <a:r>
              <a:rPr sz="1125" b="0">
                <a:solidFill>
                  <a:srgbClr val="70D6E8"/>
                </a:solidFill>
                <a:latin typeface="Monaco"/>
                <a:ea typeface="Monaco"/>
                <a:cs typeface="Monaco"/>
              </a:rPr>
              <a:t>remove_invalid_page_tags</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answer, pages</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r>
              <a:rPr sz="1125" b="0">
                <a:solidFill>
                  <a:srgbClr val="63B3ED"/>
                </a:solidFill>
                <a:latin typeface="Monaco"/>
                <a:ea typeface="Monaco"/>
                <a:cs typeface="Monaco"/>
              </a:rPr>
              <a:t>return</a:t>
            </a:r>
            <a:r>
              <a:rPr sz="1125" b="0">
                <a:solidFill>
                  <a:srgbClr val="F1F6FA"/>
                </a:solidFill>
                <a:latin typeface="Monaco"/>
                <a:ea typeface="Monaco"/>
                <a:cs typeface="Monaco"/>
              </a:rPr>
              <a:t> </a:t>
            </a:r>
            <a:r>
              <a:rPr sz="1125" b="0">
                <a:solidFill>
                  <a:srgbClr val="70D6E8"/>
                </a:solidFill>
                <a:latin typeface="Monaco"/>
                <a:ea typeface="Monaco"/>
                <a:cs typeface="Monaco"/>
              </a:rPr>
              <a:t>dict</a:t>
            </a:r>
            <a:r>
              <a:rPr sz="1125" b="0">
                <a:solidFill>
                  <a:srgbClr val="F1F6FA"/>
                </a:solidFill>
                <a:latin typeface="Monaco"/>
                <a:ea typeface="Monaco"/>
                <a:cs typeface="Monaco"/>
              </a:rPr>
              <a:t>(</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answer=answer, citations=citations</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  )</a:t>
            </a:r>
          </a:p>
        </p:txBody>
      </p:sp>
      <p:sp>
        <p:nvSpPr>
          <p:cNvPr id="17" name="圆角矩形 16"/>
          <p:cNvSpPr>
            <a:spLocks noGrp="1"/>
          </p:cNvSpPr>
          <p:nvPr/>
        </p:nvSpPr>
        <p:spPr>
          <a:xfrm>
            <a:off x="7753350" y="1428750"/>
            <a:ext cx="3238500" cy="1104900"/>
          </a:xfrm>
          <a:prstGeom prst="roundRect">
            <a:avLst>
              <a:gd name="adj" fmla="val 6897"/>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7924800" y="1562100"/>
            <a:ext cx="28956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TOP OF MAIN.PY · CITATION CHECKING FUNCTIONS ARE ALSO IN MAIN.PY</a:t>
            </a:r>
          </a:p>
        </p:txBody>
      </p:sp>
      <p:sp>
        <p:nvSpPr>
          <p:cNvPr id="19" name="矩形 18"/>
          <p:cNvSpPr>
            <a:spLocks noGrp="1"/>
          </p:cNvSpPr>
          <p:nvPr/>
        </p:nvSpPr>
        <p:spPr>
          <a:xfrm>
            <a:off x="7924800" y="1828800"/>
            <a:ext cx="2895600" cy="590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from</a:t>
            </a:r>
            <a:r>
              <a:rPr sz="1050" b="0">
                <a:solidFill>
                  <a:srgbClr val="F1F6FA"/>
                </a:solidFill>
                <a:latin typeface="Monaco"/>
                <a:ea typeface="Monaco"/>
                <a:cs typeface="Monaco"/>
              </a:rPr>
              <a:t> services.llm </a:t>
            </a:r>
            <a:r>
              <a:rPr sz="1050" b="0">
                <a:solidFill>
                  <a:srgbClr val="63B3ED"/>
                </a:solidFill>
                <a:latin typeface="Monaco"/>
                <a:ea typeface="Monaco"/>
                <a:cs typeface="Monaco"/>
              </a:rPr>
              <a:t>import</a:t>
            </a:r>
            <a:r>
              <a:rPr sz="1050" b="0">
                <a:solidFill>
                  <a:srgbClr val="F1F6FA"/>
                </a:solidFill>
                <a:latin typeface="Monaco"/>
                <a:ea typeface="Monaco"/>
                <a:cs typeface="Monaco"/>
              </a:rPr>
              <a:t> answer_from_pages</a:t>
            </a:r>
          </a:p>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 </a:t>
            </a:r>
            <a:r>
              <a:rPr sz="1050" b="0">
                <a:solidFill>
                  <a:srgbClr val="F1F6FA"/>
                </a:solidFill>
                <a:latin typeface="Monaco"/>
                <a:ea typeface="Monaco"/>
                <a:cs typeface="Monaco"/>
              </a:rPr>
              <a:t>Citation helpers stay in main.py</a:t>
            </a:r>
          </a:p>
        </p:txBody>
      </p:sp>
      <p:sp>
        <p:nvSpPr>
          <p:cNvPr id="20" name="圆角矩形 19"/>
          <p:cNvSpPr>
            <a:spLocks noGrp="1"/>
          </p:cNvSpPr>
          <p:nvPr/>
        </p:nvSpPr>
        <p:spPr>
          <a:xfrm>
            <a:off x="7753350" y="2743200"/>
            <a:ext cx="3238500" cy="952500"/>
          </a:xfrm>
          <a:prstGeom prst="roundRect">
            <a:avLst>
              <a:gd name="adj" fmla="val 8000"/>
            </a:avLst>
          </a:prstGeom>
          <a:solidFill>
            <a:srgbClr val="F1F6FA"/>
          </a:solidFill>
          <a:ln w="9525">
            <a:solidFill>
              <a:srgbClr val="1F5284"/>
            </a:solidFill>
            <a:prstDash val="solid"/>
          </a:ln>
        </p:spPr>
        <p:txBody>
          <a:bodyPr/>
          <a:lstStyle/>
          <a:p>
            <a:endParaRPr/>
          </a:p>
        </p:txBody>
      </p:sp>
      <p:sp>
        <p:nvSpPr>
          <p:cNvPr id="21" name="矩形 20"/>
          <p:cNvSpPr>
            <a:spLocks noGrp="1"/>
          </p:cNvSpPr>
          <p:nvPr/>
        </p:nvSpPr>
        <p:spPr>
          <a:xfrm>
            <a:off x="7962900" y="2905125"/>
            <a:ext cx="2819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DOCUMENT NOT FOUND</a:t>
            </a:r>
          </a:p>
        </p:txBody>
      </p:sp>
      <p:sp>
        <p:nvSpPr>
          <p:cNvPr id="22" name="矩形 21"/>
          <p:cNvSpPr>
            <a:spLocks noGrp="1"/>
          </p:cNvSpPr>
          <p:nvPr/>
        </p:nvSpPr>
        <p:spPr>
          <a:xfrm>
            <a:off x="7962900" y="3295650"/>
            <a:ext cx="2819400" cy="2667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Return 404 when chat_id is missing; do not let the model guess.</a:t>
            </a:r>
          </a:p>
        </p:txBody>
      </p:sp>
      <p:sp>
        <p:nvSpPr>
          <p:cNvPr id="23" name="圆角矩形 22"/>
          <p:cNvSpPr>
            <a:spLocks noGrp="1"/>
          </p:cNvSpPr>
          <p:nvPr/>
        </p:nvSpPr>
        <p:spPr>
          <a:xfrm>
            <a:off x="7753350" y="3905250"/>
            <a:ext cx="3238500" cy="1009650"/>
          </a:xfrm>
          <a:prstGeom prst="roundRect">
            <a:avLst>
              <a:gd name="adj" fmla="val 7547"/>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962900" y="4067175"/>
            <a:ext cx="2819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RETURN VISIBLE EVIDENCE</a:t>
            </a:r>
          </a:p>
        </p:txBody>
      </p:sp>
      <p:sp>
        <p:nvSpPr>
          <p:cNvPr id="25" name="矩形 24"/>
          <p:cNvSpPr>
            <a:spLocks noGrp="1"/>
          </p:cNvSpPr>
          <p:nvPr/>
        </p:nvSpPr>
        <p:spPr>
          <a:xfrm>
            <a:off x="7962900" y="4457700"/>
            <a:ext cx="28194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Keep answer and citations separate so the frontend can display page numbers.</a:t>
            </a:r>
          </a:p>
        </p:txBody>
      </p:sp>
      <p:sp>
        <p:nvSpPr>
          <p:cNvPr id="26" name="圆角矩形 25"/>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Reuse the same chat_id from upload</a:t>
            </a:r>
          </a:p>
        </p:txBody>
      </p:sp>
      <p:sp>
        <p:nvSpPr>
          <p:cNvPr id="29" name="圆角矩形 28"/>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Answer + citations returned together</a:t>
            </a:r>
          </a:p>
        </p:txBody>
      </p:sp>
      <p:sp>
        <p:nvSpPr>
          <p:cNvPr id="32" name="圆角矩形 31"/>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404 missing ID; 502 → model failure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矩形 35"/>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CITATION CHECK</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Citation check: validate page tags against the source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32–36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20</a:t>
            </a:r>
          </a:p>
        </p:txBody>
      </p:sp>
      <p:sp>
        <p:nvSpPr>
          <p:cNvPr id="14" name="圆角矩形 13"/>
          <p:cNvSpPr>
            <a:spLocks noGrp="1"/>
          </p:cNvSpPr>
          <p:nvPr/>
        </p:nvSpPr>
        <p:spPr>
          <a:xfrm>
            <a:off x="685800" y="1409700"/>
            <a:ext cx="6762750" cy="3505200"/>
          </a:xfrm>
          <a:prstGeom prst="roundRect">
            <a:avLst>
              <a:gd name="adj" fmla="val 2174"/>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64198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MAIN.PY · CORE OF VALID_CITATIONS + REMOVE_INVALID_PAGE_TAGS</a:t>
            </a:r>
          </a:p>
        </p:txBody>
      </p:sp>
      <p:sp>
        <p:nvSpPr>
          <p:cNvPr id="16" name="矩形 15"/>
          <p:cNvSpPr>
            <a:spLocks noGrp="1"/>
          </p:cNvSpPr>
          <p:nvPr/>
        </p:nvSpPr>
        <p:spPr>
          <a:xfrm>
            <a:off x="857250" y="1809750"/>
            <a:ext cx="6419850" cy="2990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A7E3A1"/>
                </a:solidFill>
                <a:latin typeface="Monaco"/>
                <a:ea typeface="Monaco"/>
                <a:cs typeface="Monaco"/>
              </a:rPr>
              <a:t>PAGE_TAG</a:t>
            </a:r>
            <a:r>
              <a:rPr sz="1200" b="0">
                <a:solidFill>
                  <a:srgbClr val="F1F6FA"/>
                </a:solidFill>
                <a:latin typeface="Monaco"/>
                <a:ea typeface="Monaco"/>
                <a:cs typeface="Monaco"/>
              </a:rPr>
              <a:t> = re.</a:t>
            </a:r>
            <a:r>
              <a:rPr sz="1200" b="0">
                <a:solidFill>
                  <a:srgbClr val="70D6E8"/>
                </a:solidFill>
                <a:latin typeface="Monaco"/>
                <a:ea typeface="Monaco"/>
                <a:cs typeface="Monaco"/>
              </a:rPr>
              <a:t>compile</a:t>
            </a: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r</a:t>
            </a:r>
            <a:r>
              <a:rPr sz="1200" b="0">
                <a:solidFill>
                  <a:srgbClr val="F6C85F"/>
                </a:solidFill>
                <a:latin typeface="Monaco"/>
                <a:ea typeface="Monaco"/>
                <a:cs typeface="Monaco"/>
              </a:rPr>
              <a:t>"\[Page\s+(\d+)\]"</a:t>
            </a:r>
            <a:r>
              <a:rPr sz="1200" b="0">
                <a:solidFill>
                  <a:srgbClr val="F1F6FA"/>
                </a:solidFill>
                <a:latin typeface="Monaco"/>
                <a:ea typeface="Monaco"/>
                <a:cs typeface="Monaco"/>
              </a:rPr>
              <a:t>, re.</a:t>
            </a:r>
            <a:r>
              <a:rPr sz="1200" b="0">
                <a:solidFill>
                  <a:srgbClr val="A7E3A1"/>
                </a:solidFill>
                <a:latin typeface="Monaco"/>
                <a:ea typeface="Monaco"/>
                <a:cs typeface="Monaco"/>
              </a:rPr>
              <a:t>IGNORECASE</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a:t>
            </a:r>
          </a:p>
          <a:p>
            <a:endParaRPr sz="1200"/>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available = {</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70D6E8"/>
                </a:solidFill>
                <a:latin typeface="Monaco"/>
                <a:ea typeface="Monaco"/>
                <a:cs typeface="Monaco"/>
              </a:rPr>
              <a:t>int</a:t>
            </a:r>
            <a:r>
              <a:rPr sz="1200" b="0">
                <a:solidFill>
                  <a:srgbClr val="F1F6FA"/>
                </a:solidFill>
                <a:latin typeface="Monaco"/>
                <a:ea typeface="Monaco"/>
                <a:cs typeface="Monaco"/>
              </a:rPr>
              <a:t>(page[</a:t>
            </a:r>
            <a:r>
              <a:rPr sz="1200" b="0">
                <a:solidFill>
                  <a:srgbClr val="F6C85F"/>
                </a:solidFill>
                <a:latin typeface="Monaco"/>
                <a:ea typeface="Monaco"/>
                <a:cs typeface="Monaco"/>
              </a:rPr>
              <a:t>"page"</a:t>
            </a:r>
            <a:r>
              <a:rPr sz="1200" b="0">
                <a:solidFill>
                  <a:srgbClr val="F1F6FA"/>
                </a:solidFill>
                <a:latin typeface="Monaco"/>
                <a:ea typeface="Monaco"/>
                <a:cs typeface="Monaco"/>
              </a:rPr>
              <a:t>]) </a:t>
            </a:r>
            <a:r>
              <a:rPr sz="1200" b="0">
                <a:solidFill>
                  <a:srgbClr val="63B3ED"/>
                </a:solidFill>
                <a:latin typeface="Monaco"/>
                <a:ea typeface="Monaco"/>
                <a:cs typeface="Monaco"/>
              </a:rPr>
              <a:t>for</a:t>
            </a:r>
            <a:r>
              <a:rPr sz="1200" b="0">
                <a:solidFill>
                  <a:srgbClr val="F1F6FA"/>
                </a:solidFill>
                <a:latin typeface="Monaco"/>
                <a:ea typeface="Monaco"/>
                <a:cs typeface="Monaco"/>
              </a:rPr>
              <a:t> page </a:t>
            </a:r>
            <a:r>
              <a:rPr sz="1200" b="0">
                <a:solidFill>
                  <a:srgbClr val="63B3ED"/>
                </a:solidFill>
                <a:latin typeface="Monaco"/>
                <a:ea typeface="Monaco"/>
                <a:cs typeface="Monaco"/>
              </a:rPr>
              <a:t>in</a:t>
            </a:r>
            <a:r>
              <a:rPr sz="1200" b="0">
                <a:solidFill>
                  <a:srgbClr val="F1F6FA"/>
                </a:solidFill>
                <a:latin typeface="Monaco"/>
                <a:ea typeface="Monaco"/>
                <a:cs typeface="Monaco"/>
              </a:rPr>
              <a:t> pages</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mentioned = {</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70D6E8"/>
                </a:solidFill>
                <a:latin typeface="Monaco"/>
                <a:ea typeface="Monaco"/>
                <a:cs typeface="Monaco"/>
              </a:rPr>
              <a:t>int</a:t>
            </a:r>
            <a:r>
              <a:rPr sz="1200" b="0">
                <a:solidFill>
                  <a:srgbClr val="F1F6FA"/>
                </a:solidFill>
                <a:latin typeface="Monaco"/>
                <a:ea typeface="Monaco"/>
                <a:cs typeface="Monaco"/>
              </a:rPr>
              <a:t>(match.</a:t>
            </a:r>
            <a:r>
              <a:rPr sz="1200" b="0">
                <a:solidFill>
                  <a:srgbClr val="70D6E8"/>
                </a:solidFill>
                <a:latin typeface="Monaco"/>
                <a:ea typeface="Monaco"/>
                <a:cs typeface="Monaco"/>
              </a:rPr>
              <a:t>group</a:t>
            </a:r>
            <a:r>
              <a:rPr sz="1200" b="0">
                <a:solidFill>
                  <a:srgbClr val="F1F6FA"/>
                </a:solidFill>
                <a:latin typeface="Monaco"/>
                <a:ea typeface="Monaco"/>
                <a:cs typeface="Monaco"/>
              </a:rPr>
              <a:t>(</a:t>
            </a:r>
            <a:r>
              <a:rPr sz="1200" b="0">
                <a:solidFill>
                  <a:srgbClr val="A7E3A1"/>
                </a:solidFill>
                <a:latin typeface="Monaco"/>
                <a:ea typeface="Monaco"/>
                <a:cs typeface="Monaco"/>
              </a:rPr>
              <a:t>1</a:t>
            </a:r>
            <a:r>
              <a:rPr sz="1200" b="0">
                <a:solidFill>
                  <a:srgbClr val="F1F6FA"/>
                </a:solidFill>
                <a:latin typeface="Monaco"/>
                <a:ea typeface="Monaco"/>
                <a:cs typeface="Monaco"/>
              </a:rPr>
              <a:t>))</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a:t>
            </a:r>
            <a:r>
              <a:rPr sz="1200" b="0">
                <a:solidFill>
                  <a:srgbClr val="63B3ED"/>
                </a:solidFill>
                <a:latin typeface="Monaco"/>
                <a:ea typeface="Monaco"/>
                <a:cs typeface="Monaco"/>
              </a:rPr>
              <a:t>for</a:t>
            </a:r>
            <a:r>
              <a:rPr sz="1200" b="0">
                <a:solidFill>
                  <a:srgbClr val="F1F6FA"/>
                </a:solidFill>
                <a:latin typeface="Monaco"/>
                <a:ea typeface="Monaco"/>
                <a:cs typeface="Monaco"/>
              </a:rPr>
              <a:t> match </a:t>
            </a:r>
            <a:r>
              <a:rPr sz="1200" b="0">
                <a:solidFill>
                  <a:srgbClr val="63B3ED"/>
                </a:solidFill>
                <a:latin typeface="Monaco"/>
                <a:ea typeface="Monaco"/>
                <a:cs typeface="Monaco"/>
              </a:rPr>
              <a:t>in</a:t>
            </a:r>
            <a:r>
              <a:rPr sz="1200" b="0">
                <a:solidFill>
                  <a:srgbClr val="F1F6FA"/>
                </a:solidFill>
                <a:latin typeface="Monaco"/>
                <a:ea typeface="Monaco"/>
                <a:cs typeface="Monaco"/>
              </a:rPr>
              <a:t> </a:t>
            </a:r>
            <a:r>
              <a:rPr sz="1200" b="0">
                <a:solidFill>
                  <a:srgbClr val="A7E3A1"/>
                </a:solidFill>
                <a:latin typeface="Monaco"/>
                <a:ea typeface="Monaco"/>
                <a:cs typeface="Monaco"/>
              </a:rPr>
              <a:t>PAGE_TAG</a:t>
            </a:r>
            <a:r>
              <a:rPr sz="1200" b="0">
                <a:solidFill>
                  <a:srgbClr val="F1F6FA"/>
                </a:solidFill>
                <a:latin typeface="Monaco"/>
                <a:ea typeface="Monaco"/>
                <a:cs typeface="Monaco"/>
              </a:rPr>
              <a:t>.</a:t>
            </a:r>
            <a:r>
              <a:rPr sz="1200" b="0">
                <a:solidFill>
                  <a:srgbClr val="70D6E8"/>
                </a:solidFill>
                <a:latin typeface="Monaco"/>
                <a:ea typeface="Monaco"/>
                <a:cs typeface="Monaco"/>
              </a:rPr>
              <a:t>finditer</a:t>
            </a:r>
            <a:r>
              <a:rPr sz="1200" b="0">
                <a:solidFill>
                  <a:srgbClr val="F1F6FA"/>
                </a:solidFill>
                <a:latin typeface="Monaco"/>
                <a:ea typeface="Monaco"/>
                <a:cs typeface="Monaco"/>
              </a:rPr>
              <a:t>(answer)</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a:t>
            </a:r>
          </a:p>
          <a:p>
            <a:endParaRPr sz="1200"/>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citations = </a:t>
            </a:r>
            <a:r>
              <a:rPr sz="1200" b="0">
                <a:solidFill>
                  <a:srgbClr val="70D6E8"/>
                </a:solidFill>
                <a:latin typeface="Monaco"/>
                <a:ea typeface="Monaco"/>
                <a:cs typeface="Monaco"/>
              </a:rPr>
              <a:t>sorted</a:t>
            </a:r>
            <a:r>
              <a:rPr sz="1200" b="0">
                <a:solidFill>
                  <a:srgbClr val="F1F6FA"/>
                </a:solidFill>
                <a:latin typeface="Monaco"/>
                <a:ea typeface="Monaco"/>
                <a:cs typeface="Monaco"/>
              </a:rPr>
              <a:t>(mentioned &amp; available)</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answer = </a:t>
            </a:r>
            <a:r>
              <a:rPr sz="1200" b="0">
                <a:solidFill>
                  <a:srgbClr val="A7E3A1"/>
                </a:solidFill>
                <a:latin typeface="Monaco"/>
                <a:ea typeface="Monaco"/>
                <a:cs typeface="Monaco"/>
              </a:rPr>
              <a:t>PAGE_TAG</a:t>
            </a:r>
            <a:r>
              <a:rPr sz="1200" b="0">
                <a:solidFill>
                  <a:srgbClr val="F1F6FA"/>
                </a:solidFill>
                <a:latin typeface="Monaco"/>
                <a:ea typeface="Monaco"/>
                <a:cs typeface="Monaco"/>
              </a:rPr>
              <a:t>.</a:t>
            </a:r>
            <a:r>
              <a:rPr sz="1200" b="0">
                <a:solidFill>
                  <a:srgbClr val="70D6E8"/>
                </a:solidFill>
                <a:latin typeface="Monaco"/>
                <a:ea typeface="Monaco"/>
                <a:cs typeface="Monaco"/>
              </a:rPr>
              <a:t>sub</a:t>
            </a:r>
            <a:r>
              <a:rPr sz="1200" b="0">
                <a:solidFill>
                  <a:srgbClr val="F1F6FA"/>
                </a:solidFill>
                <a:latin typeface="Monaco"/>
                <a:ea typeface="Monaco"/>
                <a:cs typeface="Monaco"/>
              </a:rPr>
              <a:t>(replace, answer).</a:t>
            </a:r>
            <a:r>
              <a:rPr sz="1200" b="0">
                <a:solidFill>
                  <a:srgbClr val="70D6E8"/>
                </a:solidFill>
                <a:latin typeface="Monaco"/>
                <a:ea typeface="Monaco"/>
                <a:cs typeface="Monaco"/>
              </a:rPr>
              <a:t>strip</a:t>
            </a:r>
            <a:r>
              <a:rPr sz="1200" b="0">
                <a:solidFill>
                  <a:srgbClr val="F1F6FA"/>
                </a:solidFill>
                <a:latin typeface="Monaco"/>
                <a:ea typeface="Monaco"/>
                <a:cs typeface="Monaco"/>
              </a:rPr>
              <a:t>()</a:t>
            </a:r>
          </a:p>
        </p:txBody>
      </p:sp>
      <p:sp>
        <p:nvSpPr>
          <p:cNvPr id="17" name="圆角矩形 16"/>
          <p:cNvSpPr>
            <a:spLocks noGrp="1"/>
          </p:cNvSpPr>
          <p:nvPr/>
        </p:nvSpPr>
        <p:spPr>
          <a:xfrm>
            <a:off x="7791450" y="1428750"/>
            <a:ext cx="3219450" cy="990600"/>
          </a:xfrm>
          <a:prstGeom prst="roundRect">
            <a:avLst>
              <a:gd name="adj" fmla="val 7692"/>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8001000" y="1590675"/>
            <a:ext cx="28003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① DOES THE NUMBER EXIST?</a:t>
            </a:r>
          </a:p>
        </p:txBody>
      </p:sp>
      <p:sp>
        <p:nvSpPr>
          <p:cNvPr id="19" name="矩形 18"/>
          <p:cNvSpPr>
            <a:spLocks noGrp="1"/>
          </p:cNvSpPr>
          <p:nvPr/>
        </p:nvSpPr>
        <p:spPr>
          <a:xfrm>
            <a:off x="8001000" y="1981200"/>
            <a:ext cx="280035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Page 99 is removed from the answer.</a:t>
            </a:r>
          </a:p>
        </p:txBody>
      </p:sp>
      <p:sp>
        <p:nvSpPr>
          <p:cNvPr id="20" name="圆角矩形 19"/>
          <p:cNvSpPr>
            <a:spLocks noGrp="1"/>
          </p:cNvSpPr>
          <p:nvPr/>
        </p:nvSpPr>
        <p:spPr>
          <a:xfrm>
            <a:off x="7791450" y="2590800"/>
            <a:ext cx="3219450" cy="990600"/>
          </a:xfrm>
          <a:prstGeom prst="roundRect">
            <a:avLst>
              <a:gd name="adj" fmla="val 7692"/>
            </a:avLst>
          </a:prstGeom>
          <a:solidFill>
            <a:srgbClr val="EEF7EE"/>
          </a:solidFill>
          <a:ln w="9525">
            <a:solidFill>
              <a:srgbClr val="39825B"/>
            </a:solidFill>
            <a:prstDash val="solid"/>
          </a:ln>
        </p:spPr>
        <p:txBody>
          <a:bodyPr/>
          <a:lstStyle/>
          <a:p>
            <a:endParaRPr/>
          </a:p>
        </p:txBody>
      </p:sp>
      <p:sp>
        <p:nvSpPr>
          <p:cNvPr id="21" name="矩形 20"/>
          <p:cNvSpPr>
            <a:spLocks noGrp="1"/>
          </p:cNvSpPr>
          <p:nvPr/>
        </p:nvSpPr>
        <p:spPr>
          <a:xfrm>
            <a:off x="8001000" y="2752725"/>
            <a:ext cx="28003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② IS THE PAGE REAL?</a:t>
            </a:r>
          </a:p>
        </p:txBody>
      </p:sp>
      <p:sp>
        <p:nvSpPr>
          <p:cNvPr id="22" name="矩形 21"/>
          <p:cNvSpPr>
            <a:spLocks noGrp="1"/>
          </p:cNvSpPr>
          <p:nvPr/>
        </p:nvSpPr>
        <p:spPr>
          <a:xfrm>
            <a:off x="8001000" y="3143250"/>
            <a:ext cx="2800350" cy="3048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citations keeps only real page numbers from the current PDF.</a:t>
            </a:r>
          </a:p>
        </p:txBody>
      </p:sp>
      <p:sp>
        <p:nvSpPr>
          <p:cNvPr id="23" name="圆角矩形 22"/>
          <p:cNvSpPr>
            <a:spLocks noGrp="1"/>
          </p:cNvSpPr>
          <p:nvPr/>
        </p:nvSpPr>
        <p:spPr>
          <a:xfrm>
            <a:off x="7791450" y="3752850"/>
            <a:ext cx="3219450" cy="990600"/>
          </a:xfrm>
          <a:prstGeom prst="roundRect">
            <a:avLst>
              <a:gd name="adj" fmla="val 7692"/>
            </a:avLst>
          </a:prstGeom>
          <a:solidFill>
            <a:srgbClr val="FFF8E6"/>
          </a:solidFill>
          <a:ln w="9525">
            <a:solidFill>
              <a:srgbClr val="D4A72C"/>
            </a:solidFill>
            <a:prstDash val="solid"/>
          </a:ln>
        </p:spPr>
        <p:txBody>
          <a:bodyPr/>
          <a:lstStyle/>
          <a:p>
            <a:endParaRPr/>
          </a:p>
        </p:txBody>
      </p:sp>
      <p:sp>
        <p:nvSpPr>
          <p:cNvPr id="24" name="矩形 23"/>
          <p:cNvSpPr>
            <a:spLocks noGrp="1"/>
          </p:cNvSpPr>
          <p:nvPr/>
        </p:nvSpPr>
        <p:spPr>
          <a:xfrm>
            <a:off x="8001000" y="3914775"/>
            <a:ext cx="280035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20000"/>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③ DOES THE SOURCE SUPPORT THE CLAIM?</a:t>
            </a:r>
          </a:p>
        </p:txBody>
      </p:sp>
      <p:sp>
        <p:nvSpPr>
          <p:cNvPr id="25" name="矩形 24"/>
          <p:cNvSpPr>
            <a:spLocks noGrp="1"/>
          </p:cNvSpPr>
          <p:nvPr/>
        </p:nvSpPr>
        <p:spPr>
          <a:xfrm>
            <a:off x="8001000" y="4305300"/>
            <a:ext cx="2800350" cy="3048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You must still read the source; the program cannot make that judgment for you.</a:t>
            </a:r>
          </a:p>
        </p:txBody>
      </p:sp>
      <p:sp>
        <p:nvSpPr>
          <p:cNvPr id="26" name="矩形 25"/>
          <p:cNvSpPr>
            <a:spLocks noGrp="1"/>
          </p:cNvSpPr>
          <p:nvPr/>
        </p:nvSpPr>
        <p:spPr>
          <a:xfrm>
            <a:off x="742950" y="4991100"/>
            <a:ext cx="100965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C85A4E"/>
                </a:solidFill>
                <a:latin typeface="Lato"/>
                <a:ea typeface="Lato"/>
                <a:cs typeface="Lato"/>
              </a:defRPr>
            </a:pPr>
            <a:r>
              <a:rPr sz="1275" b="1">
                <a:solidFill>
                  <a:srgbClr val="C85A4E"/>
                </a:solidFill>
                <a:latin typeface="Lato"/>
                <a:ea typeface="Lato"/>
                <a:cs typeface="Lato"/>
              </a:rPr>
              <a:t>A valid page number is only the first gate; whether the source supports the claim determines whether it can be trusted.</a:t>
            </a:r>
          </a:p>
        </p:txBody>
      </p:sp>
      <p:sp>
        <p:nvSpPr>
          <p:cNvPr id="27" name="圆角矩形 26"/>
          <p:cNvSpPr>
            <a:spLocks noGrp="1"/>
          </p:cNvSpPr>
          <p:nvPr/>
        </p:nvSpPr>
        <p:spPr>
          <a:xfrm>
            <a:off x="70485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8" name="矩形 27"/>
          <p:cNvSpPr>
            <a:spLocks noGrp="1"/>
          </p:cNvSpPr>
          <p:nvPr/>
        </p:nvSpPr>
        <p:spPr>
          <a:xfrm>
            <a:off x="83820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9" name="矩形 28"/>
          <p:cNvSpPr>
            <a:spLocks noGrp="1"/>
          </p:cNvSpPr>
          <p:nvPr/>
        </p:nvSpPr>
        <p:spPr>
          <a:xfrm>
            <a:off x="154305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Open the cited page and verify one sentence</a:t>
            </a:r>
          </a:p>
        </p:txBody>
      </p:sp>
      <p:sp>
        <p:nvSpPr>
          <p:cNvPr id="30" name="圆角矩形 29"/>
          <p:cNvSpPr>
            <a:spLocks noGrp="1"/>
          </p:cNvSpPr>
          <p:nvPr/>
        </p:nvSpPr>
        <p:spPr>
          <a:xfrm>
            <a:off x="438150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1" name="矩形 30"/>
          <p:cNvSpPr>
            <a:spLocks noGrp="1"/>
          </p:cNvSpPr>
          <p:nvPr/>
        </p:nvSpPr>
        <p:spPr>
          <a:xfrm>
            <a:off x="451485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2" name="矩形 31"/>
          <p:cNvSpPr>
            <a:spLocks noGrp="1"/>
          </p:cNvSpPr>
          <p:nvPr/>
        </p:nvSpPr>
        <p:spPr>
          <a:xfrm>
            <a:off x="521970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Page exists and source supports the claim</a:t>
            </a:r>
          </a:p>
        </p:txBody>
      </p:sp>
      <p:sp>
        <p:nvSpPr>
          <p:cNvPr id="33" name="圆角矩形 32"/>
          <p:cNvSpPr>
            <a:spLocks noGrp="1"/>
          </p:cNvSpPr>
          <p:nvPr/>
        </p:nvSpPr>
        <p:spPr>
          <a:xfrm>
            <a:off x="805815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4" name="矩形 33"/>
          <p:cNvSpPr>
            <a:spLocks noGrp="1"/>
          </p:cNvSpPr>
          <p:nvPr/>
        </p:nvSpPr>
        <p:spPr>
          <a:xfrm>
            <a:off x="819150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5" name="矩形 34"/>
          <p:cNvSpPr>
            <a:spLocks noGrp="1"/>
          </p:cNvSpPr>
          <p:nvPr/>
        </p:nvSpPr>
        <p:spPr>
          <a:xfrm>
            <a:off x="889635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Unsupported → record as an incorrect answer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TEST DESIGN</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Four test families cover the core flow</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36–39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21</a:t>
            </a:r>
          </a:p>
        </p:txBody>
      </p:sp>
      <p:sp>
        <p:nvSpPr>
          <p:cNvPr id="14" name="圆角矩形 13"/>
          <p:cNvSpPr>
            <a:spLocks noGrp="1"/>
          </p:cNvSpPr>
          <p:nvPr/>
        </p:nvSpPr>
        <p:spPr>
          <a:xfrm>
            <a:off x="762000" y="1428750"/>
            <a:ext cx="4953000" cy="1028700"/>
          </a:xfrm>
          <a:prstGeom prst="roundRect">
            <a:avLst>
              <a:gd name="adj" fmla="val 7407"/>
            </a:avLst>
          </a:prstGeom>
          <a:solidFill>
            <a:srgbClr val="FFFFFF"/>
          </a:solidFill>
          <a:ln w="9525">
            <a:solidFill>
              <a:srgbClr val="0070C0"/>
            </a:solidFill>
            <a:prstDash val="solid"/>
          </a:ln>
        </p:spPr>
        <p:txBody>
          <a:bodyPr/>
          <a:lstStyle/>
          <a:p>
            <a:endParaRPr/>
          </a:p>
        </p:txBody>
      </p:sp>
      <p:sp>
        <p:nvSpPr>
          <p:cNvPr id="15" name="矩形 14"/>
          <p:cNvSpPr>
            <a:spLocks noGrp="1"/>
          </p:cNvSpPr>
          <p:nvPr/>
        </p:nvSpPr>
        <p:spPr>
          <a:xfrm>
            <a:off x="971550" y="1590675"/>
            <a:ext cx="4533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A</a:t>
            </a:r>
          </a:p>
        </p:txBody>
      </p:sp>
      <p:sp>
        <p:nvSpPr>
          <p:cNvPr id="16" name="矩形 15"/>
          <p:cNvSpPr>
            <a:spLocks noGrp="1"/>
          </p:cNvSpPr>
          <p:nvPr/>
        </p:nvSpPr>
        <p:spPr>
          <a:xfrm>
            <a:off x="971550" y="1981200"/>
            <a:ext cx="45339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Page 1 answer</a:t>
            </a:r>
          </a:p>
          <a:p>
            <a:pPr algn="l">
              <a:buNone/>
              <a:defRPr sz="1050" b="0">
                <a:solidFill>
                  <a:srgbClr val="637788"/>
                </a:solidFill>
                <a:latin typeface="Lato"/>
                <a:ea typeface="Lato"/>
                <a:cs typeface="Lato"/>
              </a:defRPr>
            </a:pPr>
            <a:r>
              <a:rPr sz="1050" b="0">
                <a:solidFill>
                  <a:srgbClr val="637788"/>
                </a:solidFill>
                <a:latin typeface="Lato"/>
                <a:ea typeface="Lato"/>
                <a:cs typeface="Lato"/>
              </a:rPr>
              <a:t>Worksheet question 1; mark the source first, then check the system.</a:t>
            </a:r>
          </a:p>
        </p:txBody>
      </p:sp>
      <p:sp>
        <p:nvSpPr>
          <p:cNvPr id="17" name="圆角矩形 16"/>
          <p:cNvSpPr>
            <a:spLocks noGrp="1"/>
          </p:cNvSpPr>
          <p:nvPr/>
        </p:nvSpPr>
        <p:spPr>
          <a:xfrm>
            <a:off x="6038850" y="1428750"/>
            <a:ext cx="4953000" cy="1028700"/>
          </a:xfrm>
          <a:prstGeom prst="roundRect">
            <a:avLst>
              <a:gd name="adj" fmla="val 7407"/>
            </a:avLst>
          </a:prstGeom>
          <a:solidFill>
            <a:srgbClr val="FFFFFF"/>
          </a:solidFill>
          <a:ln w="9525">
            <a:solidFill>
              <a:srgbClr val="0070C0"/>
            </a:solidFill>
            <a:prstDash val="solid"/>
          </a:ln>
        </p:spPr>
        <p:txBody>
          <a:bodyPr/>
          <a:lstStyle/>
          <a:p>
            <a:endParaRPr/>
          </a:p>
        </p:txBody>
      </p:sp>
      <p:sp>
        <p:nvSpPr>
          <p:cNvPr id="18" name="矩形 17"/>
          <p:cNvSpPr>
            <a:spLocks noGrp="1"/>
          </p:cNvSpPr>
          <p:nvPr/>
        </p:nvSpPr>
        <p:spPr>
          <a:xfrm>
            <a:off x="6248400" y="1590675"/>
            <a:ext cx="4533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B</a:t>
            </a:r>
          </a:p>
        </p:txBody>
      </p:sp>
      <p:sp>
        <p:nvSpPr>
          <p:cNvPr id="19" name="矩形 18"/>
          <p:cNvSpPr>
            <a:spLocks noGrp="1"/>
          </p:cNvSpPr>
          <p:nvPr/>
        </p:nvSpPr>
        <p:spPr>
          <a:xfrm>
            <a:off x="6248400" y="1981200"/>
            <a:ext cx="45339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Page 2 / 3 answers</a:t>
            </a:r>
          </a:p>
          <a:p>
            <a:pPr algn="l">
              <a:buNone/>
              <a:defRPr sz="1050" b="0">
                <a:solidFill>
                  <a:srgbClr val="637788"/>
                </a:solidFill>
                <a:latin typeface="Lato"/>
                <a:ea typeface="Lato"/>
                <a:cs typeface="Lato"/>
              </a:defRPr>
            </a:pPr>
            <a:r>
              <a:rPr sz="1050" b="0">
                <a:solidFill>
                  <a:srgbClr val="637788"/>
                </a:solidFill>
                <a:latin typeface="Lato"/>
                <a:ea typeface="Lato"/>
                <a:cs typeface="Lato"/>
              </a:rPr>
              <a:t>Worksheet questions 2 and 3; each page number should match.</a:t>
            </a:r>
          </a:p>
        </p:txBody>
      </p:sp>
      <p:sp>
        <p:nvSpPr>
          <p:cNvPr id="20" name="圆角矩形 19"/>
          <p:cNvSpPr>
            <a:spLocks noGrp="1"/>
          </p:cNvSpPr>
          <p:nvPr/>
        </p:nvSpPr>
        <p:spPr>
          <a:xfrm>
            <a:off x="762000" y="2628900"/>
            <a:ext cx="4953000" cy="1028700"/>
          </a:xfrm>
          <a:prstGeom prst="roundRect">
            <a:avLst>
              <a:gd name="adj" fmla="val 7407"/>
            </a:avLst>
          </a:prstGeom>
          <a:solidFill>
            <a:srgbClr val="FFF8E6"/>
          </a:solidFill>
          <a:ln w="9525">
            <a:solidFill>
              <a:srgbClr val="D4A72C"/>
            </a:solidFill>
            <a:prstDash val="solid"/>
          </a:ln>
        </p:spPr>
        <p:txBody>
          <a:bodyPr/>
          <a:lstStyle/>
          <a:p>
            <a:endParaRPr/>
          </a:p>
        </p:txBody>
      </p:sp>
      <p:sp>
        <p:nvSpPr>
          <p:cNvPr id="21" name="矩形 20"/>
          <p:cNvSpPr>
            <a:spLocks noGrp="1"/>
          </p:cNvSpPr>
          <p:nvPr/>
        </p:nvSpPr>
        <p:spPr>
          <a:xfrm>
            <a:off x="971550" y="2790825"/>
            <a:ext cx="4533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C</a:t>
            </a:r>
          </a:p>
        </p:txBody>
      </p:sp>
      <p:sp>
        <p:nvSpPr>
          <p:cNvPr id="22" name="矩形 21"/>
          <p:cNvSpPr>
            <a:spLocks noGrp="1"/>
          </p:cNvSpPr>
          <p:nvPr/>
        </p:nvSpPr>
        <p:spPr>
          <a:xfrm>
            <a:off x="971550" y="3181350"/>
            <a:ext cx="45339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Out-of-document question</a:t>
            </a:r>
          </a:p>
          <a:p>
            <a:pPr algn="l">
              <a:buNone/>
              <a:defRPr sz="1050" b="0">
                <a:solidFill>
                  <a:srgbClr val="637788"/>
                </a:solidFill>
                <a:latin typeface="Lato"/>
                <a:ea typeface="Lato"/>
                <a:cs typeface="Lato"/>
              </a:defRPr>
            </a:pPr>
            <a:r>
              <a:rPr sz="1050" b="0">
                <a:solidFill>
                  <a:srgbClr val="637788"/>
                </a:solidFill>
                <a:latin typeface="Lato"/>
                <a:ea typeface="Lato"/>
                <a:cs typeface="Lato"/>
              </a:rPr>
              <a:t>Worksheet question 4; the correct behavior is to stop honestly.</a:t>
            </a:r>
          </a:p>
        </p:txBody>
      </p:sp>
      <p:sp>
        <p:nvSpPr>
          <p:cNvPr id="23" name="圆角矩形 22"/>
          <p:cNvSpPr>
            <a:spLocks noGrp="1"/>
          </p:cNvSpPr>
          <p:nvPr/>
        </p:nvSpPr>
        <p:spPr>
          <a:xfrm>
            <a:off x="6038850" y="2628900"/>
            <a:ext cx="4953000" cy="1028700"/>
          </a:xfrm>
          <a:prstGeom prst="roundRect">
            <a:avLst>
              <a:gd name="adj" fmla="val 7407"/>
            </a:avLst>
          </a:prstGeom>
          <a:solidFill>
            <a:srgbClr val="FFFFFF"/>
          </a:solidFill>
          <a:ln w="9525">
            <a:solidFill>
              <a:srgbClr val="0070C0"/>
            </a:solidFill>
            <a:prstDash val="solid"/>
          </a:ln>
        </p:spPr>
        <p:txBody>
          <a:bodyPr/>
          <a:lstStyle/>
          <a:p>
            <a:endParaRPr/>
          </a:p>
        </p:txBody>
      </p:sp>
      <p:sp>
        <p:nvSpPr>
          <p:cNvPr id="24" name="矩形 23"/>
          <p:cNvSpPr>
            <a:spLocks noGrp="1"/>
          </p:cNvSpPr>
          <p:nvPr/>
        </p:nvSpPr>
        <p:spPr>
          <a:xfrm>
            <a:off x="6248400" y="2790825"/>
            <a:ext cx="4533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D</a:t>
            </a:r>
          </a:p>
        </p:txBody>
      </p:sp>
      <p:sp>
        <p:nvSpPr>
          <p:cNvPr id="25" name="矩形 24"/>
          <p:cNvSpPr>
            <a:spLocks noGrp="1"/>
          </p:cNvSpPr>
          <p:nvPr/>
        </p:nvSpPr>
        <p:spPr>
          <a:xfrm>
            <a:off x="6248400" y="3181350"/>
            <a:ext cx="45339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Invalid input / service failure</a:t>
            </a:r>
          </a:p>
          <a:p>
            <a:pPr algn="l">
              <a:buNone/>
              <a:defRPr sz="1050" b="0">
                <a:solidFill>
                  <a:srgbClr val="637788"/>
                </a:solidFill>
                <a:latin typeface="Lato"/>
                <a:ea typeface="Lato"/>
                <a:cs typeface="Lato"/>
              </a:defRPr>
            </a:pPr>
            <a:r>
              <a:rPr sz="1050" b="0">
                <a:solidFill>
                  <a:srgbClr val="637788"/>
                </a:solidFill>
                <a:latin typeface="Lato"/>
                <a:ea typeface="Lato"/>
                <a:cs typeface="Lato"/>
              </a:rPr>
              <a:t>Non-PDF, empty message, missing chat_id, or a safe 502.</a:t>
            </a:r>
          </a:p>
        </p:txBody>
      </p:sp>
      <p:sp>
        <p:nvSpPr>
          <p:cNvPr id="26" name="圆角矩形 25"/>
          <p:cNvSpPr>
            <a:spLocks noGrp="1"/>
          </p:cNvSpPr>
          <p:nvPr/>
        </p:nvSpPr>
        <p:spPr>
          <a:xfrm>
            <a:off x="762000" y="3943350"/>
            <a:ext cx="10287000" cy="1104900"/>
          </a:xfrm>
          <a:prstGeom prst="roundRect">
            <a:avLst>
              <a:gd name="adj" fmla="val 6897"/>
            </a:avLst>
          </a:prstGeom>
          <a:solidFill>
            <a:srgbClr val="003B74"/>
          </a:solidFill>
          <a:ln w="9525">
            <a:solidFill>
              <a:srgbClr val="003B74"/>
            </a:solidFill>
            <a:prstDash val="solid"/>
          </a:ln>
        </p:spPr>
        <p:txBody>
          <a:bodyPr/>
          <a:lstStyle/>
          <a:p>
            <a:endParaRPr/>
          </a:p>
        </p:txBody>
      </p:sp>
      <p:sp>
        <p:nvSpPr>
          <p:cNvPr id="27" name="矩形 26"/>
          <p:cNvSpPr>
            <a:spLocks noGrp="1"/>
          </p:cNvSpPr>
          <p:nvPr/>
        </p:nvSpPr>
        <p:spPr>
          <a:xfrm>
            <a:off x="933450" y="4076700"/>
            <a:ext cx="9944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COMPLETE ONE ROW FOR EVERY TEST</a:t>
            </a:r>
          </a:p>
        </p:txBody>
      </p:sp>
      <p:sp>
        <p:nvSpPr>
          <p:cNvPr id="28" name="矩形 27"/>
          <p:cNvSpPr>
            <a:spLocks noGrp="1"/>
          </p:cNvSpPr>
          <p:nvPr/>
        </p:nvSpPr>
        <p:spPr>
          <a:xfrm>
            <a:off x="933450" y="4343400"/>
            <a:ext cx="9944100" cy="590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Question: ________________  |  Expected page: ____  |  Actual page: ____  |  Supported by source: Yes / No  |  Observation: ________________</a:t>
            </a:r>
          </a:p>
        </p:txBody>
      </p:sp>
      <p:sp>
        <p:nvSpPr>
          <p:cNvPr id="29" name="矩形 28"/>
          <p:cNvSpPr>
            <a:spLocks noGrp="1"/>
          </p:cNvSpPr>
          <p:nvPr/>
        </p:nvSpPr>
        <p:spPr>
          <a:xfrm>
            <a:off x="819150" y="5238750"/>
            <a:ext cx="1000125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C85A4E"/>
                </a:solidFill>
                <a:latin typeface="Lato"/>
                <a:ea typeface="Lato"/>
                <a:cs typeface="Lato"/>
              </a:defRPr>
            </a:pPr>
            <a:r>
              <a:rPr sz="1275" b="1">
                <a:solidFill>
                  <a:srgbClr val="C85A4E"/>
                </a:solidFill>
                <a:latin typeface="Lato"/>
                <a:ea typeface="Lato"/>
                <a:cs typeface="Lato"/>
              </a:rPr>
              <a:t>Page detective: predict first, then let a peer see only the answer; finally, return to the source together and judge.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矩形 40"/>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TA CHECKPOINT A</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fontScale="94611"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TA checkpoint A: the backend can complete Q&amp;A independently</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CHECKPOINT A</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0070C0"/>
          </a:solidFill>
          <a:ln w="9525">
            <a:solidFill>
              <a:srgbClr val="0070C0"/>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A7B8C8"/>
          </a:solidFill>
          <a:ln w="9525">
            <a:solidFill>
              <a:srgbClr val="A7B8C8"/>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22</a:t>
            </a:r>
          </a:p>
        </p:txBody>
      </p:sp>
      <p:sp>
        <p:nvSpPr>
          <p:cNvPr id="14" name="椭圆 13"/>
          <p:cNvSpPr>
            <a:spLocks noGrp="1"/>
          </p:cNvSpPr>
          <p:nvPr/>
        </p:nvSpPr>
        <p:spPr>
          <a:xfrm>
            <a:off x="876300" y="1657350"/>
            <a:ext cx="285750" cy="285750"/>
          </a:xfrm>
          <a:prstGeom prst="ellipse">
            <a:avLst/>
          </a:prstGeom>
          <a:solidFill>
            <a:srgbClr val="39825B"/>
          </a:solidFill>
          <a:ln w="9525">
            <a:solidFill>
              <a:srgbClr val="39825B"/>
            </a:solidFill>
            <a:prstDash val="solid"/>
          </a:ln>
        </p:spPr>
        <p:txBody>
          <a:bodyPr/>
          <a:lstStyle/>
          <a:p>
            <a:endParaRPr/>
          </a:p>
        </p:txBody>
      </p:sp>
      <p:sp>
        <p:nvSpPr>
          <p:cNvPr id="15" name="矩形 14"/>
          <p:cNvSpPr>
            <a:spLocks noGrp="1"/>
          </p:cNvSpPr>
          <p:nvPr/>
        </p:nvSpPr>
        <p:spPr>
          <a:xfrm>
            <a:off x="876300" y="1676400"/>
            <a:ext cx="2857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275" b="1">
                <a:solidFill>
                  <a:srgbClr val="FFFFFF"/>
                </a:solidFill>
                <a:latin typeface="Lato"/>
                <a:ea typeface="Lato"/>
                <a:cs typeface="Lato"/>
              </a:defRPr>
            </a:pPr>
            <a:r>
              <a:rPr sz="1275" b="1">
                <a:solidFill>
                  <a:srgbClr val="FFFFFF"/>
                </a:solidFill>
                <a:latin typeface="Lato"/>
                <a:ea typeface="Lato"/>
                <a:cs typeface="Lato"/>
              </a:rPr>
              <a:t>✓</a:t>
            </a:r>
          </a:p>
        </p:txBody>
      </p:sp>
      <p:sp>
        <p:nvSpPr>
          <p:cNvPr id="16" name="矩形 15"/>
          <p:cNvSpPr>
            <a:spLocks noGrp="1"/>
          </p:cNvSpPr>
          <p:nvPr/>
        </p:nvSpPr>
        <p:spPr>
          <a:xfrm>
            <a:off x="1333500" y="1676400"/>
            <a:ext cx="94297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0">
                <a:solidFill>
                  <a:srgbClr val="163F68"/>
                </a:solidFill>
                <a:latin typeface="Lato"/>
                <a:ea typeface="Lato"/>
                <a:cs typeface="Lato"/>
              </a:defRPr>
            </a:pPr>
            <a:r>
              <a:rPr sz="1425" b="0">
                <a:solidFill>
                  <a:srgbClr val="163F68"/>
                </a:solidFill>
                <a:latin typeface="Lato"/>
                <a:ea typeface="Lato"/>
                <a:cs typeface="Lato"/>
              </a:rPr>
              <a:t>GET /health: see 200 and {"ok": true}.</a:t>
            </a:r>
          </a:p>
        </p:txBody>
      </p:sp>
      <p:sp>
        <p:nvSpPr>
          <p:cNvPr id="17" name="椭圆 16"/>
          <p:cNvSpPr>
            <a:spLocks noGrp="1"/>
          </p:cNvSpPr>
          <p:nvPr/>
        </p:nvSpPr>
        <p:spPr>
          <a:xfrm>
            <a:off x="876300" y="2324100"/>
            <a:ext cx="285750" cy="285750"/>
          </a:xfrm>
          <a:prstGeom prst="ellipse">
            <a:avLst/>
          </a:prstGeom>
          <a:solidFill>
            <a:srgbClr val="39825B"/>
          </a:solidFill>
          <a:ln w="9525">
            <a:solidFill>
              <a:srgbClr val="39825B"/>
            </a:solidFill>
            <a:prstDash val="solid"/>
          </a:ln>
        </p:spPr>
        <p:txBody>
          <a:bodyPr/>
          <a:lstStyle/>
          <a:p>
            <a:endParaRPr/>
          </a:p>
        </p:txBody>
      </p:sp>
      <p:sp>
        <p:nvSpPr>
          <p:cNvPr id="18" name="矩形 17"/>
          <p:cNvSpPr>
            <a:spLocks noGrp="1"/>
          </p:cNvSpPr>
          <p:nvPr/>
        </p:nvSpPr>
        <p:spPr>
          <a:xfrm>
            <a:off x="876300" y="2343150"/>
            <a:ext cx="2857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275" b="1">
                <a:solidFill>
                  <a:srgbClr val="FFFFFF"/>
                </a:solidFill>
                <a:latin typeface="Lato"/>
                <a:ea typeface="Lato"/>
                <a:cs typeface="Lato"/>
              </a:defRPr>
            </a:pPr>
            <a:r>
              <a:rPr sz="1275" b="1">
                <a:solidFill>
                  <a:srgbClr val="FFFFFF"/>
                </a:solidFill>
                <a:latin typeface="Lato"/>
                <a:ea typeface="Lato"/>
                <a:cs typeface="Lato"/>
              </a:rPr>
              <a:t>✓</a:t>
            </a:r>
          </a:p>
        </p:txBody>
      </p:sp>
      <p:sp>
        <p:nvSpPr>
          <p:cNvPr id="19" name="矩形 18"/>
          <p:cNvSpPr>
            <a:spLocks noGrp="1"/>
          </p:cNvSpPr>
          <p:nvPr/>
        </p:nvSpPr>
        <p:spPr>
          <a:xfrm>
            <a:off x="1333500" y="2343150"/>
            <a:ext cx="94297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0">
                <a:solidFill>
                  <a:srgbClr val="163F68"/>
                </a:solidFill>
                <a:latin typeface="Lato"/>
                <a:ea typeface="Lato"/>
                <a:cs typeface="Lato"/>
              </a:defRPr>
            </a:pPr>
            <a:r>
              <a:rPr sz="1425" b="0">
                <a:solidFill>
                  <a:srgbClr val="163F68"/>
                </a:solidFill>
                <a:latin typeface="Lato"/>
                <a:ea typeface="Lato"/>
                <a:cs typeface="Lato"/>
              </a:rPr>
              <a:t>POST /upload?chat_id=day2-demo: store parsed pages in memory.</a:t>
            </a:r>
          </a:p>
        </p:txBody>
      </p:sp>
      <p:sp>
        <p:nvSpPr>
          <p:cNvPr id="20" name="椭圆 19"/>
          <p:cNvSpPr>
            <a:spLocks noGrp="1"/>
          </p:cNvSpPr>
          <p:nvPr/>
        </p:nvSpPr>
        <p:spPr>
          <a:xfrm>
            <a:off x="876300" y="2990850"/>
            <a:ext cx="285750" cy="285750"/>
          </a:xfrm>
          <a:prstGeom prst="ellipse">
            <a:avLst/>
          </a:prstGeom>
          <a:solidFill>
            <a:srgbClr val="39825B"/>
          </a:solidFill>
          <a:ln w="9525">
            <a:solidFill>
              <a:srgbClr val="39825B"/>
            </a:solidFill>
            <a:prstDash val="solid"/>
          </a:ln>
        </p:spPr>
        <p:txBody>
          <a:bodyPr/>
          <a:lstStyle/>
          <a:p>
            <a:endParaRPr/>
          </a:p>
        </p:txBody>
      </p:sp>
      <p:sp>
        <p:nvSpPr>
          <p:cNvPr id="21" name="矩形 20"/>
          <p:cNvSpPr>
            <a:spLocks noGrp="1"/>
          </p:cNvSpPr>
          <p:nvPr/>
        </p:nvSpPr>
        <p:spPr>
          <a:xfrm>
            <a:off x="876300" y="3009900"/>
            <a:ext cx="2857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275" b="1">
                <a:solidFill>
                  <a:srgbClr val="FFFFFF"/>
                </a:solidFill>
                <a:latin typeface="Lato"/>
                <a:ea typeface="Lato"/>
                <a:cs typeface="Lato"/>
              </a:defRPr>
            </a:pPr>
            <a:r>
              <a:rPr sz="1275" b="1">
                <a:solidFill>
                  <a:srgbClr val="FFFFFF"/>
                </a:solidFill>
                <a:latin typeface="Lato"/>
                <a:ea typeface="Lato"/>
                <a:cs typeface="Lato"/>
              </a:rPr>
              <a:t>✓</a:t>
            </a:r>
          </a:p>
        </p:txBody>
      </p:sp>
      <p:sp>
        <p:nvSpPr>
          <p:cNvPr id="22" name="矩形 21"/>
          <p:cNvSpPr>
            <a:spLocks noGrp="1"/>
          </p:cNvSpPr>
          <p:nvPr/>
        </p:nvSpPr>
        <p:spPr>
          <a:xfrm>
            <a:off x="1333500" y="3009900"/>
            <a:ext cx="94297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0">
                <a:solidFill>
                  <a:srgbClr val="163F68"/>
                </a:solidFill>
                <a:latin typeface="Lato"/>
                <a:ea typeface="Lato"/>
                <a:cs typeface="Lato"/>
              </a:defRPr>
            </a:pPr>
            <a:r>
              <a:rPr sz="1425" b="0">
                <a:solidFill>
                  <a:srgbClr val="163F68"/>
                </a:solidFill>
                <a:latin typeface="Lato"/>
                <a:ea typeface="Lato"/>
                <a:cs typeface="Lato"/>
              </a:rPr>
              <a:t>POST /chat: send {chat_id, message}; verify answer and citations.</a:t>
            </a:r>
          </a:p>
        </p:txBody>
      </p:sp>
      <p:sp>
        <p:nvSpPr>
          <p:cNvPr id="23" name="椭圆 22"/>
          <p:cNvSpPr>
            <a:spLocks noGrp="1"/>
          </p:cNvSpPr>
          <p:nvPr/>
        </p:nvSpPr>
        <p:spPr>
          <a:xfrm>
            <a:off x="876300" y="3657600"/>
            <a:ext cx="285750" cy="285750"/>
          </a:xfrm>
          <a:prstGeom prst="ellipse">
            <a:avLst/>
          </a:prstGeom>
          <a:solidFill>
            <a:srgbClr val="39825B"/>
          </a:solidFill>
          <a:ln w="9525">
            <a:solidFill>
              <a:srgbClr val="39825B"/>
            </a:solidFill>
            <a:prstDash val="solid"/>
          </a:ln>
        </p:spPr>
        <p:txBody>
          <a:bodyPr/>
          <a:lstStyle/>
          <a:p>
            <a:endParaRPr/>
          </a:p>
        </p:txBody>
      </p:sp>
      <p:sp>
        <p:nvSpPr>
          <p:cNvPr id="24" name="矩形 23"/>
          <p:cNvSpPr>
            <a:spLocks noGrp="1"/>
          </p:cNvSpPr>
          <p:nvPr/>
        </p:nvSpPr>
        <p:spPr>
          <a:xfrm>
            <a:off x="876300" y="3676650"/>
            <a:ext cx="2857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275" b="1">
                <a:solidFill>
                  <a:srgbClr val="FFFFFF"/>
                </a:solidFill>
                <a:latin typeface="Lato"/>
                <a:ea typeface="Lato"/>
                <a:cs typeface="Lato"/>
              </a:defRPr>
            </a:pPr>
            <a:r>
              <a:rPr sz="1275" b="1">
                <a:solidFill>
                  <a:srgbClr val="FFFFFF"/>
                </a:solidFill>
                <a:latin typeface="Lato"/>
                <a:ea typeface="Lato"/>
                <a:cs typeface="Lato"/>
              </a:rPr>
              <a:t>✓</a:t>
            </a:r>
          </a:p>
        </p:txBody>
      </p:sp>
      <p:sp>
        <p:nvSpPr>
          <p:cNvPr id="25" name="矩形 24"/>
          <p:cNvSpPr>
            <a:spLocks noGrp="1"/>
          </p:cNvSpPr>
          <p:nvPr/>
        </p:nvSpPr>
        <p:spPr>
          <a:xfrm>
            <a:off x="1333500" y="3676650"/>
            <a:ext cx="94297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0">
                <a:solidFill>
                  <a:srgbClr val="163F68"/>
                </a:solidFill>
                <a:latin typeface="Lato"/>
                <a:ea typeface="Lato"/>
                <a:cs typeface="Lato"/>
              </a:defRPr>
            </a:pPr>
            <a:r>
              <a:rPr sz="1425" b="0">
                <a:solidFill>
                  <a:srgbClr val="163F68"/>
                </a:solidFill>
                <a:latin typeface="Lato"/>
                <a:ea typeface="Lato"/>
                <a:cs typeface="Lato"/>
              </a:rPr>
              <a:t>Then send an unanswerable message; after that, deliberately use an unknown chat_id.</a:t>
            </a:r>
          </a:p>
        </p:txBody>
      </p:sp>
      <p:sp>
        <p:nvSpPr>
          <p:cNvPr id="26" name="圆角矩形 25"/>
          <p:cNvSpPr>
            <a:spLocks noGrp="1"/>
          </p:cNvSpPr>
          <p:nvPr/>
        </p:nvSpPr>
        <p:spPr>
          <a:xfrm>
            <a:off x="8277860" y="1565275"/>
            <a:ext cx="3429000" cy="1854200"/>
          </a:xfrm>
          <a:prstGeom prst="roundRect">
            <a:avLst>
              <a:gd name="adj" fmla="val 3200"/>
            </a:avLst>
          </a:prstGeom>
          <a:solidFill>
            <a:srgbClr val="003B74"/>
          </a:solidFill>
          <a:ln w="9525">
            <a:solidFill>
              <a:srgbClr val="003B74"/>
            </a:solidFill>
            <a:prstDash val="solid"/>
          </a:ln>
        </p:spPr>
        <p:txBody>
          <a:bodyPr/>
          <a:lstStyle/>
          <a:p>
            <a:endParaRPr/>
          </a:p>
        </p:txBody>
      </p:sp>
      <p:sp>
        <p:nvSpPr>
          <p:cNvPr id="27" name="矩形 26"/>
          <p:cNvSpPr>
            <a:spLocks noGrp="1"/>
          </p:cNvSpPr>
          <p:nvPr/>
        </p:nvSpPr>
        <p:spPr>
          <a:xfrm>
            <a:off x="8487410" y="1727200"/>
            <a:ext cx="3009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650" b="1">
                <a:solidFill>
                  <a:srgbClr val="72AD47"/>
                </a:solidFill>
                <a:latin typeface="Lato"/>
                <a:ea typeface="Lato"/>
                <a:cs typeface="Lato"/>
              </a:defRPr>
            </a:pPr>
            <a:r>
              <a:rPr sz="1650" b="1">
                <a:solidFill>
                  <a:srgbClr val="72AD47"/>
                </a:solidFill>
                <a:latin typeface="Lato"/>
                <a:ea typeface="Lato"/>
                <a:cs typeface="Lato"/>
              </a:rPr>
              <a:t>TO PASS, YOU CAN SHOW</a:t>
            </a:r>
          </a:p>
        </p:txBody>
      </p:sp>
      <p:sp>
        <p:nvSpPr>
          <p:cNvPr id="28" name="矩形 27"/>
          <p:cNvSpPr>
            <a:spLocks noGrp="1"/>
          </p:cNvSpPr>
          <p:nvPr/>
        </p:nvSpPr>
        <p:spPr>
          <a:xfrm>
            <a:off x="8487410" y="2117725"/>
            <a:ext cx="3009900" cy="119062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FFFFFF"/>
                </a:solidFill>
                <a:latin typeface="Lato"/>
                <a:ea typeface="Lato"/>
                <a:cs typeface="Lato"/>
              </a:defRPr>
            </a:pPr>
            <a:r>
              <a:rPr sz="1350" b="0">
                <a:solidFill>
                  <a:srgbClr val="FFFFFF"/>
                </a:solidFill>
                <a:latin typeface="Lato"/>
                <a:ea typeface="Lato"/>
                <a:cs typeface="Lato"/>
              </a:rPr>
              <a:t>① Swagger request record</a:t>
            </a:r>
          </a:p>
          <a:p>
            <a:pPr algn="l">
              <a:buNone/>
              <a:defRPr sz="1350" b="0">
                <a:solidFill>
                  <a:srgbClr val="FFFFFF"/>
                </a:solidFill>
                <a:latin typeface="Lato"/>
                <a:ea typeface="Lato"/>
                <a:cs typeface="Lato"/>
              </a:defRPr>
            </a:pPr>
            <a:r>
              <a:rPr sz="1350" b="0">
                <a:solidFill>
                  <a:srgbClr val="FFFFFF"/>
                </a:solidFill>
                <a:latin typeface="Lato"/>
                <a:ea typeface="Lato"/>
                <a:cs typeface="Lato"/>
              </a:rPr>
              <a:t>② Actual JSON returned by upload</a:t>
            </a:r>
          </a:p>
          <a:p>
            <a:pPr algn="l">
              <a:buNone/>
              <a:defRPr sz="1350" b="0">
                <a:solidFill>
                  <a:srgbClr val="FFFFFF"/>
                </a:solidFill>
                <a:latin typeface="Lato"/>
                <a:ea typeface="Lato"/>
                <a:cs typeface="Lato"/>
              </a:defRPr>
            </a:pPr>
            <a:r>
              <a:rPr sz="1350" b="0">
                <a:solidFill>
                  <a:srgbClr val="FFFFFF"/>
                </a:solidFill>
                <a:latin typeface="Lato"/>
                <a:ea typeface="Lato"/>
                <a:cs typeface="Lato"/>
              </a:rPr>
              <a:t>③ answer + citations from chat</a:t>
            </a:r>
          </a:p>
          <a:p>
            <a:pPr algn="l">
              <a:buNone/>
              <a:defRPr sz="1350" b="0">
                <a:solidFill>
                  <a:srgbClr val="FFFFFF"/>
                </a:solidFill>
                <a:latin typeface="Lato"/>
                <a:ea typeface="Lato"/>
                <a:cs typeface="Lato"/>
              </a:defRPr>
            </a:pPr>
            <a:r>
              <a:rPr sz="1350" b="0">
                <a:solidFill>
                  <a:srgbClr val="FFFFFF"/>
                </a:solidFill>
                <a:latin typeface="Lato"/>
                <a:ea typeface="Lato"/>
                <a:cs typeface="Lato"/>
              </a:rPr>
              <a:t>④ One explainable error response</a:t>
            </a:r>
          </a:p>
        </p:txBody>
      </p:sp>
      <p:sp>
        <p:nvSpPr>
          <p:cNvPr id="29" name="圆角矩形 28"/>
          <p:cNvSpPr>
            <a:spLocks noGrp="1"/>
          </p:cNvSpPr>
          <p:nvPr/>
        </p:nvSpPr>
        <p:spPr>
          <a:xfrm>
            <a:off x="704850" y="4876800"/>
            <a:ext cx="2476500" cy="685800"/>
          </a:xfrm>
          <a:prstGeom prst="roundRect">
            <a:avLst>
              <a:gd name="adj" fmla="val 11111"/>
            </a:avLst>
          </a:prstGeom>
          <a:solidFill>
            <a:srgbClr val="F1F6FA"/>
          </a:solidFill>
          <a:ln w="9525">
            <a:solidFill>
              <a:srgbClr val="1F5284"/>
            </a:solidFill>
            <a:prstDash val="solid"/>
          </a:ln>
        </p:spPr>
        <p:txBody>
          <a:bodyPr/>
          <a:lstStyle/>
          <a:p>
            <a:endParaRPr/>
          </a:p>
        </p:txBody>
      </p:sp>
      <p:sp>
        <p:nvSpPr>
          <p:cNvPr id="30" name="矩形 29"/>
          <p:cNvSpPr>
            <a:spLocks noGrp="1"/>
          </p:cNvSpPr>
          <p:nvPr/>
        </p:nvSpPr>
        <p:spPr>
          <a:xfrm>
            <a:off x="838200" y="49720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YOU BRING</a:t>
            </a:r>
          </a:p>
        </p:txBody>
      </p:sp>
      <p:sp>
        <p:nvSpPr>
          <p:cNvPr id="31" name="矩形 30"/>
          <p:cNvSpPr>
            <a:spLocks noGrp="1"/>
          </p:cNvSpPr>
          <p:nvPr/>
        </p:nvSpPr>
        <p:spPr>
          <a:xfrm>
            <a:off x="838200" y="51720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Shared PDF + Worksheet</a:t>
            </a:r>
          </a:p>
        </p:txBody>
      </p:sp>
      <p:sp>
        <p:nvSpPr>
          <p:cNvPr id="32" name="圆角矩形 31"/>
          <p:cNvSpPr>
            <a:spLocks noGrp="1"/>
          </p:cNvSpPr>
          <p:nvPr/>
        </p:nvSpPr>
        <p:spPr>
          <a:xfrm>
            <a:off x="3352800" y="4876800"/>
            <a:ext cx="2476500" cy="685800"/>
          </a:xfrm>
          <a:prstGeom prst="roundRect">
            <a:avLst>
              <a:gd name="adj" fmla="val 11111"/>
            </a:avLst>
          </a:prstGeom>
          <a:solidFill>
            <a:srgbClr val="FFFFFF"/>
          </a:solidFill>
          <a:ln w="9525">
            <a:solidFill>
              <a:srgbClr val="0070C0"/>
            </a:solidFill>
            <a:prstDash val="solid"/>
          </a:ln>
        </p:spPr>
        <p:txBody>
          <a:bodyPr/>
          <a:lstStyle/>
          <a:p>
            <a:endParaRPr/>
          </a:p>
        </p:txBody>
      </p:sp>
      <p:sp>
        <p:nvSpPr>
          <p:cNvPr id="33" name="矩形 32"/>
          <p:cNvSpPr>
            <a:spLocks noGrp="1"/>
          </p:cNvSpPr>
          <p:nvPr/>
        </p:nvSpPr>
        <p:spPr>
          <a:xfrm>
            <a:off x="3486150" y="49720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0070C0"/>
                </a:solidFill>
                <a:latin typeface="Lato"/>
                <a:ea typeface="Lato"/>
                <a:cs typeface="Lato"/>
              </a:defRPr>
            </a:pPr>
            <a:r>
              <a:rPr sz="750" b="1">
                <a:solidFill>
                  <a:srgbClr val="0070C0"/>
                </a:solidFill>
                <a:latin typeface="Lato"/>
                <a:ea typeface="Lato"/>
                <a:cs typeface="Lato"/>
              </a:rPr>
              <a:t>YOU OBSERVE</a:t>
            </a:r>
          </a:p>
        </p:txBody>
      </p:sp>
      <p:sp>
        <p:nvSpPr>
          <p:cNvPr id="34" name="矩形 33"/>
          <p:cNvSpPr>
            <a:spLocks noGrp="1"/>
          </p:cNvSpPr>
          <p:nvPr/>
        </p:nvSpPr>
        <p:spPr>
          <a:xfrm>
            <a:off x="3486150" y="51720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Backend Observation</a:t>
            </a:r>
          </a:p>
        </p:txBody>
      </p:sp>
      <p:sp>
        <p:nvSpPr>
          <p:cNvPr id="35" name="圆角矩形 34"/>
          <p:cNvSpPr>
            <a:spLocks noGrp="1"/>
          </p:cNvSpPr>
          <p:nvPr/>
        </p:nvSpPr>
        <p:spPr>
          <a:xfrm>
            <a:off x="6000750" y="4876800"/>
            <a:ext cx="2476500" cy="685800"/>
          </a:xfrm>
          <a:prstGeom prst="roundRect">
            <a:avLst>
              <a:gd name="adj" fmla="val 11111"/>
            </a:avLst>
          </a:prstGeom>
          <a:solidFill>
            <a:srgbClr val="EEF7EE"/>
          </a:solidFill>
          <a:ln w="9525">
            <a:solidFill>
              <a:srgbClr val="39825B"/>
            </a:solidFill>
            <a:prstDash val="solid"/>
          </a:ln>
        </p:spPr>
        <p:txBody>
          <a:bodyPr/>
          <a:lstStyle/>
          <a:p>
            <a:endParaRPr/>
          </a:p>
        </p:txBody>
      </p:sp>
      <p:sp>
        <p:nvSpPr>
          <p:cNvPr id="36" name="矩形 35"/>
          <p:cNvSpPr>
            <a:spLocks noGrp="1"/>
          </p:cNvSpPr>
          <p:nvPr/>
        </p:nvSpPr>
        <p:spPr>
          <a:xfrm>
            <a:off x="6134100" y="49720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VERIFY THIS WAY</a:t>
            </a:r>
          </a:p>
        </p:txBody>
      </p:sp>
      <p:sp>
        <p:nvSpPr>
          <p:cNvPr id="37" name="矩形 36"/>
          <p:cNvSpPr>
            <a:spLocks noGrp="1"/>
          </p:cNvSpPr>
          <p:nvPr/>
        </p:nvSpPr>
        <p:spPr>
          <a:xfrm>
            <a:off x="6134100" y="51720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A Peer Can Also Complete It</a:t>
            </a:r>
          </a:p>
        </p:txBody>
      </p:sp>
      <p:sp>
        <p:nvSpPr>
          <p:cNvPr id="38" name="圆角矩形 37"/>
          <p:cNvSpPr>
            <a:spLocks noGrp="1"/>
          </p:cNvSpPr>
          <p:nvPr/>
        </p:nvSpPr>
        <p:spPr>
          <a:xfrm>
            <a:off x="8648700" y="4876800"/>
            <a:ext cx="2476500" cy="685800"/>
          </a:xfrm>
          <a:prstGeom prst="roundRect">
            <a:avLst>
              <a:gd name="adj" fmla="val 11111"/>
            </a:avLst>
          </a:prstGeom>
          <a:solidFill>
            <a:srgbClr val="FFF8E6"/>
          </a:solidFill>
          <a:ln w="9525">
            <a:solidFill>
              <a:srgbClr val="D4A72C"/>
            </a:solidFill>
            <a:prstDash val="solid"/>
          </a:ln>
        </p:spPr>
        <p:txBody>
          <a:bodyPr/>
          <a:lstStyle/>
          <a:p>
            <a:endParaRPr/>
          </a:p>
        </p:txBody>
      </p:sp>
      <p:sp>
        <p:nvSpPr>
          <p:cNvPr id="39" name="矩形 38"/>
          <p:cNvSpPr>
            <a:spLocks noGrp="1"/>
          </p:cNvSpPr>
          <p:nvPr/>
        </p:nvSpPr>
        <p:spPr>
          <a:xfrm>
            <a:off x="8782050" y="49720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D4A72C"/>
                </a:solidFill>
                <a:latin typeface="Lato"/>
                <a:ea typeface="Lato"/>
                <a:cs typeface="Lato"/>
              </a:defRPr>
            </a:pPr>
            <a:r>
              <a:rPr sz="750" b="1">
                <a:solidFill>
                  <a:srgbClr val="D4A72C"/>
                </a:solidFill>
                <a:latin typeface="Lato"/>
                <a:ea typeface="Lato"/>
                <a:cs typeface="Lato"/>
              </a:rPr>
              <a:t>NEXT</a:t>
            </a:r>
          </a:p>
        </p:txBody>
      </p:sp>
      <p:sp>
        <p:nvSpPr>
          <p:cNvPr id="40" name="矩形 39"/>
          <p:cNvSpPr>
            <a:spLocks noGrp="1"/>
          </p:cNvSpPr>
          <p:nvPr/>
        </p:nvSpPr>
        <p:spPr>
          <a:xfrm>
            <a:off x="8782050" y="51720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Make the UI Explain the Process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3B74"/>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003B74"/>
          </a:solidFill>
          <a:ln w="9525">
            <a:solidFill>
              <a:srgbClr val="003B74"/>
            </a:solidFill>
            <a:prstDash val="solid"/>
          </a:ln>
        </p:spPr>
        <p:txBody>
          <a:bodyPr/>
          <a:lstStyle/>
          <a:p>
            <a:endParaRPr/>
          </a:p>
        </p:txBody>
      </p:sp>
      <p:sp>
        <p:nvSpPr>
          <p:cNvPr id="2" name="矩形 1"/>
          <p:cNvSpPr>
            <a:spLocks noGrp="1"/>
          </p:cNvSpPr>
          <p:nvPr/>
        </p:nvSpPr>
        <p:spPr>
          <a:xfrm>
            <a:off x="0" y="2571750"/>
            <a:ext cx="190500" cy="1143000"/>
          </a:xfrm>
          <a:prstGeom prst="rect">
            <a:avLst/>
          </a:prstGeom>
          <a:solidFill>
            <a:srgbClr val="00467F"/>
          </a:solidFill>
          <a:ln w="9525">
            <a:solidFill>
              <a:srgbClr val="00467F"/>
            </a:solidFill>
            <a:prstDash val="solid"/>
          </a:ln>
        </p:spPr>
        <p:txBody>
          <a:bodyPr/>
          <a:lstStyle/>
          <a:p>
            <a:endParaRPr/>
          </a:p>
        </p:txBody>
      </p:sp>
      <p:sp>
        <p:nvSpPr>
          <p:cNvPr id="3" name="矩形 2"/>
          <p:cNvSpPr>
            <a:spLocks noGrp="1"/>
          </p:cNvSpPr>
          <p:nvPr/>
        </p:nvSpPr>
        <p:spPr>
          <a:xfrm>
            <a:off x="781050" y="220980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D8E6EF"/>
                </a:solidFill>
                <a:latin typeface="Lato"/>
                <a:ea typeface="Lato"/>
                <a:cs typeface="Lato"/>
              </a:defRPr>
            </a:pPr>
            <a:r>
              <a:rPr sz="975" b="1">
                <a:solidFill>
                  <a:srgbClr val="D8E6EF"/>
                </a:solidFill>
                <a:latin typeface="Lato"/>
                <a:ea typeface="Lato"/>
                <a:cs typeface="Lato"/>
              </a:rPr>
              <a:t>HELP USERS UNDERSTAND WHAT THE SYSTEM IS DOING</a:t>
            </a:r>
          </a:p>
        </p:txBody>
      </p:sp>
      <p:sp>
        <p:nvSpPr>
          <p:cNvPr id="4" name="矩形 3"/>
          <p:cNvSpPr>
            <a:spLocks noGrp="1"/>
          </p:cNvSpPr>
          <p:nvPr/>
        </p:nvSpPr>
        <p:spPr>
          <a:xfrm>
            <a:off x="781050" y="2647950"/>
            <a:ext cx="9982200" cy="1066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300" b="1">
                <a:solidFill>
                  <a:srgbClr val="FFFFFF"/>
                </a:solidFill>
                <a:latin typeface="Lato"/>
                <a:ea typeface="Lato"/>
                <a:cs typeface="Lato"/>
              </a:defRPr>
            </a:pPr>
            <a:r>
              <a:rPr sz="3300" b="1">
                <a:solidFill>
                  <a:srgbClr val="FFFFFF"/>
                </a:solidFill>
                <a:latin typeface="Lato"/>
                <a:ea typeface="Lato"/>
                <a:cs typeface="Lato"/>
              </a:rPr>
              <a:t>Core concept 3 | How React state becomes UI</a:t>
            </a:r>
          </a:p>
        </p:txBody>
      </p:sp>
      <p:sp>
        <p:nvSpPr>
          <p:cNvPr id="5" name="矩形 4"/>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D8E6EF"/>
                </a:solidFill>
                <a:latin typeface="Lato"/>
                <a:ea typeface="Lato"/>
                <a:cs typeface="Lato"/>
              </a:defRPr>
            </a:pPr>
            <a:r>
              <a:rPr sz="825" b="1">
                <a:solidFill>
                  <a:srgbClr val="D8E6EF"/>
                </a:solidFill>
                <a:latin typeface="Lato"/>
                <a:ea typeface="Lato"/>
                <a:cs typeface="Lato"/>
              </a:rPr>
              <a:t>TEACHER CORE · 39–41 MIN</a:t>
            </a:r>
          </a:p>
        </p:txBody>
      </p:sp>
      <p:sp>
        <p:nvSpPr>
          <p:cNvPr id="6" name="矩形 5"/>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153650" y="647700"/>
            <a:ext cx="400050" cy="28575"/>
          </a:xfrm>
          <a:prstGeom prst="rect">
            <a:avLst/>
          </a:prstGeom>
          <a:solidFill>
            <a:srgbClr val="7FA0B9"/>
          </a:solidFill>
          <a:ln w="9525">
            <a:solidFill>
              <a:srgbClr val="7FA0B9"/>
            </a:solidFill>
            <a:prstDash val="solid"/>
          </a:ln>
        </p:spPr>
        <p:txBody>
          <a:bodyPr/>
          <a:lstStyle/>
          <a:p>
            <a:endParaRPr/>
          </a:p>
        </p:txBody>
      </p:sp>
      <p:sp>
        <p:nvSpPr>
          <p:cNvPr id="10" name="矩形 9"/>
          <p:cNvSpPr>
            <a:spLocks noGrp="1"/>
          </p:cNvSpPr>
          <p:nvPr/>
        </p:nvSpPr>
        <p:spPr>
          <a:xfrm>
            <a:off x="10648950" y="647700"/>
            <a:ext cx="400050" cy="28575"/>
          </a:xfrm>
          <a:prstGeom prst="rect">
            <a:avLst/>
          </a:prstGeom>
          <a:solidFill>
            <a:srgbClr val="7FA0B9"/>
          </a:solidFill>
          <a:ln w="9525">
            <a:solidFill>
              <a:srgbClr val="7FA0B9"/>
            </a:solidFill>
            <a:prstDash val="solid"/>
          </a:ln>
        </p:spPr>
        <p:txBody>
          <a:bodyPr/>
          <a:lstStyle/>
          <a:p>
            <a:endParaRP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23</a:t>
            </a:r>
          </a:p>
        </p:txBody>
      </p:sp>
      <p:sp>
        <p:nvSpPr>
          <p:cNvPr id="15" name="矩形 14"/>
          <p:cNvSpPr>
            <a:spLocks noGrp="1"/>
          </p:cNvSpPr>
          <p:nvPr/>
        </p:nvSpPr>
        <p:spPr>
          <a:xfrm>
            <a:off x="781050" y="1600200"/>
            <a:ext cx="24765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D6E6F3"/>
                </a:solidFill>
                <a:latin typeface="Lato"/>
                <a:ea typeface="Lato"/>
                <a:cs typeface="Lato"/>
              </a:defRPr>
            </a:pPr>
            <a:r>
              <a:rPr sz="1200" b="1">
                <a:solidFill>
                  <a:srgbClr val="D6E6F3"/>
                </a:solidFill>
                <a:latin typeface="Lato"/>
                <a:ea typeface="Lato"/>
                <a:cs typeface="Lato"/>
              </a:rPr>
              <a:t>SECTION 03</a:t>
            </a:r>
          </a:p>
        </p:txBody>
      </p:sp>
      <p:sp>
        <p:nvSpPr>
          <p:cNvPr id="16" name="矩形 15"/>
          <p:cNvSpPr>
            <a:spLocks noGrp="1"/>
          </p:cNvSpPr>
          <p:nvPr/>
        </p:nvSpPr>
        <p:spPr>
          <a:xfrm>
            <a:off x="781050" y="3905250"/>
            <a:ext cx="9296400" cy="4762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1650" b="0">
                <a:solidFill>
                  <a:srgbClr val="E1EBF2"/>
                </a:solidFill>
                <a:latin typeface="Lato"/>
                <a:ea typeface="Lato"/>
                <a:cs typeface="Lato"/>
              </a:defRPr>
            </a:pPr>
            <a:r>
              <a:rPr sz="1650" b="0">
                <a:solidFill>
                  <a:srgbClr val="E1EBF2"/>
                </a:solidFill>
                <a:latin typeface="Lato"/>
                <a:ea typeface="Lato"/>
                <a:cs typeface="Lato"/>
              </a:rPr>
              <a:t>Once the backend can do the work, the UI must communicate waiting, success, errors, and page numbers to the user.</a:t>
            </a:r>
          </a:p>
        </p:txBody>
      </p:sp>
      <p:sp>
        <p:nvSpPr>
          <p:cNvPr id="17" name="圆角矩形 16"/>
          <p:cNvSpPr>
            <a:spLocks noGrp="1"/>
          </p:cNvSpPr>
          <p:nvPr/>
        </p:nvSpPr>
        <p:spPr>
          <a:xfrm>
            <a:off x="7810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18" name="矩形 17"/>
          <p:cNvSpPr>
            <a:spLocks noGrp="1"/>
          </p:cNvSpPr>
          <p:nvPr/>
        </p:nvSpPr>
        <p:spPr>
          <a:xfrm>
            <a:off x="9525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WHY</a:t>
            </a:r>
          </a:p>
        </p:txBody>
      </p:sp>
      <p:sp>
        <p:nvSpPr>
          <p:cNvPr id="19" name="矩形 18"/>
          <p:cNvSpPr>
            <a:spLocks noGrp="1"/>
          </p:cNvSpPr>
          <p:nvPr/>
        </p:nvSpPr>
        <p:spPr>
          <a:xfrm>
            <a:off x="9525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Users should not have to guess what the system is doing.</a:t>
            </a:r>
          </a:p>
        </p:txBody>
      </p:sp>
      <p:sp>
        <p:nvSpPr>
          <p:cNvPr id="20" name="圆角矩形 19"/>
          <p:cNvSpPr>
            <a:spLocks noGrp="1"/>
          </p:cNvSpPr>
          <p:nvPr/>
        </p:nvSpPr>
        <p:spPr>
          <a:xfrm>
            <a:off x="426720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1" name="矩形 20"/>
          <p:cNvSpPr>
            <a:spLocks noGrp="1"/>
          </p:cNvSpPr>
          <p:nvPr/>
        </p:nvSpPr>
        <p:spPr>
          <a:xfrm>
            <a:off x="443865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WHAT TO LEARN</a:t>
            </a:r>
          </a:p>
        </p:txBody>
      </p:sp>
      <p:sp>
        <p:nvSpPr>
          <p:cNvPr id="22" name="矩形 21"/>
          <p:cNvSpPr>
            <a:spLocks noGrp="1"/>
          </p:cNvSpPr>
          <p:nvPr/>
        </p:nvSpPr>
        <p:spPr>
          <a:xfrm>
            <a:off x="443865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User actions, UI state, and browser requests.</a:t>
            </a:r>
          </a:p>
        </p:txBody>
      </p:sp>
      <p:sp>
        <p:nvSpPr>
          <p:cNvPr id="23" name="圆角矩形 22"/>
          <p:cNvSpPr>
            <a:spLocks noGrp="1"/>
          </p:cNvSpPr>
          <p:nvPr/>
        </p:nvSpPr>
        <p:spPr>
          <a:xfrm>
            <a:off x="77533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4" name="矩形 23"/>
          <p:cNvSpPr>
            <a:spLocks noGrp="1"/>
          </p:cNvSpPr>
          <p:nvPr/>
        </p:nvSpPr>
        <p:spPr>
          <a:xfrm>
            <a:off x="79248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PASS CRITERIA</a:t>
            </a:r>
          </a:p>
        </p:txBody>
      </p:sp>
      <p:sp>
        <p:nvSpPr>
          <p:cNvPr id="25" name="矩形 24"/>
          <p:cNvSpPr>
            <a:spLocks noGrp="1"/>
          </p:cNvSpPr>
          <p:nvPr/>
        </p:nvSpPr>
        <p:spPr>
          <a:xfrm>
            <a:off x="79248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A peer can complete the upload, ask a question, and check page references using only the UI.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HOW ONE CLICK CHANGES THE UI</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React's minimal mental model: event → state → UI</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41–45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Events Change State; State Determines the UI</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24</a:t>
            </a:r>
          </a:p>
        </p:txBody>
      </p:sp>
      <p:pic>
        <p:nvPicPr>
          <p:cNvPr id="72" name="图片 39"/>
          <p:cNvPicPr>
            <a:picLocks noChangeAspect="1"/>
          </p:cNvPicPr>
          <p:nvPr/>
        </p:nvPicPr>
        <p:blipFill>
          <a:blip r:embed="rId3"/>
          <a:srcRect t="3241" b="3241"/>
          <a:stretch>
            <a:fillRect/>
          </a:stretch>
        </p:blipFill>
        <p:spPr>
          <a:xfrm>
            <a:off x="666750" y="1428750"/>
            <a:ext cx="7239000" cy="3810000"/>
          </a:xfrm>
          <a:prstGeom prst="rect">
            <a:avLst/>
          </a:prstGeom>
        </p:spPr>
      </p:pic>
      <p:sp>
        <p:nvSpPr>
          <p:cNvPr id="16" name="圆角矩形 15"/>
          <p:cNvSpPr>
            <a:spLocks noGrp="1"/>
          </p:cNvSpPr>
          <p:nvPr/>
        </p:nvSpPr>
        <p:spPr>
          <a:xfrm>
            <a:off x="8210550" y="1466850"/>
            <a:ext cx="2914650" cy="1066800"/>
          </a:xfrm>
          <a:prstGeom prst="roundRect">
            <a:avLst>
              <a:gd name="adj" fmla="val 7143"/>
            </a:avLst>
          </a:prstGeom>
          <a:solidFill>
            <a:srgbClr val="F1F6FA"/>
          </a:solidFill>
          <a:ln w="9525">
            <a:solidFill>
              <a:srgbClr val="1F5284"/>
            </a:solidFill>
            <a:prstDash val="solid"/>
          </a:ln>
        </p:spPr>
        <p:txBody>
          <a:bodyPr/>
          <a:lstStyle/>
          <a:p>
            <a:endParaRPr/>
          </a:p>
        </p:txBody>
      </p:sp>
      <p:sp>
        <p:nvSpPr>
          <p:cNvPr id="17" name="矩形 16"/>
          <p:cNvSpPr>
            <a:spLocks noGrp="1"/>
          </p:cNvSpPr>
          <p:nvPr/>
        </p:nvSpPr>
        <p:spPr>
          <a:xfrm>
            <a:off x="8420100" y="1628775"/>
            <a:ext cx="2495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EVENT</a:t>
            </a:r>
          </a:p>
        </p:txBody>
      </p:sp>
      <p:sp>
        <p:nvSpPr>
          <p:cNvPr id="18" name="矩形 17"/>
          <p:cNvSpPr>
            <a:spLocks noGrp="1"/>
          </p:cNvSpPr>
          <p:nvPr/>
        </p:nvSpPr>
        <p:spPr>
          <a:xfrm>
            <a:off x="8420100" y="2019300"/>
            <a:ext cx="2495550" cy="3810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Select a file, click upload, and send a message.</a:t>
            </a:r>
          </a:p>
        </p:txBody>
      </p:sp>
      <p:sp>
        <p:nvSpPr>
          <p:cNvPr id="19" name="圆角矩形 18"/>
          <p:cNvSpPr>
            <a:spLocks noGrp="1"/>
          </p:cNvSpPr>
          <p:nvPr/>
        </p:nvSpPr>
        <p:spPr>
          <a:xfrm>
            <a:off x="8210550" y="2724150"/>
            <a:ext cx="2914650" cy="1066800"/>
          </a:xfrm>
          <a:prstGeom prst="roundRect">
            <a:avLst>
              <a:gd name="adj" fmla="val 7143"/>
            </a:avLst>
          </a:prstGeom>
          <a:solidFill>
            <a:srgbClr val="F1F6FA"/>
          </a:solidFill>
          <a:ln w="9525">
            <a:solidFill>
              <a:srgbClr val="0070C0"/>
            </a:solidFill>
            <a:prstDash val="solid"/>
          </a:ln>
        </p:spPr>
        <p:txBody>
          <a:bodyPr/>
          <a:lstStyle/>
          <a:p>
            <a:endParaRPr/>
          </a:p>
        </p:txBody>
      </p:sp>
      <p:sp>
        <p:nvSpPr>
          <p:cNvPr id="20" name="矩形 19"/>
          <p:cNvSpPr>
            <a:spLocks noGrp="1"/>
          </p:cNvSpPr>
          <p:nvPr/>
        </p:nvSpPr>
        <p:spPr>
          <a:xfrm>
            <a:off x="8420100" y="2886075"/>
            <a:ext cx="2495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STATE</a:t>
            </a:r>
          </a:p>
        </p:txBody>
      </p:sp>
      <p:sp>
        <p:nvSpPr>
          <p:cNvPr id="21" name="矩形 20"/>
          <p:cNvSpPr>
            <a:spLocks noGrp="1"/>
          </p:cNvSpPr>
          <p:nvPr/>
        </p:nvSpPr>
        <p:spPr>
          <a:xfrm>
            <a:off x="8420100" y="3276600"/>
            <a:ext cx="2495550" cy="3810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idle, uploading, or asking; error is separate.</a:t>
            </a:r>
          </a:p>
        </p:txBody>
      </p:sp>
      <p:sp>
        <p:nvSpPr>
          <p:cNvPr id="22" name="圆角矩形 21"/>
          <p:cNvSpPr>
            <a:spLocks noGrp="1"/>
          </p:cNvSpPr>
          <p:nvPr/>
        </p:nvSpPr>
        <p:spPr>
          <a:xfrm>
            <a:off x="8210550" y="3981450"/>
            <a:ext cx="2914650" cy="1257300"/>
          </a:xfrm>
          <a:prstGeom prst="roundRect">
            <a:avLst>
              <a:gd name="adj" fmla="val 6061"/>
            </a:avLst>
          </a:prstGeom>
          <a:solidFill>
            <a:srgbClr val="EEF7EE"/>
          </a:solidFill>
          <a:ln w="9525">
            <a:solidFill>
              <a:srgbClr val="39825B"/>
            </a:solidFill>
            <a:prstDash val="solid"/>
          </a:ln>
        </p:spPr>
        <p:txBody>
          <a:bodyPr/>
          <a:lstStyle/>
          <a:p>
            <a:endParaRPr/>
          </a:p>
        </p:txBody>
      </p:sp>
      <p:sp>
        <p:nvSpPr>
          <p:cNvPr id="23" name="矩形 22"/>
          <p:cNvSpPr>
            <a:spLocks noGrp="1"/>
          </p:cNvSpPr>
          <p:nvPr/>
        </p:nvSpPr>
        <p:spPr>
          <a:xfrm>
            <a:off x="8420100" y="4143375"/>
            <a:ext cx="2495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UI</a:t>
            </a:r>
          </a:p>
        </p:txBody>
      </p:sp>
      <p:sp>
        <p:nvSpPr>
          <p:cNvPr id="24" name="矩形 23"/>
          <p:cNvSpPr>
            <a:spLocks noGrp="1"/>
          </p:cNvSpPr>
          <p:nvPr/>
        </p:nvSpPr>
        <p:spPr>
          <a:xfrm>
            <a:off x="8420100" y="4533900"/>
            <a:ext cx="2495550" cy="571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Buttons are disabled, waiting appears, an answer is shown, or the next step is explained.</a:t>
            </a:r>
          </a:p>
        </p:txBody>
      </p:sp>
      <p:sp>
        <p:nvSpPr>
          <p:cNvPr id="25" name="矩形 24"/>
          <p:cNvSpPr>
            <a:spLocks noGrp="1"/>
          </p:cNvSpPr>
          <p:nvPr/>
        </p:nvSpPr>
        <p:spPr>
          <a:xfrm>
            <a:off x="800100" y="5238750"/>
            <a:ext cx="7239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State director: one person operates while the other calls out idle → uploading → idle → asking.</a:t>
            </a:r>
          </a:p>
        </p:txBody>
      </p:sp>
      <p:sp>
        <p:nvSpPr>
          <p:cNvPr id="28" name="矩形 27"/>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29" name="圆角矩形 28"/>
          <p:cNvSpPr>
            <a:spLocks noGrp="1"/>
          </p:cNvSpPr>
          <p:nvPr/>
        </p:nvSpPr>
        <p:spPr>
          <a:xfrm>
            <a:off x="781050" y="1428750"/>
            <a:ext cx="1428750" cy="361950"/>
          </a:xfrm>
          <a:prstGeom prst="roundRect">
            <a:avLst>
              <a:gd name="adj" fmla="val 21053"/>
            </a:avLst>
          </a:prstGeom>
          <a:solidFill>
            <a:srgbClr val="FFF4DE"/>
          </a:solidFill>
          <a:ln w="10478">
            <a:solidFill>
              <a:srgbClr val="F59E0B"/>
            </a:solidFill>
            <a:prstDash val="solid"/>
          </a:ln>
        </p:spPr>
        <p:txBody>
          <a:bodyPr lIns="47625" tIns="47625" rIns="47625" bIns="47625" anchor="ctr">
            <a:normAutofit/>
          </a:bodyPr>
          <a:lstStyle/>
          <a:p>
            <a:pPr algn="ctr">
              <a:buNone/>
              <a:defRPr sz="1050" b="1">
                <a:solidFill>
                  <a:srgbClr val="F59E0B"/>
                </a:solidFill>
                <a:latin typeface="Aptos"/>
                <a:ea typeface="Aptos"/>
                <a:cs typeface="Aptos"/>
              </a:defRPr>
            </a:pPr>
            <a:r>
              <a:rPr sz="1050" b="1">
                <a:solidFill>
                  <a:srgbClr val="F59E0B"/>
                </a:solidFill>
                <a:latin typeface="Aptos"/>
                <a:ea typeface="Aptos"/>
                <a:cs typeface="Aptos"/>
              </a:rPr>
              <a:t>Request</a:t>
            </a:r>
          </a:p>
        </p:txBody>
      </p:sp>
      <p:sp>
        <p:nvSpPr>
          <p:cNvPr id="30" name="矩形 29"/>
          <p:cNvSpPr>
            <a:spLocks noGrp="1"/>
          </p:cNvSpPr>
          <p:nvPr/>
        </p:nvSpPr>
        <p:spPr>
          <a:xfrm>
            <a:off x="2238375"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1" name="圆角矩形 30"/>
          <p:cNvSpPr>
            <a:spLocks noGrp="1"/>
          </p:cNvSpPr>
          <p:nvPr/>
        </p:nvSpPr>
        <p:spPr>
          <a:xfrm>
            <a:off x="2466975" y="1428750"/>
            <a:ext cx="1428750" cy="361950"/>
          </a:xfrm>
          <a:prstGeom prst="roundRect">
            <a:avLst>
              <a:gd name="adj" fmla="val 21053"/>
            </a:avLst>
          </a:prstGeom>
          <a:solidFill>
            <a:srgbClr val="E4F7F5"/>
          </a:solidFill>
          <a:ln w="10478">
            <a:solidFill>
              <a:srgbClr val="00A7A0"/>
            </a:solidFill>
            <a:prstDash val="solid"/>
          </a:ln>
        </p:spPr>
        <p:txBody>
          <a:bodyPr lIns="47625" tIns="47625" rIns="47625" bIns="47625" anchor="ctr">
            <a:normAutofit/>
          </a:bodyPr>
          <a:lstStyle/>
          <a:p>
            <a:pPr algn="ctr">
              <a:buNone/>
              <a:defRPr sz="1050" b="1">
                <a:solidFill>
                  <a:srgbClr val="00A7A0"/>
                </a:solidFill>
                <a:latin typeface="Aptos"/>
                <a:ea typeface="Aptos"/>
                <a:cs typeface="Aptos"/>
              </a:defRPr>
            </a:pPr>
            <a:r>
              <a:rPr sz="1050" b="1">
                <a:solidFill>
                  <a:srgbClr val="00A7A0"/>
                </a:solidFill>
                <a:latin typeface="Aptos"/>
                <a:ea typeface="Aptos"/>
                <a:cs typeface="Aptos"/>
              </a:rPr>
              <a:t>Evidence</a:t>
            </a:r>
          </a:p>
        </p:txBody>
      </p:sp>
      <p:sp>
        <p:nvSpPr>
          <p:cNvPr id="32" name="矩形 31"/>
          <p:cNvSpPr>
            <a:spLocks noGrp="1"/>
          </p:cNvSpPr>
          <p:nvPr/>
        </p:nvSpPr>
        <p:spPr>
          <a:xfrm>
            <a:off x="3924300"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3" name="圆角矩形 32"/>
          <p:cNvSpPr>
            <a:spLocks noGrp="1"/>
          </p:cNvSpPr>
          <p:nvPr/>
        </p:nvSpPr>
        <p:spPr>
          <a:xfrm>
            <a:off x="4152900" y="1428750"/>
            <a:ext cx="1428750" cy="361950"/>
          </a:xfrm>
          <a:prstGeom prst="roundRect">
            <a:avLst>
              <a:gd name="adj" fmla="val 21053"/>
            </a:avLst>
          </a:prstGeom>
          <a:solidFill>
            <a:srgbClr val="7557C8"/>
          </a:solidFill>
          <a:ln w="10478">
            <a:solidFill>
              <a:srgbClr val="7557C8"/>
            </a:solidFill>
            <a:prstDash val="solid"/>
          </a:ln>
        </p:spPr>
        <p:txBody>
          <a:bodyPr lIns="47625" tIns="47625" rIns="47625" bIns="47625" anchor="ctr">
            <a:normAutofit/>
          </a:bodyPr>
          <a:lstStyle/>
          <a:p>
            <a:pPr algn="ctr">
              <a:buNone/>
              <a:defRPr sz="1050" b="1">
                <a:solidFill>
                  <a:srgbClr val="FFFFFF"/>
                </a:solidFill>
                <a:latin typeface="Aptos"/>
                <a:ea typeface="Aptos"/>
                <a:cs typeface="Aptos"/>
              </a:defRPr>
            </a:pPr>
            <a:r>
              <a:rPr sz="1050" b="1">
                <a:solidFill>
                  <a:srgbClr val="FFFFFF"/>
                </a:solidFill>
                <a:latin typeface="Aptos"/>
                <a:ea typeface="Aptos"/>
                <a:cs typeface="Aptos"/>
              </a:rPr>
              <a:t>React state</a:t>
            </a:r>
          </a:p>
        </p:txBody>
      </p:sp>
      <p:sp>
        <p:nvSpPr>
          <p:cNvPr id="34" name="矩形 33"/>
          <p:cNvSpPr>
            <a:spLocks noGrp="1"/>
          </p:cNvSpPr>
          <p:nvPr/>
        </p:nvSpPr>
        <p:spPr>
          <a:xfrm>
            <a:off x="5610225"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5" name="圆角矩形 34"/>
          <p:cNvSpPr>
            <a:spLocks noGrp="1"/>
          </p:cNvSpPr>
          <p:nvPr/>
        </p:nvSpPr>
        <p:spPr>
          <a:xfrm>
            <a:off x="5838825" y="1428750"/>
            <a:ext cx="1428750" cy="361950"/>
          </a:xfrm>
          <a:prstGeom prst="roundRect">
            <a:avLst>
              <a:gd name="adj" fmla="val 21053"/>
            </a:avLst>
          </a:prstGeom>
          <a:solidFill>
            <a:srgbClr val="EAF5EE"/>
          </a:solidFill>
          <a:ln w="10478">
            <a:solidFill>
              <a:srgbClr val="3A8B61"/>
            </a:solidFill>
            <a:prstDash val="solid"/>
          </a:ln>
        </p:spPr>
        <p:txBody>
          <a:bodyPr lIns="47625" tIns="47625" rIns="47625" bIns="47625" anchor="ctr">
            <a:normAutofit/>
          </a:bodyPr>
          <a:lstStyle/>
          <a:p>
            <a:pPr algn="ctr">
              <a:buNone/>
              <a:defRPr sz="1050" b="1">
                <a:solidFill>
                  <a:srgbClr val="3A8B61"/>
                </a:solidFill>
                <a:latin typeface="Aptos"/>
                <a:ea typeface="Aptos"/>
                <a:cs typeface="Aptos"/>
              </a:defRPr>
            </a:pPr>
            <a:r>
              <a:rPr sz="1050" b="1">
                <a:solidFill>
                  <a:srgbClr val="3A8B61"/>
                </a:solidFill>
                <a:latin typeface="Aptos"/>
                <a:ea typeface="Aptos"/>
                <a:cs typeface="Aptos"/>
              </a:rPr>
              <a:t>Delivery</a:t>
            </a:r>
          </a:p>
        </p:txBody>
      </p:sp>
      <p:sp>
        <p:nvSpPr>
          <p:cNvPr id="36" name="圆角矩形 35"/>
          <p:cNvSpPr>
            <a:spLocks noGrp="1"/>
          </p:cNvSpPr>
          <p:nvPr/>
        </p:nvSpPr>
        <p:spPr>
          <a:xfrm>
            <a:off x="781050" y="2476500"/>
            <a:ext cx="1714500" cy="1428750"/>
          </a:xfrm>
          <a:prstGeom prst="roundRect">
            <a:avLst>
              <a:gd name="adj" fmla="val 5333"/>
            </a:avLst>
          </a:prstGeom>
          <a:solidFill>
            <a:srgbClr val="FFF4DE"/>
          </a:solidFill>
          <a:ln w="11430">
            <a:solidFill>
              <a:srgbClr val="F59E0B"/>
            </a:solidFill>
            <a:prstDash val="solid"/>
          </a:ln>
        </p:spPr>
        <p:txBody>
          <a:bodyPr/>
          <a:lstStyle/>
          <a:p>
            <a:endParaRPr lang="zh-CN" altLang="en-US"/>
          </a:p>
        </p:txBody>
      </p:sp>
      <p:sp>
        <p:nvSpPr>
          <p:cNvPr id="37" name="矩形 36"/>
          <p:cNvSpPr>
            <a:spLocks noGrp="1"/>
          </p:cNvSpPr>
          <p:nvPr/>
        </p:nvSpPr>
        <p:spPr>
          <a:xfrm>
            <a:off x="895350" y="2686050"/>
            <a:ext cx="14859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59E0B"/>
                </a:solidFill>
                <a:latin typeface="Aptos"/>
                <a:ea typeface="Aptos"/>
                <a:cs typeface="Aptos"/>
              </a:defRPr>
            </a:pPr>
            <a:r>
              <a:rPr sz="1500" b="1">
                <a:solidFill>
                  <a:srgbClr val="F59E0B"/>
                </a:solidFill>
                <a:latin typeface="Aptos"/>
                <a:ea typeface="Aptos"/>
                <a:cs typeface="Aptos"/>
              </a:rPr>
              <a:t>Event</a:t>
            </a:r>
          </a:p>
        </p:txBody>
      </p:sp>
      <p:sp>
        <p:nvSpPr>
          <p:cNvPr id="38" name="矩形 37"/>
          <p:cNvSpPr>
            <a:spLocks noGrp="1"/>
          </p:cNvSpPr>
          <p:nvPr/>
        </p:nvSpPr>
        <p:spPr>
          <a:xfrm>
            <a:off x="895350" y="3181350"/>
            <a:ext cx="148590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select · upload · ask</a:t>
            </a:r>
          </a:p>
        </p:txBody>
      </p:sp>
      <p:sp>
        <p:nvSpPr>
          <p:cNvPr id="39" name="右箭头 38"/>
          <p:cNvSpPr>
            <a:spLocks noGrp="1"/>
          </p:cNvSpPr>
          <p:nvPr/>
        </p:nvSpPr>
        <p:spPr>
          <a:xfrm>
            <a:off x="2533650" y="30670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0" name="圆角矩形 39"/>
          <p:cNvSpPr>
            <a:spLocks noGrp="1"/>
          </p:cNvSpPr>
          <p:nvPr/>
        </p:nvSpPr>
        <p:spPr>
          <a:xfrm>
            <a:off x="2857500" y="2476500"/>
            <a:ext cx="1524000" cy="1428750"/>
          </a:xfrm>
          <a:prstGeom prst="roundRect">
            <a:avLst>
              <a:gd name="adj" fmla="val 5333"/>
            </a:avLst>
          </a:prstGeom>
          <a:solidFill>
            <a:srgbClr val="F4F7FA"/>
          </a:solidFill>
          <a:ln w="11430">
            <a:solidFill>
              <a:srgbClr val="123F6D"/>
            </a:solidFill>
            <a:prstDash val="solid"/>
          </a:ln>
        </p:spPr>
        <p:txBody>
          <a:bodyPr/>
          <a:lstStyle/>
          <a:p>
            <a:endParaRPr lang="zh-CN" altLang="en-US"/>
          </a:p>
        </p:txBody>
      </p:sp>
      <p:sp>
        <p:nvSpPr>
          <p:cNvPr id="41" name="矩形 40"/>
          <p:cNvSpPr>
            <a:spLocks noGrp="1"/>
          </p:cNvSpPr>
          <p:nvPr/>
        </p:nvSpPr>
        <p:spPr>
          <a:xfrm>
            <a:off x="2971800" y="2686050"/>
            <a:ext cx="12954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fetch</a:t>
            </a:r>
          </a:p>
        </p:txBody>
      </p:sp>
      <p:sp>
        <p:nvSpPr>
          <p:cNvPr id="42" name="矩形 41"/>
          <p:cNvSpPr>
            <a:spLocks noGrp="1"/>
          </p:cNvSpPr>
          <p:nvPr/>
        </p:nvSpPr>
        <p:spPr>
          <a:xfrm>
            <a:off x="2971800" y="3181350"/>
            <a:ext cx="129540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send contract</a:t>
            </a:r>
          </a:p>
        </p:txBody>
      </p:sp>
      <p:sp>
        <p:nvSpPr>
          <p:cNvPr id="43" name="右箭头 42"/>
          <p:cNvSpPr>
            <a:spLocks noGrp="1"/>
          </p:cNvSpPr>
          <p:nvPr/>
        </p:nvSpPr>
        <p:spPr>
          <a:xfrm>
            <a:off x="4419600" y="30670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4" name="圆角矩形 43"/>
          <p:cNvSpPr>
            <a:spLocks noGrp="1"/>
          </p:cNvSpPr>
          <p:nvPr/>
        </p:nvSpPr>
        <p:spPr>
          <a:xfrm>
            <a:off x="4743450" y="2476500"/>
            <a:ext cx="1905000" cy="1428750"/>
          </a:xfrm>
          <a:prstGeom prst="roundRect">
            <a:avLst>
              <a:gd name="adj" fmla="val 5333"/>
            </a:avLst>
          </a:prstGeom>
          <a:solidFill>
            <a:srgbClr val="E4F7F5"/>
          </a:solidFill>
          <a:ln w="11430">
            <a:solidFill>
              <a:srgbClr val="00A7A0"/>
            </a:solidFill>
            <a:prstDash val="solid"/>
          </a:ln>
        </p:spPr>
        <p:txBody>
          <a:bodyPr/>
          <a:lstStyle/>
          <a:p>
            <a:endParaRPr lang="zh-CN" altLang="en-US"/>
          </a:p>
        </p:txBody>
      </p:sp>
      <p:sp>
        <p:nvSpPr>
          <p:cNvPr id="45" name="矩形 44"/>
          <p:cNvSpPr>
            <a:spLocks noGrp="1"/>
          </p:cNvSpPr>
          <p:nvPr/>
        </p:nvSpPr>
        <p:spPr>
          <a:xfrm>
            <a:off x="4857750" y="2686050"/>
            <a:ext cx="16764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00A7A0"/>
                </a:solidFill>
                <a:latin typeface="Aptos"/>
                <a:ea typeface="Aptos"/>
                <a:cs typeface="Aptos"/>
              </a:defRPr>
            </a:pPr>
            <a:r>
              <a:rPr sz="1500" b="1">
                <a:solidFill>
                  <a:srgbClr val="00A7A0"/>
                </a:solidFill>
                <a:latin typeface="Aptos"/>
                <a:ea typeface="Aptos"/>
                <a:cs typeface="Aptos"/>
              </a:rPr>
              <a:t>API response</a:t>
            </a:r>
          </a:p>
        </p:txBody>
      </p:sp>
      <p:sp>
        <p:nvSpPr>
          <p:cNvPr id="46" name="矩形 45"/>
          <p:cNvSpPr>
            <a:spLocks noGrp="1"/>
          </p:cNvSpPr>
          <p:nvPr/>
        </p:nvSpPr>
        <p:spPr>
          <a:xfrm>
            <a:off x="4857750" y="3181350"/>
            <a:ext cx="167640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result or error</a:t>
            </a:r>
          </a:p>
        </p:txBody>
      </p:sp>
      <p:sp>
        <p:nvSpPr>
          <p:cNvPr id="47" name="右箭头 46"/>
          <p:cNvSpPr>
            <a:spLocks noGrp="1"/>
          </p:cNvSpPr>
          <p:nvPr/>
        </p:nvSpPr>
        <p:spPr>
          <a:xfrm>
            <a:off x="6686550" y="30670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8" name="圆角矩形 47"/>
          <p:cNvSpPr>
            <a:spLocks noGrp="1"/>
          </p:cNvSpPr>
          <p:nvPr/>
        </p:nvSpPr>
        <p:spPr>
          <a:xfrm>
            <a:off x="7010400" y="2476500"/>
            <a:ext cx="1714500" cy="1428750"/>
          </a:xfrm>
          <a:prstGeom prst="roundRect">
            <a:avLst>
              <a:gd name="adj" fmla="val 5333"/>
            </a:avLst>
          </a:prstGeom>
          <a:solidFill>
            <a:srgbClr val="F1ECFF"/>
          </a:solidFill>
          <a:ln w="11430">
            <a:solidFill>
              <a:srgbClr val="7557C8"/>
            </a:solidFill>
            <a:prstDash val="solid"/>
          </a:ln>
        </p:spPr>
        <p:txBody>
          <a:bodyPr/>
          <a:lstStyle/>
          <a:p>
            <a:endParaRPr lang="zh-CN" altLang="en-US"/>
          </a:p>
        </p:txBody>
      </p:sp>
      <p:sp>
        <p:nvSpPr>
          <p:cNvPr id="49" name="矩形 48"/>
          <p:cNvSpPr>
            <a:spLocks noGrp="1"/>
          </p:cNvSpPr>
          <p:nvPr/>
        </p:nvSpPr>
        <p:spPr>
          <a:xfrm>
            <a:off x="7124700" y="2686050"/>
            <a:ext cx="148590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7557C8"/>
                </a:solidFill>
                <a:latin typeface="Aptos"/>
                <a:ea typeface="Aptos"/>
                <a:cs typeface="Aptos"/>
              </a:defRPr>
            </a:pPr>
            <a:r>
              <a:rPr sz="1500" b="1">
                <a:solidFill>
                  <a:srgbClr val="7557C8"/>
                </a:solidFill>
                <a:latin typeface="Aptos"/>
                <a:ea typeface="Aptos"/>
                <a:cs typeface="Aptos"/>
              </a:rPr>
              <a:t>setState</a:t>
            </a:r>
          </a:p>
        </p:txBody>
      </p:sp>
      <p:sp>
        <p:nvSpPr>
          <p:cNvPr id="50" name="矩形 49"/>
          <p:cNvSpPr>
            <a:spLocks noGrp="1"/>
          </p:cNvSpPr>
          <p:nvPr/>
        </p:nvSpPr>
        <p:spPr>
          <a:xfrm>
            <a:off x="7124700" y="3181350"/>
            <a:ext cx="148590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store the change</a:t>
            </a:r>
          </a:p>
        </p:txBody>
      </p:sp>
      <p:sp>
        <p:nvSpPr>
          <p:cNvPr id="51" name="右箭头 50"/>
          <p:cNvSpPr>
            <a:spLocks noGrp="1"/>
          </p:cNvSpPr>
          <p:nvPr/>
        </p:nvSpPr>
        <p:spPr>
          <a:xfrm>
            <a:off x="8763000" y="30670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52" name="圆角矩形 51"/>
          <p:cNvSpPr>
            <a:spLocks noGrp="1"/>
          </p:cNvSpPr>
          <p:nvPr/>
        </p:nvSpPr>
        <p:spPr>
          <a:xfrm>
            <a:off x="9086850" y="2476500"/>
            <a:ext cx="1952625" cy="1428750"/>
          </a:xfrm>
          <a:prstGeom prst="roundRect">
            <a:avLst>
              <a:gd name="adj" fmla="val 5333"/>
            </a:avLst>
          </a:prstGeom>
          <a:solidFill>
            <a:srgbClr val="EAF5EE"/>
          </a:solidFill>
          <a:ln w="11430">
            <a:solidFill>
              <a:srgbClr val="3A8B61"/>
            </a:solidFill>
            <a:prstDash val="solid"/>
          </a:ln>
        </p:spPr>
        <p:txBody>
          <a:bodyPr/>
          <a:lstStyle/>
          <a:p>
            <a:endParaRPr lang="zh-CN" altLang="en-US"/>
          </a:p>
        </p:txBody>
      </p:sp>
      <p:sp>
        <p:nvSpPr>
          <p:cNvPr id="53" name="矩形 52"/>
          <p:cNvSpPr>
            <a:spLocks noGrp="1"/>
          </p:cNvSpPr>
          <p:nvPr/>
        </p:nvSpPr>
        <p:spPr>
          <a:xfrm>
            <a:off x="9201150" y="2686050"/>
            <a:ext cx="1724025"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3A8B61"/>
                </a:solidFill>
                <a:latin typeface="Aptos"/>
                <a:ea typeface="Aptos"/>
                <a:cs typeface="Aptos"/>
              </a:defRPr>
            </a:pPr>
            <a:r>
              <a:rPr sz="1500" b="1">
                <a:solidFill>
                  <a:srgbClr val="3A8B61"/>
                </a:solidFill>
                <a:latin typeface="Aptos"/>
                <a:ea typeface="Aptos"/>
                <a:cs typeface="Aptos"/>
              </a:rPr>
              <a:t>UI</a:t>
            </a:r>
          </a:p>
        </p:txBody>
      </p:sp>
      <p:sp>
        <p:nvSpPr>
          <p:cNvPr id="54" name="矩形 53"/>
          <p:cNvSpPr>
            <a:spLocks noGrp="1"/>
          </p:cNvSpPr>
          <p:nvPr/>
        </p:nvSpPr>
        <p:spPr>
          <a:xfrm>
            <a:off x="9201150" y="3181350"/>
            <a:ext cx="1724025"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00" b="0">
                <a:solidFill>
                  <a:srgbClr val="123F6D"/>
                </a:solidFill>
                <a:latin typeface="Aptos"/>
                <a:ea typeface="Aptos"/>
                <a:cs typeface="Aptos"/>
              </a:defRPr>
            </a:pPr>
            <a:r>
              <a:rPr sz="1200" b="0">
                <a:solidFill>
                  <a:srgbClr val="123F6D"/>
                </a:solidFill>
                <a:latin typeface="Aptos"/>
                <a:ea typeface="Aptos"/>
                <a:cs typeface="Aptos"/>
              </a:rPr>
              <a:t>waiting · answer · pages</a:t>
            </a:r>
          </a:p>
        </p:txBody>
      </p:sp>
      <p:sp>
        <p:nvSpPr>
          <p:cNvPr id="55" name="圆角矩形 54"/>
          <p:cNvSpPr>
            <a:spLocks noGrp="1"/>
          </p:cNvSpPr>
          <p:nvPr/>
        </p:nvSpPr>
        <p:spPr>
          <a:xfrm>
            <a:off x="1638300" y="4343400"/>
            <a:ext cx="8915400" cy="571500"/>
          </a:xfrm>
          <a:prstGeom prst="roundRect">
            <a:avLst>
              <a:gd name="adj" fmla="val 13333"/>
            </a:avLst>
          </a:prstGeom>
          <a:solidFill>
            <a:srgbClr val="F1ECFF"/>
          </a:solidFill>
          <a:ln w="10478">
            <a:solidFill>
              <a:srgbClr val="7557C8"/>
            </a:solidFill>
            <a:prstDash val="solid"/>
          </a:ln>
        </p:spPr>
        <p:txBody>
          <a:bodyPr lIns="76200" tIns="76200" rIns="76200" bIns="76200" anchor="ctr">
            <a:normAutofit/>
          </a:bodyPr>
          <a:lstStyle/>
          <a:p>
            <a:pPr algn="ctr">
              <a:buNone/>
              <a:defRPr sz="1650" b="1">
                <a:solidFill>
                  <a:srgbClr val="7557C8"/>
                </a:solidFill>
                <a:latin typeface="Aptos"/>
                <a:ea typeface="Aptos"/>
                <a:cs typeface="Aptos"/>
              </a:defRPr>
            </a:pPr>
            <a:r>
              <a:rPr sz="1650" b="1">
                <a:solidFill>
                  <a:srgbClr val="7557C8"/>
                </a:solidFill>
                <a:latin typeface="Aptos"/>
                <a:ea typeface="Aptos"/>
                <a:cs typeface="Aptos"/>
              </a:rPr>
              <a:t>React follows the API contract; it does not invent a second one.</a:t>
            </a:r>
          </a:p>
        </p:txBody>
      </p:sp>
      <p:sp>
        <p:nvSpPr>
          <p:cNvPr id="56" name="矩形 55"/>
          <p:cNvSpPr>
            <a:spLocks noGrp="1"/>
          </p:cNvSpPr>
          <p:nvPr/>
        </p:nvSpPr>
        <p:spPr>
          <a:xfrm>
            <a:off x="781050" y="5219700"/>
            <a:ext cx="1045845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3A8B61"/>
                </a:solidFill>
                <a:latin typeface="Aptos"/>
                <a:ea typeface="Aptos"/>
                <a:cs typeface="Aptos"/>
              </a:defRPr>
            </a:pPr>
            <a:r>
              <a:rPr sz="1350" b="1">
                <a:solidFill>
                  <a:srgbClr val="3A8B61"/>
                </a:solidFill>
                <a:latin typeface="Aptos"/>
                <a:ea typeface="Aptos"/>
                <a:cs typeface="Aptos"/>
              </a:rPr>
              <a:t>Busy? Disable both buttons.  New action? Clear the old result first.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矩形 37"/>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REACT + VITE</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Vite: create a minimal React UI from scratch</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25</a:t>
            </a:r>
          </a:p>
        </p:txBody>
      </p:sp>
      <p:sp>
        <p:nvSpPr>
          <p:cNvPr id="14" name="圆角矩形 13"/>
          <p:cNvSpPr>
            <a:spLocks noGrp="1"/>
          </p:cNvSpPr>
          <p:nvPr/>
        </p:nvSpPr>
        <p:spPr>
          <a:xfrm>
            <a:off x="685800" y="1409700"/>
            <a:ext cx="5905500" cy="2305050"/>
          </a:xfrm>
          <a:prstGeom prst="roundRect">
            <a:avLst>
              <a:gd name="adj" fmla="val 3306"/>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562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AFTERNOON TERMINAL B · START AT THE CLONED REPO ROOT</a:t>
            </a:r>
          </a:p>
        </p:txBody>
      </p:sp>
      <p:sp>
        <p:nvSpPr>
          <p:cNvPr id="16" name="矩形 15"/>
          <p:cNvSpPr>
            <a:spLocks noGrp="1"/>
          </p:cNvSpPr>
          <p:nvPr/>
        </p:nvSpPr>
        <p:spPr>
          <a:xfrm>
            <a:off x="857250" y="1809750"/>
            <a:ext cx="5562600" cy="1790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F1F6FA"/>
                </a:solidFill>
                <a:latin typeface="Monaco"/>
                <a:ea typeface="Monaco"/>
                <a:cs typeface="Monaco"/>
              </a:defRPr>
            </a:pPr>
            <a:r>
              <a:rPr sz="1200" b="0">
                <a:solidFill>
                  <a:srgbClr val="70D6E8"/>
                </a:solidFill>
                <a:latin typeface="Monaco"/>
                <a:ea typeface="Monaco"/>
                <a:cs typeface="Monaco"/>
              </a:rPr>
              <a:t>cd</a:t>
            </a:r>
            <a:r>
              <a:rPr sz="1200" b="0">
                <a:solidFill>
                  <a:srgbClr val="F1F6FA"/>
                </a:solidFill>
                <a:latin typeface="Monaco"/>
                <a:ea typeface="Monaco"/>
                <a:cs typeface="Monaco"/>
              </a:rPr>
              <a:t> smartLearn-AI</a:t>
            </a:r>
          </a:p>
          <a:p>
            <a:pPr algn="l">
              <a:buNone/>
              <a:defRPr sz="1200" b="0">
                <a:solidFill>
                  <a:srgbClr val="F1F6FA"/>
                </a:solidFill>
                <a:latin typeface="Monaco"/>
                <a:ea typeface="Monaco"/>
                <a:cs typeface="Monaco"/>
              </a:defRPr>
            </a:pPr>
            <a:r>
              <a:rPr sz="1200" b="0">
                <a:solidFill>
                  <a:srgbClr val="70D6E8"/>
                </a:solidFill>
                <a:latin typeface="Monaco"/>
                <a:ea typeface="Monaco"/>
                <a:cs typeface="Monaco"/>
              </a:rPr>
              <a:t>claude</a:t>
            </a:r>
            <a:r>
              <a:rPr sz="1200" b="0">
                <a:solidFill>
                  <a:srgbClr val="F1F6FA"/>
                </a:solidFill>
                <a:latin typeface="Monaco"/>
                <a:ea typeface="Monaco"/>
                <a:cs typeface="Monaco"/>
              </a:rPr>
              <a:t> "Create minimal Vite files in smartlearn-frontend/;</a:t>
            </a:r>
          </a:p>
          <a:p>
            <a:pPr algn="l">
              <a:buNone/>
              <a:defRPr sz="1200" b="0">
                <a:solidFill>
                  <a:srgbClr val="F1F6FA"/>
                </a:solidFill>
                <a:latin typeface="Monaco"/>
                <a:ea typeface="Monaco"/>
                <a:cs typeface="Monaco"/>
              </a:defRPr>
            </a:pPr>
            <a:r>
              <a:rPr sz="1200" b="0">
                <a:solidFill>
                  <a:srgbClr val="F1F6FA"/>
                </a:solidFill>
                <a:latin typeface="Monaco"/>
                <a:ea typeface="Monaco"/>
                <a:cs typeface="Monaco"/>
              </a:rPr>
              <a:t> show a bounded diff; use no scaffold generator."</a:t>
            </a:r>
          </a:p>
          <a:p>
            <a:pPr algn="l">
              <a:buNone/>
              <a:defRPr sz="1200" b="0">
                <a:solidFill>
                  <a:srgbClr val="F1F6FA"/>
                </a:solidFill>
                <a:latin typeface="Monaco"/>
                <a:ea typeface="Monaco"/>
                <a:cs typeface="Monaco"/>
              </a:defRPr>
            </a:pPr>
            <a:r>
              <a:rPr sz="1200" b="0">
                <a:solidFill>
                  <a:srgbClr val="70D6E8"/>
                </a:solidFill>
                <a:latin typeface="Monaco"/>
                <a:ea typeface="Monaco"/>
                <a:cs typeface="Monaco"/>
              </a:rPr>
              <a:t>npm</a:t>
            </a:r>
            <a:r>
              <a:rPr sz="1200" b="0">
                <a:solidFill>
                  <a:srgbClr val="F1F6FA"/>
                </a:solidFill>
                <a:latin typeface="Monaco"/>
                <a:ea typeface="Monaco"/>
                <a:cs typeface="Monaco"/>
              </a:rPr>
              <a:t> --prefix smartlearn-frontend install</a:t>
            </a:r>
          </a:p>
          <a:p>
            <a:endParaRPr sz="1200"/>
          </a:p>
          <a:p>
            <a:pPr algn="l">
              <a:buNone/>
              <a:defRPr sz="1200" b="0">
                <a:solidFill>
                  <a:srgbClr val="F1F6FA"/>
                </a:solidFill>
                <a:latin typeface="Monaco"/>
                <a:ea typeface="Monaco"/>
                <a:cs typeface="Monaco"/>
              </a:defRPr>
            </a:pPr>
            <a:r>
              <a:rPr sz="1200" b="0">
                <a:solidFill>
                  <a:srgbClr val="7893A6"/>
                </a:solidFill>
                <a:latin typeface="Monaco"/>
                <a:ea typeface="Monaco"/>
                <a:cs typeface="Monaco"/>
              </a:rPr>
              <a:t>npm --prefix smartlearn-frontend run dev</a:t>
            </a:r>
          </a:p>
          <a:p>
            <a:pPr algn="l">
              <a:buNone/>
              <a:defRPr sz="1200" b="0">
                <a:solidFill>
                  <a:srgbClr val="F1F6FA"/>
                </a:solidFill>
                <a:latin typeface="Monaco"/>
                <a:ea typeface="Monaco"/>
                <a:cs typeface="Monaco"/>
              </a:defRPr>
            </a:pPr>
            <a:r>
              <a:rPr sz="1200" b="0">
                <a:solidFill>
                  <a:srgbClr val="7893A6"/>
                </a:solidFill>
                <a:latin typeface="Monaco"/>
                <a:ea typeface="Monaco"/>
                <a:cs typeface="Monaco"/>
              </a:rPr>
              <a:t># Open Vite; keep backend /health at 200</a:t>
            </a:r>
          </a:p>
        </p:txBody>
      </p:sp>
      <p:sp>
        <p:nvSpPr>
          <p:cNvPr id="17" name="圆角矩形 16"/>
          <p:cNvSpPr>
            <a:spLocks noGrp="1"/>
          </p:cNvSpPr>
          <p:nvPr/>
        </p:nvSpPr>
        <p:spPr>
          <a:xfrm>
            <a:off x="685800" y="3943350"/>
            <a:ext cx="5905500" cy="1104900"/>
          </a:xfrm>
          <a:prstGeom prst="roundRect">
            <a:avLst>
              <a:gd name="adj" fmla="val 6897"/>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857250" y="4076700"/>
            <a:ext cx="5562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REACT FILES USED ACROSS LAB B</a:t>
            </a:r>
          </a:p>
        </p:txBody>
      </p:sp>
      <p:sp>
        <p:nvSpPr>
          <p:cNvPr id="19" name="矩形 18"/>
          <p:cNvSpPr>
            <a:spLocks noGrp="1"/>
          </p:cNvSpPr>
          <p:nvPr/>
        </p:nvSpPr>
        <p:spPr>
          <a:xfrm>
            <a:off x="857250" y="4343400"/>
            <a:ext cx="5562600" cy="590550"/>
          </a:xfrm>
          <a:prstGeom prst="rect">
            <a:avLst/>
          </a:prstGeom>
          <a:solidFill>
            <a:srgbClr val="FFFFFF">
              <a:alpha val="0"/>
            </a:srgbClr>
          </a:solidFill>
          <a:ln w="0">
            <a:solidFill>
              <a:srgbClr val="000000">
                <a:alpha val="0"/>
              </a:srgbClr>
            </a:solidFill>
            <a:prstDash val="solid"/>
          </a:ln>
        </p:spPr>
        <p:txBody>
          <a:bodyPr lIns="171450" tIns="152400" rIns="171450" bIns="133350" anchor="t">
            <a:normAutofit fontScale="53305"/>
          </a:bodyPr>
          <a:lstStyle/>
          <a:p>
            <a:pPr algn="l">
              <a:buNone/>
              <a:defRPr sz="1275" b="0">
                <a:solidFill>
                  <a:srgbClr val="F1F6FA"/>
                </a:solidFill>
                <a:latin typeface="Monaco"/>
                <a:ea typeface="Monaco"/>
                <a:cs typeface="Monaco"/>
              </a:defRPr>
            </a:pPr>
            <a:r>
              <a:rPr sz="940" b="0">
                <a:solidFill>
                  <a:srgbClr val="F4F8FB"/>
                </a:solidFill>
                <a:latin typeface="Consolas"/>
                <a:ea typeface="Consolas"/>
                <a:cs typeface="Consolas"/>
              </a:rPr>
              <a:t>smartlearn-frontend/</a:t>
            </a:r>
          </a:p>
          <a:p>
            <a:pPr algn="l">
              <a:buNone/>
              <a:defRPr sz="1275" b="0">
                <a:solidFill>
                  <a:srgbClr val="F1F6FA"/>
                </a:solidFill>
                <a:latin typeface="Monaco"/>
                <a:ea typeface="Monaco"/>
                <a:cs typeface="Monaco"/>
              </a:defRPr>
            </a:pPr>
            <a:r>
              <a:rPr sz="940" b="0">
                <a:solidFill>
                  <a:srgbClr val="F4F8FB"/>
                </a:solidFill>
                <a:latin typeface="Consolas"/>
                <a:ea typeface="Consolas"/>
                <a:cs typeface="Consolas"/>
              </a:rPr>
              <a:t>├── package.json</a:t>
            </a:r>
          </a:p>
          <a:p>
            <a:pPr algn="l">
              <a:buNone/>
              <a:defRPr sz="1275" b="0">
                <a:solidFill>
                  <a:srgbClr val="F1F6FA"/>
                </a:solidFill>
                <a:latin typeface="Monaco"/>
                <a:ea typeface="Monaco"/>
                <a:cs typeface="Monaco"/>
              </a:defRPr>
            </a:pPr>
            <a:r>
              <a:rPr sz="940" b="0">
                <a:solidFill>
                  <a:srgbClr val="F4F8FB"/>
                </a:solidFill>
                <a:latin typeface="Consolas"/>
                <a:ea typeface="Consolas"/>
                <a:cs typeface="Consolas"/>
              </a:rPr>
              <a:t>├── src/App.jsx   # six states + UI</a:t>
            </a:r>
          </a:p>
          <a:p>
            <a:pPr algn="l">
              <a:buNone/>
              <a:defRPr sz="1275" b="0">
                <a:solidFill>
                  <a:srgbClr val="F1F6FA"/>
                </a:solidFill>
                <a:latin typeface="Monaco"/>
                <a:ea typeface="Monaco"/>
                <a:cs typeface="Monaco"/>
              </a:defRPr>
            </a:pPr>
            <a:r>
              <a:rPr sz="940" b="0">
                <a:solidFill>
                  <a:srgbClr val="F4F8FB"/>
                </a:solidFill>
                <a:latin typeface="Consolas"/>
                <a:ea typeface="Consolas"/>
                <a:cs typeface="Consolas"/>
              </a:rPr>
              <a:t>└── src/api.js    # added in 2.5; browser fetch</a:t>
            </a:r>
          </a:p>
        </p:txBody>
      </p:sp>
      <p:sp>
        <p:nvSpPr>
          <p:cNvPr id="20" name="圆角矩形 19"/>
          <p:cNvSpPr>
            <a:spLocks noGrp="1"/>
          </p:cNvSpPr>
          <p:nvPr/>
        </p:nvSpPr>
        <p:spPr>
          <a:xfrm>
            <a:off x="6972300" y="1409700"/>
            <a:ext cx="4057650" cy="1028700"/>
          </a:xfrm>
          <a:prstGeom prst="roundRect">
            <a:avLst>
              <a:gd name="adj" fmla="val 7407"/>
            </a:avLst>
          </a:prstGeom>
          <a:solidFill>
            <a:srgbClr val="F1F6FA"/>
          </a:solidFill>
          <a:ln w="9525">
            <a:solidFill>
              <a:srgbClr val="1F5284"/>
            </a:solidFill>
            <a:prstDash val="solid"/>
          </a:ln>
        </p:spPr>
        <p:txBody>
          <a:bodyPr/>
          <a:lstStyle/>
          <a:p>
            <a:endParaRPr/>
          </a:p>
        </p:txBody>
      </p:sp>
      <p:sp>
        <p:nvSpPr>
          <p:cNvPr id="21" name="矩形 20"/>
          <p:cNvSpPr>
            <a:spLocks noGrp="1"/>
          </p:cNvSpPr>
          <p:nvPr/>
        </p:nvSpPr>
        <p:spPr>
          <a:xfrm>
            <a:off x="7181850" y="1571625"/>
            <a:ext cx="3638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six states</a:t>
            </a:r>
          </a:p>
        </p:txBody>
      </p:sp>
      <p:sp>
        <p:nvSpPr>
          <p:cNvPr id="22" name="矩形 21"/>
          <p:cNvSpPr>
            <a:spLocks noGrp="1"/>
          </p:cNvSpPr>
          <p:nvPr/>
        </p:nvSpPr>
        <p:spPr>
          <a:xfrm>
            <a:off x="7181850" y="1962150"/>
            <a:ext cx="36385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App.jsx owns file, upload, message, answer, status, and error.</a:t>
            </a:r>
          </a:p>
        </p:txBody>
      </p:sp>
      <p:sp>
        <p:nvSpPr>
          <p:cNvPr id="23" name="圆角矩形 22"/>
          <p:cNvSpPr>
            <a:spLocks noGrp="1"/>
          </p:cNvSpPr>
          <p:nvPr/>
        </p:nvSpPr>
        <p:spPr>
          <a:xfrm>
            <a:off x="6972300" y="2667000"/>
            <a:ext cx="4057650" cy="1028700"/>
          </a:xfrm>
          <a:prstGeom prst="roundRect">
            <a:avLst>
              <a:gd name="adj" fmla="val 7407"/>
            </a:avLst>
          </a:prstGeom>
          <a:solidFill>
            <a:srgbClr val="F1F6FA"/>
          </a:solidFill>
          <a:ln w="9525">
            <a:solidFill>
              <a:srgbClr val="0070C0"/>
            </a:solidFill>
            <a:prstDash val="solid"/>
          </a:ln>
        </p:spPr>
        <p:txBody>
          <a:bodyPr/>
          <a:lstStyle/>
          <a:p>
            <a:endParaRPr/>
          </a:p>
        </p:txBody>
      </p:sp>
      <p:sp>
        <p:nvSpPr>
          <p:cNvPr id="24" name="矩形 23"/>
          <p:cNvSpPr>
            <a:spLocks noGrp="1"/>
          </p:cNvSpPr>
          <p:nvPr/>
        </p:nvSpPr>
        <p:spPr>
          <a:xfrm>
            <a:off x="7181850" y="2828925"/>
            <a:ext cx="363855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RUN BOTH SERVICES AT THE SAME TIME</a:t>
            </a:r>
          </a:p>
        </p:txBody>
      </p:sp>
      <p:sp>
        <p:nvSpPr>
          <p:cNvPr id="25" name="矩形 24"/>
          <p:cNvSpPr>
            <a:spLocks noGrp="1"/>
          </p:cNvSpPr>
          <p:nvPr/>
        </p:nvSpPr>
        <p:spPr>
          <a:xfrm>
            <a:off x="7181850" y="3219450"/>
            <a:ext cx="36385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5173 is the UI; 8000 is FastAPI. The flow breaks if either service stops.</a:t>
            </a:r>
          </a:p>
        </p:txBody>
      </p:sp>
      <p:sp>
        <p:nvSpPr>
          <p:cNvPr id="26" name="圆角矩形 25"/>
          <p:cNvSpPr>
            <a:spLocks noGrp="1"/>
          </p:cNvSpPr>
          <p:nvPr/>
        </p:nvSpPr>
        <p:spPr>
          <a:xfrm>
            <a:off x="6972300" y="3924300"/>
            <a:ext cx="4057650" cy="1123950"/>
          </a:xfrm>
          <a:prstGeom prst="roundRect">
            <a:avLst>
              <a:gd name="adj" fmla="val 6780"/>
            </a:avLst>
          </a:prstGeom>
          <a:solidFill>
            <a:srgbClr val="EEF7EE"/>
          </a:solidFill>
          <a:ln w="9525">
            <a:solidFill>
              <a:srgbClr val="39825B"/>
            </a:solidFill>
            <a:prstDash val="solid"/>
          </a:ln>
        </p:spPr>
        <p:txBody>
          <a:bodyPr/>
          <a:lstStyle/>
          <a:p>
            <a:endParaRPr/>
          </a:p>
        </p:txBody>
      </p:sp>
      <p:sp>
        <p:nvSpPr>
          <p:cNvPr id="27" name="矩形 26"/>
          <p:cNvSpPr>
            <a:spLocks noGrp="1"/>
          </p:cNvSpPr>
          <p:nvPr/>
        </p:nvSpPr>
        <p:spPr>
          <a:xfrm>
            <a:off x="7181850" y="4086225"/>
            <a:ext cx="3638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OBSERVE THE ACTUAL BEHAVIOR FIRST</a:t>
            </a:r>
          </a:p>
        </p:txBody>
      </p:sp>
      <p:sp>
        <p:nvSpPr>
          <p:cNvPr id="28" name="矩形 27"/>
          <p:cNvSpPr>
            <a:spLocks noGrp="1"/>
          </p:cNvSpPr>
          <p:nvPr/>
        </p:nvSpPr>
        <p:spPr>
          <a:xfrm>
            <a:off x="7181850" y="4476750"/>
            <a:ext cx="363855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Review Claude's diff; then open the page and recheck /health.</a:t>
            </a:r>
          </a:p>
        </p:txBody>
      </p:sp>
      <p:sp>
        <p:nvSpPr>
          <p:cNvPr id="29" name="圆角矩形 28"/>
          <p:cNvSpPr>
            <a:spLocks noGrp="1"/>
          </p:cNvSpPr>
          <p:nvPr/>
        </p:nvSpPr>
        <p:spPr>
          <a:xfrm>
            <a:off x="70485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83820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31" name="矩形 30"/>
          <p:cNvSpPr>
            <a:spLocks noGrp="1"/>
          </p:cNvSpPr>
          <p:nvPr/>
        </p:nvSpPr>
        <p:spPr>
          <a:xfrm>
            <a:off x="154305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Create + start Vite</a:t>
            </a:r>
          </a:p>
        </p:txBody>
      </p:sp>
      <p:sp>
        <p:nvSpPr>
          <p:cNvPr id="32" name="圆角矩形 31"/>
          <p:cNvSpPr>
            <a:spLocks noGrp="1"/>
          </p:cNvSpPr>
          <p:nvPr/>
        </p:nvSpPr>
        <p:spPr>
          <a:xfrm>
            <a:off x="438150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451485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4" name="矩形 33"/>
          <p:cNvSpPr>
            <a:spLocks noGrp="1"/>
          </p:cNvSpPr>
          <p:nvPr/>
        </p:nvSpPr>
        <p:spPr>
          <a:xfrm>
            <a:off x="521970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reviewed diff + 5173 page + 8000 health</a:t>
            </a:r>
          </a:p>
        </p:txBody>
      </p:sp>
      <p:sp>
        <p:nvSpPr>
          <p:cNvPr id="35" name="圆角矩形 34"/>
          <p:cNvSpPr>
            <a:spLocks noGrp="1"/>
          </p:cNvSpPr>
          <p:nvPr/>
        </p:nvSpPr>
        <p:spPr>
          <a:xfrm>
            <a:off x="805815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6" name="矩形 35"/>
          <p:cNvSpPr>
            <a:spLocks noGrp="1"/>
          </p:cNvSpPr>
          <p:nvPr/>
        </p:nvSpPr>
        <p:spPr>
          <a:xfrm>
            <a:off x="819150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7" name="矩形 36"/>
          <p:cNvSpPr>
            <a:spLocks noGrp="1"/>
          </p:cNvSpPr>
          <p:nvPr/>
        </p:nvSpPr>
        <p:spPr>
          <a:xfrm>
            <a:off x="889635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Blank screen → read the first error in Terminal B</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矩形 23"/>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MAP THE USER ACTION SEQUENCE FIRST</a:t>
            </a:r>
          </a:p>
        </p:txBody>
      </p:sp>
      <p:sp>
        <p:nvSpPr>
          <p:cNvPr id="3" name="矩形 2"/>
          <p:cNvSpPr>
            <a:spLocks noGrp="1"/>
          </p:cNvSpPr>
          <p:nvPr/>
        </p:nvSpPr>
        <p:spPr>
          <a:xfrm>
            <a:off x="781050" y="781050"/>
            <a:ext cx="10991850" cy="533400"/>
          </a:xfrm>
          <a:prstGeom prst="rect">
            <a:avLst/>
          </a:prstGeom>
          <a:solidFill>
            <a:srgbClr val="FFFFFF">
              <a:alpha val="0"/>
            </a:srgbClr>
          </a:solidFill>
          <a:ln w="0">
            <a:solidFill>
              <a:srgbClr val="000000">
                <a:alpha val="0"/>
              </a:srgbClr>
            </a:solidFill>
            <a:prstDash val="solid"/>
          </a:ln>
        </p:spPr>
        <p:txBody>
          <a:bodyPr lIns="0" tIns="0" rIns="0" bIns="0" anchor="t">
            <a:normAutofit fontScale="9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One page tells one story: upload → ask → return to the page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45–48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26</a:t>
            </a:r>
          </a:p>
        </p:txBody>
      </p:sp>
      <p:sp>
        <p:nvSpPr>
          <p:cNvPr id="14" name="圆角矩形 13"/>
          <p:cNvSpPr>
            <a:spLocks noGrp="1"/>
          </p:cNvSpPr>
          <p:nvPr/>
        </p:nvSpPr>
        <p:spPr>
          <a:xfrm>
            <a:off x="742950" y="1390650"/>
            <a:ext cx="10287000" cy="4229100"/>
          </a:xfrm>
          <a:prstGeom prst="roundRect">
            <a:avLst>
              <a:gd name="adj" fmla="val 1802"/>
            </a:avLst>
          </a:prstGeom>
          <a:solidFill>
            <a:srgbClr val="FFFFFF"/>
          </a:solidFill>
          <a:ln w="9525">
            <a:solidFill>
              <a:srgbClr val="A7B8C8"/>
            </a:solidFill>
            <a:prstDash val="solid"/>
          </a:ln>
        </p:spPr>
        <p:txBody>
          <a:bodyPr/>
          <a:lstStyle/>
          <a:p>
            <a:endParaRPr/>
          </a:p>
        </p:txBody>
      </p:sp>
      <p:sp>
        <p:nvSpPr>
          <p:cNvPr id="15" name="矩形 14"/>
          <p:cNvSpPr>
            <a:spLocks noGrp="1"/>
          </p:cNvSpPr>
          <p:nvPr/>
        </p:nvSpPr>
        <p:spPr>
          <a:xfrm>
            <a:off x="742950" y="1390650"/>
            <a:ext cx="10287000" cy="533400"/>
          </a:xfrm>
          <a:prstGeom prst="rect">
            <a:avLst/>
          </a:prstGeom>
          <a:solidFill>
            <a:srgbClr val="003B74"/>
          </a:solidFill>
          <a:ln w="9525">
            <a:solidFill>
              <a:srgbClr val="003B74"/>
            </a:solidFill>
            <a:prstDash val="solid"/>
          </a:ln>
        </p:spPr>
        <p:txBody>
          <a:bodyPr/>
          <a:lstStyle/>
          <a:p>
            <a:endParaRPr/>
          </a:p>
        </p:txBody>
      </p:sp>
      <p:sp>
        <p:nvSpPr>
          <p:cNvPr id="16" name="矩形 15"/>
          <p:cNvSpPr>
            <a:spLocks noGrp="1"/>
          </p:cNvSpPr>
          <p:nvPr/>
        </p:nvSpPr>
        <p:spPr>
          <a:xfrm>
            <a:off x="990600" y="1543050"/>
            <a:ext cx="2857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FFFFFF"/>
                </a:solidFill>
                <a:latin typeface="Lato"/>
                <a:ea typeface="Lato"/>
                <a:cs typeface="Lato"/>
              </a:defRPr>
            </a:pPr>
            <a:r>
              <a:rPr sz="1500" b="1">
                <a:solidFill>
                  <a:srgbClr val="FFFFFF"/>
                </a:solidFill>
                <a:latin typeface="Lato"/>
                <a:ea typeface="Lato"/>
                <a:cs typeface="Lato"/>
              </a:rPr>
              <a:t>SmartLearn Lite</a:t>
            </a:r>
          </a:p>
        </p:txBody>
      </p:sp>
      <p:sp>
        <p:nvSpPr>
          <p:cNvPr id="17" name="圆角矩形 16"/>
          <p:cNvSpPr>
            <a:spLocks noGrp="1"/>
          </p:cNvSpPr>
          <p:nvPr/>
        </p:nvSpPr>
        <p:spPr>
          <a:xfrm>
            <a:off x="1123950" y="2247900"/>
            <a:ext cx="3429000" cy="2724150"/>
          </a:xfrm>
          <a:prstGeom prst="roundRect">
            <a:avLst>
              <a:gd name="adj" fmla="val 2797"/>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1333500" y="2409825"/>
            <a:ext cx="30099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1 · SELECT AND UPLOAD</a:t>
            </a:r>
          </a:p>
        </p:txBody>
      </p:sp>
      <p:sp>
        <p:nvSpPr>
          <p:cNvPr id="19" name="矩形 18"/>
          <p:cNvSpPr>
            <a:spLocks noGrp="1"/>
          </p:cNvSpPr>
          <p:nvPr/>
        </p:nvSpPr>
        <p:spPr>
          <a:xfrm>
            <a:off x="1333500" y="2800350"/>
            <a:ext cx="3009900" cy="20383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425" b="0">
                <a:solidFill>
                  <a:srgbClr val="637788"/>
                </a:solidFill>
                <a:latin typeface="Lato"/>
                <a:ea typeface="Lato"/>
                <a:cs typeface="Lato"/>
              </a:defRPr>
            </a:pPr>
            <a:r>
              <a:rPr sz="1425" b="0">
                <a:solidFill>
                  <a:srgbClr val="637788"/>
                </a:solidFill>
                <a:latin typeface="Lato"/>
                <a:ea typeface="Lato"/>
                <a:cs typeface="Lato"/>
              </a:rPr>
              <a:t>Select a PDF</a:t>
            </a:r>
          </a:p>
          <a:p>
            <a:endParaRPr sz="1425"/>
          </a:p>
          <a:p>
            <a:pPr algn="l">
              <a:buNone/>
              <a:defRPr sz="1425" b="0">
                <a:solidFill>
                  <a:srgbClr val="637788"/>
                </a:solidFill>
                <a:latin typeface="Lato"/>
                <a:ea typeface="Lato"/>
                <a:cs typeface="Lato"/>
              </a:defRPr>
            </a:pPr>
            <a:r>
              <a:rPr sz="1425" b="0">
                <a:solidFill>
                  <a:srgbClr val="637788"/>
                </a:solidFill>
                <a:latin typeface="Lato"/>
                <a:ea typeface="Lato"/>
                <a:cs typeface="Lato"/>
              </a:rPr>
              <a:t>[ Upload ]</a:t>
            </a:r>
          </a:p>
          <a:p>
            <a:endParaRPr sz="1425"/>
          </a:p>
          <a:p>
            <a:pPr algn="l">
              <a:buNone/>
              <a:defRPr sz="1425" b="0">
                <a:solidFill>
                  <a:srgbClr val="637788"/>
                </a:solidFill>
                <a:latin typeface="Lato"/>
                <a:ea typeface="Lato"/>
                <a:cs typeface="Lato"/>
              </a:defRPr>
            </a:pPr>
            <a:r>
              <a:rPr sz="1425" b="0">
                <a:solidFill>
                  <a:srgbClr val="637788"/>
                </a:solidFill>
                <a:latin typeface="Lato"/>
                <a:ea typeface="Lato"/>
                <a:cs typeface="Lato"/>
              </a:rPr>
              <a:t>Uploading... → Pages read</a:t>
            </a:r>
          </a:p>
        </p:txBody>
      </p:sp>
      <p:sp>
        <p:nvSpPr>
          <p:cNvPr id="20" name="圆角矩形 19"/>
          <p:cNvSpPr>
            <a:spLocks noGrp="1"/>
          </p:cNvSpPr>
          <p:nvPr/>
        </p:nvSpPr>
        <p:spPr>
          <a:xfrm>
            <a:off x="5010150" y="2247900"/>
            <a:ext cx="5543550" cy="2724150"/>
          </a:xfrm>
          <a:prstGeom prst="roundRect">
            <a:avLst>
              <a:gd name="adj" fmla="val 2797"/>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5219700" y="2409825"/>
            <a:ext cx="51244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2 · ASK AND VERIFY</a:t>
            </a:r>
          </a:p>
        </p:txBody>
      </p:sp>
      <p:sp>
        <p:nvSpPr>
          <p:cNvPr id="22" name="矩形 21"/>
          <p:cNvSpPr>
            <a:spLocks noGrp="1"/>
          </p:cNvSpPr>
          <p:nvPr/>
        </p:nvSpPr>
        <p:spPr>
          <a:xfrm>
            <a:off x="5219700" y="2800350"/>
            <a:ext cx="5124450" cy="20383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637788"/>
                </a:solidFill>
                <a:latin typeface="Lato"/>
                <a:ea typeface="Lato"/>
                <a:cs typeface="Lato"/>
              </a:defRPr>
            </a:pPr>
            <a:r>
              <a:rPr sz="1350" b="0">
                <a:solidFill>
                  <a:srgbClr val="637788"/>
                </a:solidFill>
                <a:latin typeface="Lato"/>
                <a:ea typeface="Lato"/>
                <a:cs typeface="Lato"/>
              </a:rPr>
              <a:t>Enter a question that can be located in the PDF</a:t>
            </a:r>
          </a:p>
          <a:p>
            <a:endParaRPr sz="1350"/>
          </a:p>
          <a:p>
            <a:pPr algn="l">
              <a:buNone/>
              <a:defRPr sz="1350" b="0">
                <a:solidFill>
                  <a:srgbClr val="637788"/>
                </a:solidFill>
                <a:latin typeface="Lato"/>
                <a:ea typeface="Lato"/>
                <a:cs typeface="Lato"/>
              </a:defRPr>
            </a:pPr>
            <a:r>
              <a:rPr sz="1350" b="0">
                <a:solidFill>
                  <a:srgbClr val="637788"/>
                </a:solidFill>
                <a:latin typeface="Lato"/>
                <a:ea typeface="Lato"/>
                <a:cs typeface="Lato"/>
              </a:rPr>
              <a:t>Answer... [Page N]</a:t>
            </a:r>
          </a:p>
          <a:p>
            <a:endParaRPr sz="1350"/>
          </a:p>
          <a:p>
            <a:pPr algn="l">
              <a:buNone/>
              <a:defRPr sz="1350" b="0">
                <a:solidFill>
                  <a:srgbClr val="637788"/>
                </a:solidFill>
                <a:latin typeface="Lato"/>
                <a:ea typeface="Lato"/>
                <a:cs typeface="Lato"/>
              </a:defRPr>
            </a:pPr>
            <a:r>
              <a:rPr sz="1350" b="0">
                <a:solidFill>
                  <a:srgbClr val="637788"/>
                </a:solidFill>
                <a:latin typeface="Lato"/>
                <a:ea typeface="Lato"/>
                <a:cs typeface="Lato"/>
              </a:rPr>
              <a:t>Use the page number to verify it in the PDF</a:t>
            </a:r>
          </a:p>
        </p:txBody>
      </p:sp>
      <p:sp>
        <p:nvSpPr>
          <p:cNvPr id="23" name="矩形 22"/>
          <p:cNvSpPr>
            <a:spLocks noGrp="1"/>
          </p:cNvSpPr>
          <p:nvPr/>
        </p:nvSpPr>
        <p:spPr>
          <a:xfrm>
            <a:off x="990600" y="5219700"/>
            <a:ext cx="914400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Questions are disabled before upload; while waiting, an old answer must never appear as the new one.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26"/>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REACT · STATE</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useState: each variable maps to a user-visible fact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27</a:t>
            </a:r>
          </a:p>
        </p:txBody>
      </p:sp>
      <p:sp>
        <p:nvSpPr>
          <p:cNvPr id="14" name="圆角矩形 13"/>
          <p:cNvSpPr>
            <a:spLocks noGrp="1"/>
          </p:cNvSpPr>
          <p:nvPr/>
        </p:nvSpPr>
        <p:spPr>
          <a:xfrm>
            <a:off x="685800" y="1409700"/>
            <a:ext cx="6286500" cy="3429000"/>
          </a:xfrm>
          <a:prstGeom prst="roundRect">
            <a:avLst>
              <a:gd name="adj" fmla="val 222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943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APP.JSX · HOOKS MUST BE INSIDE THE COMPONENT</a:t>
            </a:r>
          </a:p>
        </p:txBody>
      </p:sp>
      <p:sp>
        <p:nvSpPr>
          <p:cNvPr id="16" name="矩形 15"/>
          <p:cNvSpPr>
            <a:spLocks noGrp="1"/>
          </p:cNvSpPr>
          <p:nvPr/>
        </p:nvSpPr>
        <p:spPr>
          <a:xfrm>
            <a:off x="857250" y="1809750"/>
            <a:ext cx="5943600" cy="2914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F1F6FA"/>
                </a:solidFill>
                <a:latin typeface="Monaco"/>
                <a:ea typeface="Monaco"/>
                <a:cs typeface="Monaco"/>
              </a:defRPr>
            </a:pPr>
            <a:r>
              <a:rPr sz="1350" b="0">
                <a:solidFill>
                  <a:srgbClr val="63B3ED"/>
                </a:solidFill>
                <a:latin typeface="Monaco"/>
                <a:ea typeface="Monaco"/>
                <a:cs typeface="Monaco"/>
              </a:rPr>
              <a:t>import</a:t>
            </a:r>
            <a:r>
              <a:rPr sz="1350" b="0">
                <a:solidFill>
                  <a:srgbClr val="F1F6FA"/>
                </a:solidFill>
                <a:latin typeface="Monaco"/>
                <a:ea typeface="Monaco"/>
                <a:cs typeface="Monaco"/>
              </a:rPr>
              <a:t> { useState } </a:t>
            </a:r>
            <a:r>
              <a:rPr sz="1350" b="0">
                <a:solidFill>
                  <a:srgbClr val="63B3ED"/>
                </a:solidFill>
                <a:latin typeface="Monaco"/>
                <a:ea typeface="Monaco"/>
                <a:cs typeface="Monaco"/>
              </a:rPr>
              <a:t>from</a:t>
            </a:r>
            <a:r>
              <a:rPr sz="1350" b="0">
                <a:solidFill>
                  <a:srgbClr val="F1F6FA"/>
                </a:solidFill>
                <a:latin typeface="Monaco"/>
                <a:ea typeface="Monaco"/>
                <a:cs typeface="Monaco"/>
              </a:rPr>
              <a:t> </a:t>
            </a:r>
            <a:r>
              <a:rPr sz="1350" b="0">
                <a:solidFill>
                  <a:srgbClr val="F6C85F"/>
                </a:solidFill>
                <a:latin typeface="Monaco"/>
                <a:ea typeface="Monaco"/>
                <a:cs typeface="Monaco"/>
              </a:rPr>
              <a:t>"react"</a:t>
            </a:r>
          </a:p>
          <a:p>
            <a:endParaRPr sz="1350"/>
          </a:p>
          <a:p>
            <a:pPr algn="l">
              <a:buNone/>
              <a:defRPr sz="1350" b="0">
                <a:solidFill>
                  <a:srgbClr val="F1F6FA"/>
                </a:solidFill>
                <a:latin typeface="Monaco"/>
                <a:ea typeface="Monaco"/>
                <a:cs typeface="Monaco"/>
              </a:defRPr>
            </a:pPr>
            <a:r>
              <a:rPr sz="1350" b="0">
                <a:solidFill>
                  <a:srgbClr val="63B3ED"/>
                </a:solidFill>
                <a:latin typeface="Monaco"/>
                <a:ea typeface="Monaco"/>
                <a:cs typeface="Monaco"/>
              </a:rPr>
              <a:t>export</a:t>
            </a:r>
            <a:r>
              <a:rPr sz="1350" b="0">
                <a:solidFill>
                  <a:srgbClr val="F1F6FA"/>
                </a:solidFill>
                <a:latin typeface="Monaco"/>
                <a:ea typeface="Monaco"/>
                <a:cs typeface="Monaco"/>
              </a:rPr>
              <a:t> </a:t>
            </a:r>
            <a:r>
              <a:rPr sz="1350" b="0">
                <a:solidFill>
                  <a:srgbClr val="63B3ED"/>
                </a:solidFill>
                <a:latin typeface="Monaco"/>
                <a:ea typeface="Monaco"/>
                <a:cs typeface="Monaco"/>
              </a:rPr>
              <a:t>default</a:t>
            </a:r>
            <a:r>
              <a:rPr sz="1350" b="0">
                <a:solidFill>
                  <a:srgbClr val="F1F6FA"/>
                </a:solidFill>
                <a:latin typeface="Monaco"/>
                <a:ea typeface="Monaco"/>
                <a:cs typeface="Monaco"/>
              </a:rPr>
              <a:t> </a:t>
            </a:r>
            <a:r>
              <a:rPr sz="1350" b="0">
                <a:solidFill>
                  <a:srgbClr val="63B3ED"/>
                </a:solidFill>
                <a:latin typeface="Monaco"/>
                <a:ea typeface="Monaco"/>
                <a:cs typeface="Monaco"/>
              </a:rPr>
              <a:t>function</a:t>
            </a:r>
            <a:r>
              <a:rPr sz="1350" b="0">
                <a:solidFill>
                  <a:srgbClr val="F1F6FA"/>
                </a:solidFill>
                <a:latin typeface="Monaco"/>
                <a:ea typeface="Monaco"/>
                <a:cs typeface="Monaco"/>
              </a:rPr>
              <a:t> </a:t>
            </a:r>
            <a:r>
              <a:rPr sz="1350" b="0">
                <a:solidFill>
                  <a:srgbClr val="70D6E8"/>
                </a:solidFill>
                <a:latin typeface="Monaco"/>
                <a:ea typeface="Monaco"/>
                <a:cs typeface="Monaco"/>
              </a:rPr>
              <a:t>App</a:t>
            </a:r>
            <a:r>
              <a:rPr sz="1350" b="0">
                <a:solidFill>
                  <a:srgbClr val="F1F6FA"/>
                </a:solidFill>
                <a:latin typeface="Monaco"/>
                <a:ea typeface="Monaco"/>
                <a:cs typeface="Monaco"/>
              </a:rPr>
              <a:t>() {</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[file, setFile]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72AD47"/>
                </a:solidFill>
                <a:latin typeface="Monaco"/>
                <a:ea typeface="Monaco"/>
                <a:cs typeface="Monaco"/>
              </a:rPr>
              <a:t>null</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[upload, setUpload]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F6C85F"/>
                </a:solidFill>
                <a:latin typeface="Monaco"/>
                <a:ea typeface="Monaco"/>
                <a:cs typeface="Monaco"/>
              </a:rPr>
              <a:t>null</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[message, setMessage]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F6C85F"/>
                </a:solidFill>
                <a:latin typeface="Monaco"/>
                <a:ea typeface="Monaco"/>
                <a:cs typeface="Monaco"/>
              </a:rPr>
              <a:t>""</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[answer, setAnswer]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72AD47"/>
                </a:solidFill>
                <a:latin typeface="Monaco"/>
                <a:ea typeface="Monaco"/>
                <a:cs typeface="Monaco"/>
              </a:rPr>
              <a:t>null</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[status, setStatus]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F6C85F"/>
                </a:solidFill>
                <a:latin typeface="Monaco"/>
                <a:ea typeface="Monaco"/>
                <a:cs typeface="Monaco"/>
              </a:rPr>
              <a:t>"idle"</a:t>
            </a:r>
            <a:r>
              <a:rPr sz="1350" b="0">
                <a:solidFill>
                  <a:srgbClr val="F1F6FA"/>
                </a:solidFill>
                <a:latin typeface="Monaco"/>
                <a:ea typeface="Monaco"/>
                <a:cs typeface="Monaco"/>
              </a:rPr>
              <a:t>)</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  </a:t>
            </a:r>
            <a:r>
              <a:rPr sz="1350" b="0">
                <a:solidFill>
                  <a:srgbClr val="63B3ED"/>
                </a:solidFill>
                <a:latin typeface="Monaco"/>
                <a:ea typeface="Monaco"/>
                <a:cs typeface="Monaco"/>
              </a:rPr>
              <a:t>const</a:t>
            </a:r>
            <a:r>
              <a:rPr sz="1350" b="0">
                <a:solidFill>
                  <a:srgbClr val="F1F6FA"/>
                </a:solidFill>
                <a:latin typeface="Monaco"/>
                <a:ea typeface="Monaco"/>
                <a:cs typeface="Monaco"/>
              </a:rPr>
              <a:t> [</a:t>
            </a:r>
            <a:r>
              <a:rPr sz="1350" b="0">
                <a:solidFill>
                  <a:srgbClr val="FF8A7D"/>
                </a:solidFill>
                <a:latin typeface="Monaco"/>
                <a:ea typeface="Monaco"/>
                <a:cs typeface="Monaco"/>
              </a:rPr>
              <a:t>error</a:t>
            </a:r>
            <a:r>
              <a:rPr sz="1350" b="0">
                <a:solidFill>
                  <a:srgbClr val="F1F6FA"/>
                </a:solidFill>
                <a:latin typeface="Monaco"/>
                <a:ea typeface="Monaco"/>
                <a:cs typeface="Monaco"/>
              </a:rPr>
              <a:t>, setError] = </a:t>
            </a:r>
            <a:r>
              <a:rPr sz="1350" b="0">
                <a:solidFill>
                  <a:srgbClr val="70D6E8"/>
                </a:solidFill>
                <a:latin typeface="Monaco"/>
                <a:ea typeface="Monaco"/>
                <a:cs typeface="Monaco"/>
              </a:rPr>
              <a:t>useState</a:t>
            </a:r>
            <a:r>
              <a:rPr sz="1350" b="0">
                <a:solidFill>
                  <a:srgbClr val="F1F6FA"/>
                </a:solidFill>
                <a:latin typeface="Monaco"/>
                <a:ea typeface="Monaco"/>
                <a:cs typeface="Monaco"/>
              </a:rPr>
              <a:t>(</a:t>
            </a:r>
            <a:r>
              <a:rPr sz="1350" b="0">
                <a:solidFill>
                  <a:srgbClr val="F6C85F"/>
                </a:solidFill>
                <a:latin typeface="Monaco"/>
                <a:ea typeface="Monaco"/>
                <a:cs typeface="Monaco"/>
              </a:rPr>
              <a:t>""</a:t>
            </a:r>
            <a:r>
              <a:rPr sz="1350" b="0">
                <a:solidFill>
                  <a:srgbClr val="F1F6FA"/>
                </a:solidFill>
                <a:latin typeface="Monaco"/>
                <a:ea typeface="Monaco"/>
                <a:cs typeface="Monaco"/>
              </a:rPr>
              <a:t>)</a:t>
            </a:r>
          </a:p>
          <a:p>
            <a:endParaRPr sz="1350"/>
          </a:p>
          <a:p>
            <a:pPr algn="l">
              <a:buNone/>
              <a:defRPr sz="1350" b="0">
                <a:solidFill>
                  <a:srgbClr val="F1F6FA"/>
                </a:solidFill>
                <a:latin typeface="Monaco"/>
                <a:ea typeface="Monaco"/>
                <a:cs typeface="Monaco"/>
              </a:defRPr>
            </a:pPr>
            <a:r>
              <a:rPr sz="1350" b="0">
                <a:solidFill>
                  <a:srgbClr val="7893A6"/>
                </a:solidFill>
                <a:latin typeface="Monaco"/>
                <a:ea typeface="Monaco"/>
                <a:cs typeface="Monaco"/>
              </a:rPr>
              <a:t>  // See the next three slides for handlers and return</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a:t>
            </a:r>
          </a:p>
        </p:txBody>
      </p:sp>
      <p:sp>
        <p:nvSpPr>
          <p:cNvPr id="17" name="圆角矩形 16"/>
          <p:cNvSpPr>
            <a:spLocks noGrp="1"/>
          </p:cNvSpPr>
          <p:nvPr/>
        </p:nvSpPr>
        <p:spPr>
          <a:xfrm>
            <a:off x="7334250" y="1428750"/>
            <a:ext cx="3676650" cy="914400"/>
          </a:xfrm>
          <a:prstGeom prst="roundRect">
            <a:avLst>
              <a:gd name="adj" fmla="val 8333"/>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543800" y="1590675"/>
            <a:ext cx="3257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file</a:t>
            </a:r>
          </a:p>
        </p:txBody>
      </p:sp>
      <p:sp>
        <p:nvSpPr>
          <p:cNvPr id="19" name="矩形 18"/>
          <p:cNvSpPr>
            <a:spLocks noGrp="1"/>
          </p:cNvSpPr>
          <p:nvPr/>
        </p:nvSpPr>
        <p:spPr>
          <a:xfrm>
            <a:off x="7543800" y="1981200"/>
            <a:ext cx="32575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The PDF the user just selected.</a:t>
            </a:r>
          </a:p>
        </p:txBody>
      </p:sp>
      <p:sp>
        <p:nvSpPr>
          <p:cNvPr id="20" name="圆角矩形 19"/>
          <p:cNvSpPr>
            <a:spLocks noGrp="1"/>
          </p:cNvSpPr>
          <p:nvPr/>
        </p:nvSpPr>
        <p:spPr>
          <a:xfrm>
            <a:off x="7334250" y="2533650"/>
            <a:ext cx="3676650" cy="914400"/>
          </a:xfrm>
          <a:prstGeom prst="roundRect">
            <a:avLst>
              <a:gd name="adj" fmla="val 8333"/>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543800" y="2695575"/>
            <a:ext cx="3257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upload + message</a:t>
            </a:r>
          </a:p>
        </p:txBody>
      </p:sp>
      <p:sp>
        <p:nvSpPr>
          <p:cNvPr id="22" name="矩形 21"/>
          <p:cNvSpPr>
            <a:spLocks noGrp="1"/>
          </p:cNvSpPr>
          <p:nvPr/>
        </p:nvSpPr>
        <p:spPr>
          <a:xfrm>
            <a:off x="7543800" y="3086100"/>
            <a:ext cx="325755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Keep the upload receipt and message for one chat_id.</a:t>
            </a:r>
          </a:p>
        </p:txBody>
      </p:sp>
      <p:sp>
        <p:nvSpPr>
          <p:cNvPr id="23" name="圆角矩形 22"/>
          <p:cNvSpPr>
            <a:spLocks noGrp="1"/>
          </p:cNvSpPr>
          <p:nvPr/>
        </p:nvSpPr>
        <p:spPr>
          <a:xfrm>
            <a:off x="7334250" y="3638550"/>
            <a:ext cx="3676650" cy="1200150"/>
          </a:xfrm>
          <a:prstGeom prst="roundRect">
            <a:avLst>
              <a:gd name="adj" fmla="val 6349"/>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543800" y="3800475"/>
            <a:ext cx="32575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status + error + answer</a:t>
            </a:r>
          </a:p>
        </p:txBody>
      </p:sp>
      <p:sp>
        <p:nvSpPr>
          <p:cNvPr id="25" name="矩形 24"/>
          <p:cNvSpPr>
            <a:spLocks noGrp="1"/>
          </p:cNvSpPr>
          <p:nvPr/>
        </p:nvSpPr>
        <p:spPr>
          <a:xfrm>
            <a:off x="7543800" y="4191000"/>
            <a:ext cx="3257550" cy="5143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Show progress, failure, and the /chat answer + citations.</a:t>
            </a:r>
          </a:p>
        </p:txBody>
      </p:sp>
      <p:sp>
        <p:nvSpPr>
          <p:cNvPr id="26" name="矩形 25"/>
          <p:cNvSpPr>
            <a:spLocks noGrp="1"/>
          </p:cNvSpPr>
          <p:nvPr/>
        </p:nvSpPr>
        <p:spPr>
          <a:xfrm>
            <a:off x="742950" y="5219700"/>
            <a:ext cx="10096500" cy="266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When reading the code, ask: if this state were removed, what information would the user lose?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STATE PATTERN</a:t>
            </a:r>
          </a:p>
        </p:txBody>
      </p:sp>
      <p:sp>
        <p:nvSpPr>
          <p:cNvPr id="3" name="矩形 2"/>
          <p:cNvSpPr>
            <a:spLocks noGrp="1"/>
          </p:cNvSpPr>
          <p:nvPr/>
        </p:nvSpPr>
        <p:spPr>
          <a:xfrm>
            <a:off x="781050" y="781050"/>
            <a:ext cx="10687050" cy="533400"/>
          </a:xfrm>
          <a:prstGeom prst="rect">
            <a:avLst/>
          </a:prstGeom>
          <a:solidFill>
            <a:srgbClr val="FFFFFF">
              <a:alpha val="0"/>
            </a:srgbClr>
          </a:solidFill>
          <a:ln w="0">
            <a:solidFill>
              <a:srgbClr val="000000">
                <a:alpha val="0"/>
              </a:srgbClr>
            </a:solidFill>
            <a:prstDash val="solid"/>
          </a:ln>
        </p:spPr>
        <p:txBody>
          <a:bodyPr lIns="0" tIns="0" rIns="0" bIns="0" anchor="t">
            <a:normAutofit fontScale="88237"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Common async request skeleton: clear old result → wait → succeed or fail</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28</a:t>
            </a:r>
          </a:p>
        </p:txBody>
      </p:sp>
      <p:sp>
        <p:nvSpPr>
          <p:cNvPr id="14" name="圆角矩形 13"/>
          <p:cNvSpPr>
            <a:spLocks noGrp="1"/>
          </p:cNvSpPr>
          <p:nvPr/>
        </p:nvSpPr>
        <p:spPr>
          <a:xfrm>
            <a:off x="685800" y="1409700"/>
            <a:ext cx="6419850" cy="3486150"/>
          </a:xfrm>
          <a:prstGeom prst="roundRect">
            <a:avLst>
              <a:gd name="adj" fmla="val 2186"/>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60769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READ EVERY REQUEST AS THE SAME TIMELINE</a:t>
            </a:r>
          </a:p>
        </p:txBody>
      </p:sp>
      <p:sp>
        <p:nvSpPr>
          <p:cNvPr id="16" name="矩形 15"/>
          <p:cNvSpPr>
            <a:spLocks noGrp="1"/>
          </p:cNvSpPr>
          <p:nvPr/>
        </p:nvSpPr>
        <p:spPr>
          <a:xfrm>
            <a:off x="857250" y="1809750"/>
            <a:ext cx="6076950" cy="2971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F1F6FA"/>
                </a:solidFill>
                <a:latin typeface="Monaco"/>
                <a:ea typeface="Monaco"/>
                <a:cs typeface="Monaco"/>
              </a:defRPr>
            </a:pPr>
            <a:r>
              <a:rPr sz="1275" b="0">
                <a:solidFill>
                  <a:srgbClr val="63B3ED"/>
                </a:solidFill>
                <a:latin typeface="Monaco"/>
                <a:ea typeface="Monaco"/>
                <a:cs typeface="Monaco"/>
              </a:rPr>
              <a:t>async</a:t>
            </a:r>
            <a:r>
              <a:rPr sz="1275" b="0">
                <a:solidFill>
                  <a:srgbClr val="F1F6FA"/>
                </a:solidFill>
                <a:latin typeface="Monaco"/>
                <a:ea typeface="Monaco"/>
                <a:cs typeface="Monaco"/>
              </a:rPr>
              <a:t> </a:t>
            </a:r>
            <a:r>
              <a:rPr sz="1275" b="0">
                <a:solidFill>
                  <a:srgbClr val="63B3ED"/>
                </a:solidFill>
                <a:latin typeface="Monaco"/>
                <a:ea typeface="Monaco"/>
                <a:cs typeface="Monaco"/>
              </a:rPr>
              <a:t>function</a:t>
            </a:r>
            <a:r>
              <a:rPr sz="1275" b="0">
                <a:solidFill>
                  <a:srgbClr val="F1F6FA"/>
                </a:solidFill>
                <a:latin typeface="Monaco"/>
                <a:ea typeface="Monaco"/>
                <a:cs typeface="Monaco"/>
              </a:rPr>
              <a:t> </a:t>
            </a:r>
            <a:r>
              <a:rPr sz="1275" b="0">
                <a:solidFill>
                  <a:srgbClr val="70D6E8"/>
                </a:solidFill>
                <a:latin typeface="Monaco"/>
                <a:ea typeface="Monaco"/>
                <a:cs typeface="Monaco"/>
              </a:rPr>
              <a:t>runRequest</a:t>
            </a:r>
            <a:r>
              <a:rPr sz="1275" b="0">
                <a:solidFill>
                  <a:srgbClr val="F1F6FA"/>
                </a:solidFill>
                <a:latin typeface="Monaco"/>
                <a:ea typeface="Monaco"/>
                <a:cs typeface="Monaco"/>
              </a:rPr>
              <a:t>(operation, request) {</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setError</a:t>
            </a:r>
            <a:r>
              <a:rPr sz="1275" b="0">
                <a:solidFill>
                  <a:srgbClr val="F1F6FA"/>
                </a:solidFill>
                <a:latin typeface="Monaco"/>
                <a:ea typeface="Monaco"/>
                <a:cs typeface="Monaco"/>
              </a:rPr>
              <a:t>(</a:t>
            </a:r>
            <a:r>
              <a:rPr sz="1275" b="0">
                <a:solidFill>
                  <a:srgbClr val="F6C85F"/>
                </a:solidFill>
                <a:latin typeface="Monaco"/>
                <a:ea typeface="Monaco"/>
                <a:cs typeface="Monaco"/>
              </a:rPr>
              <a:t>""</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setResult</a:t>
            </a:r>
            <a:r>
              <a:rPr sz="1275" b="0">
                <a:solidFill>
                  <a:srgbClr val="F1F6FA"/>
                </a:solidFill>
                <a:latin typeface="Monaco"/>
                <a:ea typeface="Monaco"/>
                <a:cs typeface="Monaco"/>
              </a:rPr>
              <a:t>(</a:t>
            </a:r>
            <a:r>
              <a:rPr sz="1275" b="0">
                <a:solidFill>
                  <a:srgbClr val="72AD47"/>
                </a:solidFill>
                <a:latin typeface="Monaco"/>
                <a:ea typeface="Monaco"/>
                <a:cs typeface="Monaco"/>
              </a:rPr>
              <a:t>null</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setStatus</a:t>
            </a:r>
            <a:r>
              <a:rPr sz="1275" b="0">
                <a:solidFill>
                  <a:srgbClr val="F1F6FA"/>
                </a:solidFill>
                <a:latin typeface="Monaco"/>
                <a:ea typeface="Monaco"/>
                <a:cs typeface="Monaco"/>
              </a:rPr>
              <a:t>(</a:t>
            </a:r>
            <a:r>
              <a:rPr sz="1275" b="0">
                <a:solidFill>
                  <a:srgbClr val="F6C85F"/>
                </a:solidFill>
                <a:latin typeface="Monaco"/>
                <a:ea typeface="Monaco"/>
                <a:cs typeface="Monaco"/>
              </a:rPr>
              <a:t>operation</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63B3ED"/>
                </a:solidFill>
                <a:latin typeface="Monaco"/>
                <a:ea typeface="Monaco"/>
                <a:cs typeface="Monaco"/>
              </a:rPr>
              <a:t>try</a:t>
            </a:r>
            <a:r>
              <a:rPr sz="1275" b="0">
                <a:solidFill>
                  <a:srgbClr val="F1F6FA"/>
                </a:solidFill>
                <a:latin typeface="Monaco"/>
                <a:ea typeface="Monaco"/>
                <a:cs typeface="Monaco"/>
              </a:rPr>
              <a:t> {</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63B3ED"/>
                </a:solidFill>
                <a:latin typeface="Monaco"/>
                <a:ea typeface="Monaco"/>
                <a:cs typeface="Monaco"/>
              </a:rPr>
              <a:t>const</a:t>
            </a:r>
            <a:r>
              <a:rPr sz="1275" b="0">
                <a:solidFill>
                  <a:srgbClr val="F1F6FA"/>
                </a:solidFill>
                <a:latin typeface="Monaco"/>
                <a:ea typeface="Monaco"/>
                <a:cs typeface="Monaco"/>
              </a:rPr>
              <a:t> data = </a:t>
            </a:r>
            <a:r>
              <a:rPr sz="1275" b="0">
                <a:solidFill>
                  <a:srgbClr val="63B3ED"/>
                </a:solidFill>
                <a:latin typeface="Monaco"/>
                <a:ea typeface="Monaco"/>
                <a:cs typeface="Monaco"/>
              </a:rPr>
              <a:t>await</a:t>
            </a:r>
            <a:r>
              <a:rPr sz="1275" b="0">
                <a:solidFill>
                  <a:srgbClr val="F1F6FA"/>
                </a:solidFill>
                <a:latin typeface="Monaco"/>
                <a:ea typeface="Monaco"/>
                <a:cs typeface="Monaco"/>
              </a:rPr>
              <a:t> </a:t>
            </a:r>
            <a:r>
              <a:rPr sz="1275" b="0">
                <a:solidFill>
                  <a:srgbClr val="70D6E8"/>
                </a:solidFill>
                <a:latin typeface="Monaco"/>
                <a:ea typeface="Monaco"/>
                <a:cs typeface="Monaco"/>
              </a:rPr>
              <a:t>request</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setResult</a:t>
            </a:r>
            <a:r>
              <a:rPr sz="1275" b="0">
                <a:solidFill>
                  <a:srgbClr val="F1F6FA"/>
                </a:solidFill>
                <a:latin typeface="Monaco"/>
                <a:ea typeface="Monaco"/>
                <a:cs typeface="Monaco"/>
              </a:rPr>
              <a:t>(data)</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setStatus</a:t>
            </a:r>
            <a:r>
              <a:rPr sz="1275" b="0">
                <a:solidFill>
                  <a:srgbClr val="F1F6FA"/>
                </a:solidFill>
                <a:latin typeface="Monaco"/>
                <a:ea typeface="Monaco"/>
                <a:cs typeface="Monaco"/>
              </a:rPr>
              <a:t>(</a:t>
            </a:r>
            <a:r>
              <a:rPr sz="1275" b="0">
                <a:solidFill>
                  <a:srgbClr val="F6C85F"/>
                </a:solidFill>
                <a:latin typeface="Monaco"/>
                <a:ea typeface="Monaco"/>
                <a:cs typeface="Monaco"/>
              </a:rPr>
              <a:t>"idle"</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 </a:t>
            </a:r>
            <a:r>
              <a:rPr sz="1275" b="0">
                <a:solidFill>
                  <a:srgbClr val="63B3ED"/>
                </a:solidFill>
                <a:latin typeface="Monaco"/>
                <a:ea typeface="Monaco"/>
                <a:cs typeface="Monaco"/>
              </a:rPr>
              <a:t>catch</a:t>
            </a:r>
            <a:r>
              <a:rPr sz="1275" b="0">
                <a:solidFill>
                  <a:srgbClr val="F1F6FA"/>
                </a:solidFill>
                <a:latin typeface="Monaco"/>
                <a:ea typeface="Monaco"/>
                <a:cs typeface="Monaco"/>
              </a:rPr>
              <a:t> (err) {</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setError</a:t>
            </a:r>
            <a:r>
              <a:rPr sz="1275" b="0">
                <a:solidFill>
                  <a:srgbClr val="F1F6FA"/>
                </a:solidFill>
                <a:latin typeface="Monaco"/>
                <a:ea typeface="Monaco"/>
                <a:cs typeface="Monaco"/>
              </a:rPr>
              <a:t>(err.message)</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r>
              <a:rPr sz="1275" b="0">
                <a:solidFill>
                  <a:srgbClr val="70D6E8"/>
                </a:solidFill>
                <a:latin typeface="Monaco"/>
                <a:ea typeface="Monaco"/>
                <a:cs typeface="Monaco"/>
              </a:rPr>
              <a:t>setStatus</a:t>
            </a:r>
            <a:r>
              <a:rPr sz="1275" b="0">
                <a:solidFill>
                  <a:srgbClr val="F1F6FA"/>
                </a:solidFill>
                <a:latin typeface="Monaco"/>
                <a:ea typeface="Monaco"/>
                <a:cs typeface="Monaco"/>
              </a:rPr>
              <a:t>(</a:t>
            </a:r>
            <a:r>
              <a:rPr sz="1275" b="0">
                <a:solidFill>
                  <a:srgbClr val="F6C85F"/>
                </a:solidFill>
                <a:latin typeface="Monaco"/>
                <a:ea typeface="Monaco"/>
                <a:cs typeface="Monaco"/>
              </a:rPr>
              <a:t>"idle"</a:t>
            </a:r>
            <a:r>
              <a:rPr sz="1275" b="0">
                <a:solidFill>
                  <a:srgbClr val="F1F6FA"/>
                </a:solidFill>
                <a:latin typeface="Monaco"/>
                <a:ea typeface="Monaco"/>
                <a:cs typeface="Monaco"/>
              </a:rPr>
              <a:t>)</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  }</a:t>
            </a:r>
          </a:p>
          <a:p>
            <a:pPr algn="l">
              <a:buNone/>
              <a:defRPr sz="1275" b="0">
                <a:solidFill>
                  <a:srgbClr val="F1F6FA"/>
                </a:solidFill>
                <a:latin typeface="Monaco"/>
                <a:ea typeface="Monaco"/>
                <a:cs typeface="Monaco"/>
              </a:defRPr>
            </a:pPr>
            <a:r>
              <a:rPr sz="1275" b="0">
                <a:solidFill>
                  <a:srgbClr val="F1F6FA"/>
                </a:solidFill>
                <a:latin typeface="Monaco"/>
                <a:ea typeface="Monaco"/>
                <a:cs typeface="Monaco"/>
              </a:rPr>
              <a:t>}</a:t>
            </a:r>
          </a:p>
        </p:txBody>
      </p:sp>
      <p:sp>
        <p:nvSpPr>
          <p:cNvPr id="17" name="圆角矩形 16"/>
          <p:cNvSpPr>
            <a:spLocks noGrp="1"/>
          </p:cNvSpPr>
          <p:nvPr/>
        </p:nvSpPr>
        <p:spPr>
          <a:xfrm>
            <a:off x="7467600" y="1428750"/>
            <a:ext cx="3524250" cy="914400"/>
          </a:xfrm>
          <a:prstGeom prst="roundRect">
            <a:avLst>
              <a:gd name="adj" fmla="val 8333"/>
            </a:avLst>
          </a:prstGeom>
          <a:solidFill>
            <a:srgbClr val="FFF1EE"/>
          </a:solidFill>
          <a:ln w="9525">
            <a:solidFill>
              <a:srgbClr val="C85A4E"/>
            </a:solidFill>
            <a:prstDash val="solid"/>
          </a:ln>
        </p:spPr>
        <p:txBody>
          <a:bodyPr/>
          <a:lstStyle/>
          <a:p>
            <a:endParaRPr/>
          </a:p>
        </p:txBody>
      </p:sp>
      <p:sp>
        <p:nvSpPr>
          <p:cNvPr id="18" name="矩形 17"/>
          <p:cNvSpPr>
            <a:spLocks noGrp="1"/>
          </p:cNvSpPr>
          <p:nvPr/>
        </p:nvSpPr>
        <p:spPr>
          <a:xfrm>
            <a:off x="7677150" y="1590675"/>
            <a:ext cx="31051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CLEAR OLD RESULTS FIRST</a:t>
            </a:r>
          </a:p>
        </p:txBody>
      </p:sp>
      <p:sp>
        <p:nvSpPr>
          <p:cNvPr id="19" name="矩形 18"/>
          <p:cNvSpPr>
            <a:spLocks noGrp="1"/>
          </p:cNvSpPr>
          <p:nvPr/>
        </p:nvSpPr>
        <p:spPr>
          <a:xfrm>
            <a:off x="7677150" y="1981200"/>
            <a:ext cx="310515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A new PDF must not continue displaying answers from the previous document.</a:t>
            </a:r>
          </a:p>
        </p:txBody>
      </p:sp>
      <p:sp>
        <p:nvSpPr>
          <p:cNvPr id="20" name="圆角矩形 19"/>
          <p:cNvSpPr>
            <a:spLocks noGrp="1"/>
          </p:cNvSpPr>
          <p:nvPr/>
        </p:nvSpPr>
        <p:spPr>
          <a:xfrm>
            <a:off x="7467600" y="2552700"/>
            <a:ext cx="3524250" cy="914400"/>
          </a:xfrm>
          <a:prstGeom prst="roundRect">
            <a:avLst>
              <a:gd name="adj" fmla="val 8333"/>
            </a:avLst>
          </a:prstGeom>
          <a:solidFill>
            <a:srgbClr val="FFF8E6"/>
          </a:solidFill>
          <a:ln w="9525">
            <a:solidFill>
              <a:srgbClr val="D4A72C"/>
            </a:solidFill>
            <a:prstDash val="solid"/>
          </a:ln>
        </p:spPr>
        <p:txBody>
          <a:bodyPr/>
          <a:lstStyle/>
          <a:p>
            <a:endParaRPr/>
          </a:p>
        </p:txBody>
      </p:sp>
      <p:sp>
        <p:nvSpPr>
          <p:cNvPr id="21" name="矩形 20"/>
          <p:cNvSpPr>
            <a:spLocks noGrp="1"/>
          </p:cNvSpPr>
          <p:nvPr/>
        </p:nvSpPr>
        <p:spPr>
          <a:xfrm>
            <a:off x="7677150" y="2714625"/>
            <a:ext cx="31051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MAKE WAITING VISIBLE</a:t>
            </a:r>
          </a:p>
        </p:txBody>
      </p:sp>
      <p:sp>
        <p:nvSpPr>
          <p:cNvPr id="22" name="矩形 21"/>
          <p:cNvSpPr>
            <a:spLocks noGrp="1"/>
          </p:cNvSpPr>
          <p:nvPr/>
        </p:nvSpPr>
        <p:spPr>
          <a:xfrm>
            <a:off x="7677150" y="3105150"/>
            <a:ext cx="310515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When status is uploading or asking, disable actions and name the operation.</a:t>
            </a:r>
          </a:p>
        </p:txBody>
      </p:sp>
      <p:sp>
        <p:nvSpPr>
          <p:cNvPr id="23" name="圆角矩形 22"/>
          <p:cNvSpPr>
            <a:spLocks noGrp="1"/>
          </p:cNvSpPr>
          <p:nvPr/>
        </p:nvSpPr>
        <p:spPr>
          <a:xfrm>
            <a:off x="7467600" y="3676650"/>
            <a:ext cx="3524250" cy="1219200"/>
          </a:xfrm>
          <a:prstGeom prst="roundRect">
            <a:avLst>
              <a:gd name="adj" fmla="val 6250"/>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677150" y="3838575"/>
            <a:ext cx="31051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MAKE ERRORS ACTIONABLE</a:t>
            </a:r>
          </a:p>
        </p:txBody>
      </p:sp>
      <p:sp>
        <p:nvSpPr>
          <p:cNvPr id="25" name="矩形 24"/>
          <p:cNvSpPr>
            <a:spLocks noGrp="1"/>
          </p:cNvSpPr>
          <p:nvPr/>
        </p:nvSpPr>
        <p:spPr>
          <a:xfrm>
            <a:off x="7677150" y="4229100"/>
            <a:ext cx="310515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Do not show only “Failed”; give the user the backend detail or network error.</a:t>
            </a:r>
          </a:p>
        </p:txBody>
      </p:sp>
      <p:sp>
        <p:nvSpPr>
          <p:cNvPr id="26" name="圆角矩形 25"/>
          <p:cNvSpPr>
            <a:spLocks noGrp="1"/>
          </p:cNvSpPr>
          <p:nvPr/>
        </p:nvSpPr>
        <p:spPr>
          <a:xfrm>
            <a:off x="7048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Deliberately trigger one error</a:t>
            </a:r>
          </a:p>
        </p:txBody>
      </p:sp>
      <p:sp>
        <p:nvSpPr>
          <p:cNvPr id="29" name="圆角矩形 28"/>
          <p:cNvSpPr>
            <a:spLocks noGrp="1"/>
          </p:cNvSpPr>
          <p:nvPr/>
        </p:nvSpPr>
        <p:spPr>
          <a:xfrm>
            <a:off x="438150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UI displays the actual cause</a:t>
            </a:r>
          </a:p>
        </p:txBody>
      </p:sp>
      <p:sp>
        <p:nvSpPr>
          <p:cNvPr id="32" name="圆角矩形 31"/>
          <p:cNvSpPr>
            <a:spLocks noGrp="1"/>
          </p:cNvSpPr>
          <p:nvPr/>
        </p:nvSpPr>
        <p:spPr>
          <a:xfrm>
            <a:off x="80581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Old answer remains → clear result first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REACT · UPLOAD</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Browser fetch: send a PDF with FormData</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29</a:t>
            </a:r>
          </a:p>
        </p:txBody>
      </p:sp>
      <p:sp>
        <p:nvSpPr>
          <p:cNvPr id="14" name="圆角矩形 13"/>
          <p:cNvSpPr>
            <a:spLocks noGrp="1"/>
          </p:cNvSpPr>
          <p:nvPr/>
        </p:nvSpPr>
        <p:spPr>
          <a:xfrm>
            <a:off x="685800" y="1409700"/>
            <a:ext cx="6572250" cy="3429000"/>
          </a:xfrm>
          <a:prstGeom prst="roundRect">
            <a:avLst>
              <a:gd name="adj" fmla="val 222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62293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SRC/API.JS · uploadPDF(file) USES ONE FIXED CHAT_ID</a:t>
            </a:r>
          </a:p>
        </p:txBody>
      </p:sp>
      <p:sp>
        <p:nvSpPr>
          <p:cNvPr id="16" name="矩形 15"/>
          <p:cNvSpPr>
            <a:spLocks noGrp="1"/>
          </p:cNvSpPr>
          <p:nvPr/>
        </p:nvSpPr>
        <p:spPr>
          <a:xfrm>
            <a:off x="857250" y="1809750"/>
            <a:ext cx="6229350" cy="2914650"/>
          </a:xfrm>
          <a:prstGeom prst="rect">
            <a:avLst/>
          </a:prstGeom>
          <a:solidFill>
            <a:srgbClr val="FFFFFF">
              <a:alpha val="0"/>
            </a:srgbClr>
          </a:solidFill>
          <a:ln w="0">
            <a:solidFill>
              <a:srgbClr val="000000">
                <a:alpha val="0"/>
              </a:srgbClr>
            </a:solidFill>
            <a:prstDash val="solid"/>
          </a:ln>
        </p:spPr>
        <p:txBody>
          <a:bodyPr lIns="171450" tIns="152400" rIns="171450" bIns="133350" anchor="t">
            <a:normAutofit/>
          </a:bodyPr>
          <a:lstStyle/>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export async function uploadPDF(file) {</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const formData = new FormData()</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formData.append("file", file)</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const response = await fetch(</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`${API}/upload?chat_id=${encodeURIComponent(CHAT_ID)}`,</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 method: "POST", body: formData },</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  return readJSON(response)</a:t>
            </a:r>
          </a:p>
          <a:p>
            <a:pPr algn="l">
              <a:buNone/>
              <a:defRPr sz="1125" b="0">
                <a:solidFill>
                  <a:srgbClr val="F1F6FA"/>
                </a:solidFill>
                <a:latin typeface="Monaco"/>
                <a:ea typeface="Monaco"/>
                <a:cs typeface="Monaco"/>
              </a:defRPr>
            </a:pPr>
            <a:r>
              <a:rPr sz="1275" b="0">
                <a:solidFill>
                  <a:srgbClr val="F4F8FB"/>
                </a:solidFill>
                <a:latin typeface="Consolas"/>
                <a:ea typeface="Consolas"/>
                <a:cs typeface="Consolas"/>
              </a:rPr>
              <a:t>}</a:t>
            </a:r>
          </a:p>
        </p:txBody>
      </p:sp>
      <p:sp>
        <p:nvSpPr>
          <p:cNvPr id="17" name="圆角矩形 16"/>
          <p:cNvSpPr>
            <a:spLocks noGrp="1"/>
          </p:cNvSpPr>
          <p:nvPr/>
        </p:nvSpPr>
        <p:spPr>
          <a:xfrm>
            <a:off x="7600950" y="1428750"/>
            <a:ext cx="3390900" cy="895350"/>
          </a:xfrm>
          <a:prstGeom prst="roundRect">
            <a:avLst>
              <a:gd name="adj" fmla="val 8511"/>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810500" y="1590675"/>
            <a:ext cx="2971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FormData</a:t>
            </a:r>
          </a:p>
        </p:txBody>
      </p:sp>
      <p:sp>
        <p:nvSpPr>
          <p:cNvPr id="19" name="矩形 18"/>
          <p:cNvSpPr>
            <a:spLocks noGrp="1"/>
          </p:cNvSpPr>
          <p:nvPr/>
        </p:nvSpPr>
        <p:spPr>
          <a:xfrm>
            <a:off x="7810500" y="1981200"/>
            <a:ext cx="29718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The file field maps to the backend UploadFile.</a:t>
            </a:r>
          </a:p>
        </p:txBody>
      </p:sp>
      <p:sp>
        <p:nvSpPr>
          <p:cNvPr id="20" name="圆角矩形 19"/>
          <p:cNvSpPr>
            <a:spLocks noGrp="1"/>
          </p:cNvSpPr>
          <p:nvPr/>
        </p:nvSpPr>
        <p:spPr>
          <a:xfrm>
            <a:off x="7600950" y="2514600"/>
            <a:ext cx="3390900" cy="895350"/>
          </a:xfrm>
          <a:prstGeom prst="roundRect">
            <a:avLst>
              <a:gd name="adj" fmla="val 8511"/>
            </a:avLst>
          </a:prstGeom>
          <a:solidFill>
            <a:srgbClr val="FFF1EE"/>
          </a:solidFill>
          <a:ln w="9525">
            <a:solidFill>
              <a:srgbClr val="C85A4E"/>
            </a:solidFill>
            <a:prstDash val="solid"/>
          </a:ln>
        </p:spPr>
        <p:txBody>
          <a:bodyPr/>
          <a:lstStyle/>
          <a:p>
            <a:endParaRPr/>
          </a:p>
        </p:txBody>
      </p:sp>
      <p:sp>
        <p:nvSpPr>
          <p:cNvPr id="21" name="矩形 20"/>
          <p:cNvSpPr>
            <a:spLocks noGrp="1"/>
          </p:cNvSpPr>
          <p:nvPr/>
        </p:nvSpPr>
        <p:spPr>
          <a:xfrm>
            <a:off x="7810500" y="2676525"/>
            <a:ext cx="2971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APP.JSX CALLS THE HELPER</a:t>
            </a:r>
          </a:p>
        </p:txBody>
      </p:sp>
      <p:sp>
        <p:nvSpPr>
          <p:cNvPr id="22" name="矩形 21"/>
          <p:cNvSpPr>
            <a:spLocks noGrp="1"/>
          </p:cNvSpPr>
          <p:nvPr/>
        </p:nvSpPr>
        <p:spPr>
          <a:xfrm>
            <a:off x="7810500" y="3067050"/>
            <a:ext cx="297180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78168"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App.jsx clears old results, sets status, then awaits uploadPDF(file).</a:t>
            </a:r>
          </a:p>
        </p:txBody>
      </p:sp>
      <p:sp>
        <p:nvSpPr>
          <p:cNvPr id="23" name="圆角矩形 22"/>
          <p:cNvSpPr>
            <a:spLocks noGrp="1"/>
          </p:cNvSpPr>
          <p:nvPr/>
        </p:nvSpPr>
        <p:spPr>
          <a:xfrm>
            <a:off x="7600950" y="3600450"/>
            <a:ext cx="3390900" cy="1238250"/>
          </a:xfrm>
          <a:prstGeom prst="roundRect">
            <a:avLst>
              <a:gd name="adj" fmla="val 6154"/>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810500" y="3762375"/>
            <a:ext cx="2971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NETWORK SHOULD SHOW</a:t>
            </a:r>
          </a:p>
        </p:txBody>
      </p:sp>
      <p:sp>
        <p:nvSpPr>
          <p:cNvPr id="25" name="矩形 24"/>
          <p:cNvSpPr>
            <a:spLocks noGrp="1"/>
          </p:cNvSpPr>
          <p:nvPr/>
        </p:nvSpPr>
        <p:spPr>
          <a:xfrm>
            <a:off x="7810500" y="4152900"/>
            <a:ext cx="2971800" cy="552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POST /upload?chat_id=day2-demo · multipart · 200. On failure, the UI displays the backend detail.</a:t>
            </a:r>
          </a:p>
        </p:txBody>
      </p:sp>
      <p:sp>
        <p:nvSpPr>
          <p:cNvPr id="26" name="圆角矩形 25"/>
          <p:cNvSpPr>
            <a:spLocks noGrp="1"/>
          </p:cNvSpPr>
          <p:nvPr/>
        </p:nvSpPr>
        <p:spPr>
          <a:xfrm>
            <a:off x="7048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Select a PDF and click Upload</a:t>
            </a:r>
          </a:p>
        </p:txBody>
      </p:sp>
      <p:sp>
        <p:nvSpPr>
          <p:cNvPr id="29" name="圆角矩形 28"/>
          <p:cNvSpPr>
            <a:spLocks noGrp="1"/>
          </p:cNvSpPr>
          <p:nvPr/>
        </p:nvSpPr>
        <p:spPr>
          <a:xfrm>
            <a:off x="438150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idle + upload receipt</a:t>
            </a:r>
          </a:p>
        </p:txBody>
      </p:sp>
      <p:sp>
        <p:nvSpPr>
          <p:cNvPr id="32" name="圆角矩形 31"/>
          <p:cNvSpPr>
            <a:spLocks noGrp="1"/>
          </p:cNvSpPr>
          <p:nvPr/>
        </p:nvSpPr>
        <p:spPr>
          <a:xfrm>
            <a:off x="80581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400 → check the file field and type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REACT · CHAT</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Browser fetch: send message and chat_id in JSON</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30</a:t>
            </a:r>
          </a:p>
        </p:txBody>
      </p:sp>
      <p:sp>
        <p:nvSpPr>
          <p:cNvPr id="14" name="圆角矩形 13"/>
          <p:cNvSpPr>
            <a:spLocks noGrp="1"/>
          </p:cNvSpPr>
          <p:nvPr/>
        </p:nvSpPr>
        <p:spPr>
          <a:xfrm>
            <a:off x="685800" y="1409700"/>
            <a:ext cx="6324600" cy="3429000"/>
          </a:xfrm>
          <a:prstGeom prst="roundRect">
            <a:avLst>
              <a:gd name="adj" fmla="val 2222"/>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9817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SRC/API.JS · CHAT HELPER; APP.JSX OWNS THE TIMELINE</a:t>
            </a:r>
          </a:p>
        </p:txBody>
      </p:sp>
      <p:sp>
        <p:nvSpPr>
          <p:cNvPr id="16" name="矩形 15"/>
          <p:cNvSpPr>
            <a:spLocks noGrp="1"/>
          </p:cNvSpPr>
          <p:nvPr/>
        </p:nvSpPr>
        <p:spPr>
          <a:xfrm>
            <a:off x="857250" y="1809750"/>
            <a:ext cx="5981700" cy="2914650"/>
          </a:xfrm>
          <a:prstGeom prst="rect">
            <a:avLst/>
          </a:prstGeom>
          <a:solidFill>
            <a:srgbClr val="FFFFFF">
              <a:alpha val="0"/>
            </a:srgbClr>
          </a:solidFill>
          <a:ln w="0">
            <a:solidFill>
              <a:srgbClr val="000000">
                <a:alpha val="0"/>
              </a:srgbClr>
            </a:solidFill>
            <a:prstDash val="solid"/>
          </a:ln>
        </p:spPr>
        <p:txBody>
          <a:bodyPr lIns="171450" tIns="152400" rIns="171450" bIns="133350" anchor="t">
            <a:normAutofit/>
          </a:bodyPr>
          <a:lstStyle/>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export async function askQuestion(message) {</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  const response = await fetch(`${API}/chat`, {</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    method: "POST",</a:t>
            </a:r>
          </a:p>
          <a:p>
            <a:r>
              <a:rPr sz="1275">
                <a:solidFill>
                  <a:srgbClr val="F4F8FB"/>
                </a:solidFill>
                <a:latin typeface="Consolas"/>
                <a:ea typeface="Consolas"/>
                <a:cs typeface="Consolas"/>
              </a:rPr>
              <a:t>    headers: { "Content-Type": "application/json" },</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    body: JSON.stringify({ message, chat_id: CHAT_ID }),</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  })</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  return readJSON(response)</a:t>
            </a:r>
          </a:p>
          <a:p>
            <a:pPr algn="l">
              <a:buNone/>
              <a:defRPr sz="975" b="0">
                <a:solidFill>
                  <a:srgbClr val="F1F6FA"/>
                </a:solidFill>
                <a:latin typeface="Monaco"/>
                <a:ea typeface="Monaco"/>
                <a:cs typeface="Monaco"/>
              </a:defRPr>
            </a:pPr>
            <a:r>
              <a:rPr sz="1275" b="0">
                <a:solidFill>
                  <a:srgbClr val="F4F8FB"/>
                </a:solidFill>
                <a:latin typeface="Consolas"/>
                <a:ea typeface="Consolas"/>
                <a:cs typeface="Consolas"/>
              </a:rPr>
              <a:t>}</a:t>
            </a:r>
          </a:p>
        </p:txBody>
      </p:sp>
      <p:sp>
        <p:nvSpPr>
          <p:cNvPr id="17" name="圆角矩形 16"/>
          <p:cNvSpPr>
            <a:spLocks noGrp="1"/>
          </p:cNvSpPr>
          <p:nvPr/>
        </p:nvSpPr>
        <p:spPr>
          <a:xfrm>
            <a:off x="7372350" y="1409700"/>
            <a:ext cx="3638550" cy="2857500"/>
          </a:xfrm>
          <a:prstGeom prst="roundRect">
            <a:avLst>
              <a:gd name="adj" fmla="val 2667"/>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7543800" y="1543050"/>
            <a:ext cx="32956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THE SAME STATE SET PROTECTS BOTH REQUESTS</a:t>
            </a:r>
          </a:p>
        </p:txBody>
      </p:sp>
      <p:sp>
        <p:nvSpPr>
          <p:cNvPr id="19" name="矩形 18"/>
          <p:cNvSpPr>
            <a:spLocks noGrp="1"/>
          </p:cNvSpPr>
          <p:nvPr/>
        </p:nvSpPr>
        <p:spPr>
          <a:xfrm>
            <a:off x="7543800" y="1809750"/>
            <a:ext cx="3295650" cy="2343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const</a:t>
            </a:r>
            <a:r>
              <a:rPr sz="1050" b="0">
                <a:solidFill>
                  <a:srgbClr val="F1F6FA"/>
                </a:solidFill>
                <a:latin typeface="Monaco"/>
                <a:ea typeface="Monaco"/>
                <a:cs typeface="Monaco"/>
              </a:rPr>
              <a:t> busy = [</a:t>
            </a:r>
            <a:r>
              <a:rPr sz="1050" b="0">
                <a:solidFill>
                  <a:srgbClr val="F6C85F"/>
                </a:solidFill>
                <a:latin typeface="Monaco"/>
                <a:ea typeface="Monaco"/>
                <a:cs typeface="Monaco"/>
              </a:rPr>
              <a:t>"uploading"</a:t>
            </a:r>
            <a:r>
              <a:rPr sz="1050" b="0">
                <a:solidFill>
                  <a:srgbClr val="F1F6FA"/>
                </a:solidFill>
                <a:latin typeface="Monaco"/>
                <a:ea typeface="Monaco"/>
                <a:cs typeface="Monaco"/>
              </a:rPr>
              <a:t>, </a:t>
            </a:r>
            <a:r>
              <a:rPr sz="1050" b="0">
                <a:solidFill>
                  <a:srgbClr val="F6C85F"/>
                </a:solidFill>
                <a:latin typeface="Monaco"/>
                <a:ea typeface="Monaco"/>
                <a:cs typeface="Monaco"/>
              </a:rPr>
              <a:t>"asking"</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70D6E8"/>
                </a:solidFill>
                <a:latin typeface="Monaco"/>
                <a:ea typeface="Monaco"/>
                <a:cs typeface="Monaco"/>
              </a:rPr>
              <a:t>includes</a:t>
            </a:r>
            <a:r>
              <a:rPr sz="1050" b="0">
                <a:solidFill>
                  <a:srgbClr val="F1F6FA"/>
                </a:solidFill>
                <a:latin typeface="Monaco"/>
                <a:ea typeface="Monaco"/>
                <a:cs typeface="Monaco"/>
              </a:rPr>
              <a:t>(status)</a:t>
            </a:r>
          </a:p>
          <a:p>
            <a:endParaRPr sz="1050"/>
          </a:p>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const</a:t>
            </a:r>
            <a:r>
              <a:rPr sz="1050" b="0">
                <a:solidFill>
                  <a:srgbClr val="F1F6FA"/>
                </a:solidFill>
                <a:latin typeface="Monaco"/>
                <a:ea typeface="Monaco"/>
                <a:cs typeface="Monaco"/>
              </a:rPr>
              <a:t> uploadDisabled = !file || busy</a:t>
            </a:r>
          </a:p>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const</a:t>
            </a:r>
            <a:r>
              <a:rPr sz="1050" b="0">
                <a:solidFill>
                  <a:srgbClr val="F1F6FA"/>
                </a:solidFill>
                <a:latin typeface="Monaco"/>
                <a:ea typeface="Monaco"/>
                <a:cs typeface="Monaco"/>
              </a:rPr>
              <a:t> askDisabled =</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!upload || !message.</a:t>
            </a:r>
            <a:r>
              <a:rPr sz="1050" b="0">
                <a:solidFill>
                  <a:srgbClr val="70D6E8"/>
                </a:solidFill>
                <a:latin typeface="Monaco"/>
                <a:ea typeface="Monaco"/>
                <a:cs typeface="Monaco"/>
              </a:rPr>
              <a:t>trim</a:t>
            </a:r>
            <a:r>
              <a:rPr sz="1050" b="0">
                <a:solidFill>
                  <a:srgbClr val="F1F6FA"/>
                </a:solidFill>
                <a:latin typeface="Monaco"/>
                <a:ea typeface="Monaco"/>
                <a:cs typeface="Monaco"/>
              </a:rPr>
              <a:t>() || busy</a:t>
            </a:r>
          </a:p>
          <a:p>
            <a:endParaRPr sz="1050"/>
          </a:p>
          <a:p>
            <a:pPr algn="l">
              <a:buNone/>
              <a:defRPr sz="1050" b="0">
                <a:solidFill>
                  <a:srgbClr val="F1F6FA"/>
                </a:solidFill>
                <a:latin typeface="Monaco"/>
                <a:ea typeface="Monaco"/>
                <a:cs typeface="Monaco"/>
              </a:defRPr>
            </a:pPr>
            <a:r>
              <a:rPr sz="1050" b="0">
                <a:solidFill>
                  <a:srgbClr val="7893A6"/>
                </a:solidFill>
                <a:latin typeface="Monaco"/>
                <a:ea typeface="Monaco"/>
                <a:cs typeface="Monaco"/>
              </a:rPr>
              <a:t>// UI rules</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Upload button.disabled = uploadDisabled</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Ask button.disabled = askDisabled</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answer text = answer?.answer</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page chips = answer?.citations</a:t>
            </a:r>
          </a:p>
        </p:txBody>
      </p:sp>
      <p:sp>
        <p:nvSpPr>
          <p:cNvPr id="20" name="矩形 19"/>
          <p:cNvSpPr>
            <a:spLocks noGrp="1"/>
          </p:cNvSpPr>
          <p:nvPr/>
        </p:nvSpPr>
        <p:spPr>
          <a:xfrm>
            <a:off x="7410450" y="4514850"/>
            <a:ext cx="35433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10000"/>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Clear the old answer before a new action; disable both buttons while a request is running.</a:t>
            </a:r>
          </a:p>
        </p:txBody>
      </p:sp>
      <p:sp>
        <p:nvSpPr>
          <p:cNvPr id="21" name="圆角矩形 20"/>
          <p:cNvSpPr>
            <a:spLocks noGrp="1"/>
          </p:cNvSpPr>
          <p:nvPr/>
        </p:nvSpPr>
        <p:spPr>
          <a:xfrm>
            <a:off x="7048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2" name="矩形 21"/>
          <p:cNvSpPr>
            <a:spLocks noGrp="1"/>
          </p:cNvSpPr>
          <p:nvPr/>
        </p:nvSpPr>
        <p:spPr>
          <a:xfrm>
            <a:off x="8382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3" name="矩形 22"/>
          <p:cNvSpPr>
            <a:spLocks noGrp="1"/>
          </p:cNvSpPr>
          <p:nvPr/>
        </p:nvSpPr>
        <p:spPr>
          <a:xfrm>
            <a:off x="15430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Send a known-answer question</a:t>
            </a:r>
          </a:p>
        </p:txBody>
      </p:sp>
      <p:sp>
        <p:nvSpPr>
          <p:cNvPr id="24" name="圆角矩形 23"/>
          <p:cNvSpPr>
            <a:spLocks noGrp="1"/>
          </p:cNvSpPr>
          <p:nvPr/>
        </p:nvSpPr>
        <p:spPr>
          <a:xfrm>
            <a:off x="438150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5" name="矩形 24"/>
          <p:cNvSpPr>
            <a:spLocks noGrp="1"/>
          </p:cNvSpPr>
          <p:nvPr/>
        </p:nvSpPr>
        <p:spPr>
          <a:xfrm>
            <a:off x="451485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26" name="矩形 25"/>
          <p:cNvSpPr>
            <a:spLocks noGrp="1"/>
          </p:cNvSpPr>
          <p:nvPr/>
        </p:nvSpPr>
        <p:spPr>
          <a:xfrm>
            <a:off x="521970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answer + Page tags</a:t>
            </a:r>
          </a:p>
        </p:txBody>
      </p:sp>
      <p:sp>
        <p:nvSpPr>
          <p:cNvPr id="27" name="圆角矩形 26"/>
          <p:cNvSpPr>
            <a:spLocks noGrp="1"/>
          </p:cNvSpPr>
          <p:nvPr/>
        </p:nvSpPr>
        <p:spPr>
          <a:xfrm>
            <a:off x="8058150" y="52387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8" name="矩形 27"/>
          <p:cNvSpPr>
            <a:spLocks noGrp="1"/>
          </p:cNvSpPr>
          <p:nvPr/>
        </p:nvSpPr>
        <p:spPr>
          <a:xfrm>
            <a:off x="8191500" y="53530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29" name="矩形 28"/>
          <p:cNvSpPr>
            <a:spLocks noGrp="1"/>
          </p:cNvSpPr>
          <p:nvPr/>
        </p:nvSpPr>
        <p:spPr>
          <a:xfrm>
            <a:off x="8896350" y="53340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422 → compare against the JSON contract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CORS + ENV</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.env and CORS: help the two addresses recognize each other</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B · REACT INTEGRATION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31</a:t>
            </a:r>
          </a:p>
        </p:txBody>
      </p:sp>
      <p:sp>
        <p:nvSpPr>
          <p:cNvPr id="14" name="圆角矩形 13"/>
          <p:cNvSpPr>
            <a:spLocks noGrp="1"/>
          </p:cNvSpPr>
          <p:nvPr/>
        </p:nvSpPr>
        <p:spPr>
          <a:xfrm>
            <a:off x="685800" y="1409700"/>
            <a:ext cx="5143500" cy="3067050"/>
          </a:xfrm>
          <a:prstGeom prst="roundRect">
            <a:avLst>
              <a:gd name="adj" fmla="val 2484"/>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4800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SRC/API.JS + .ENV ON BOTH SIDES · ONE URL, TWO BACKEND SETTINGS</a:t>
            </a:r>
          </a:p>
        </p:txBody>
      </p:sp>
      <p:sp>
        <p:nvSpPr>
          <p:cNvPr id="16" name="矩形 15"/>
          <p:cNvSpPr>
            <a:spLocks noGrp="1"/>
          </p:cNvSpPr>
          <p:nvPr/>
        </p:nvSpPr>
        <p:spPr>
          <a:xfrm>
            <a:off x="857250" y="1809750"/>
            <a:ext cx="4800600" cy="25527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F1F6FA"/>
                </a:solidFill>
                <a:latin typeface="Monaco"/>
                <a:ea typeface="Monaco"/>
                <a:cs typeface="Monaco"/>
              </a:defRPr>
            </a:pPr>
            <a:r>
              <a:rPr sz="1050" b="0">
                <a:solidFill>
                  <a:srgbClr val="7893A6"/>
                </a:solidFill>
                <a:latin typeface="Monaco"/>
                <a:ea typeface="Monaco"/>
                <a:cs typeface="Monaco"/>
              </a:rPr>
              <a:t># Frontend .env · included in the browser</a:t>
            </a:r>
          </a:p>
          <a:p>
            <a:pPr algn="l">
              <a:buNone/>
              <a:defRPr sz="1050" b="0">
                <a:solidFill>
                  <a:srgbClr val="F1F6FA"/>
                </a:solidFill>
                <a:latin typeface="Monaco"/>
                <a:ea typeface="Monaco"/>
                <a:cs typeface="Monaco"/>
              </a:defRPr>
            </a:pPr>
            <a:r>
              <a:rPr sz="1050" b="0">
                <a:solidFill>
                  <a:srgbClr val="A7E3A1"/>
                </a:solidFill>
                <a:latin typeface="Monaco"/>
                <a:ea typeface="Monaco"/>
                <a:cs typeface="Monaco"/>
              </a:rPr>
              <a:t>VITE_API_URL</a:t>
            </a:r>
            <a:r>
              <a:rPr sz="1050" b="0">
                <a:solidFill>
                  <a:srgbClr val="F1F6FA"/>
                </a:solidFill>
                <a:latin typeface="Monaco"/>
                <a:ea typeface="Monaco"/>
                <a:cs typeface="Monaco"/>
              </a:rPr>
              <a:t>=http://localhost:</a:t>
            </a:r>
            <a:r>
              <a:rPr sz="1050" b="0">
                <a:solidFill>
                  <a:srgbClr val="A7E3A1"/>
                </a:solidFill>
                <a:latin typeface="Monaco"/>
                <a:ea typeface="Monaco"/>
                <a:cs typeface="Monaco"/>
              </a:rPr>
              <a:t>8000</a:t>
            </a:r>
          </a:p>
          <a:p>
            <a:endParaRPr sz="1050"/>
          </a:p>
          <a:p>
            <a:pPr algn="l">
              <a:buNone/>
              <a:defRPr sz="1050" b="0">
                <a:solidFill>
                  <a:srgbClr val="F1F6FA"/>
                </a:solidFill>
                <a:latin typeface="Monaco"/>
                <a:ea typeface="Monaco"/>
                <a:cs typeface="Monaco"/>
              </a:defRPr>
            </a:pPr>
            <a:r>
              <a:rPr sz="1050" b="0">
                <a:solidFill>
                  <a:srgbClr val="7893A6"/>
                </a:solidFill>
                <a:latin typeface="Monaco"/>
                <a:ea typeface="Monaco"/>
                <a:cs typeface="Monaco"/>
              </a:rPr>
              <a:t># api.js</a:t>
            </a:r>
          </a:p>
          <a:p>
            <a:pPr algn="l">
              <a:buNone/>
              <a:defRPr sz="1050" b="0">
                <a:solidFill>
                  <a:srgbClr val="F1F6FA"/>
                </a:solidFill>
                <a:latin typeface="Monaco"/>
                <a:ea typeface="Monaco"/>
                <a:cs typeface="Monaco"/>
              </a:defRPr>
            </a:pPr>
            <a:r>
              <a:rPr sz="1050" b="0">
                <a:solidFill>
                  <a:srgbClr val="63B3ED"/>
                </a:solidFill>
                <a:latin typeface="Monaco"/>
                <a:ea typeface="Monaco"/>
                <a:cs typeface="Monaco"/>
              </a:rPr>
              <a:t>export</a:t>
            </a:r>
            <a:r>
              <a:rPr sz="1050" b="0">
                <a:solidFill>
                  <a:srgbClr val="F1F6FA"/>
                </a:solidFill>
                <a:latin typeface="Monaco"/>
                <a:ea typeface="Monaco"/>
                <a:cs typeface="Monaco"/>
              </a:rPr>
              <a:t> </a:t>
            </a:r>
            <a:r>
              <a:rPr sz="1050" b="0">
                <a:solidFill>
                  <a:srgbClr val="63B3ED"/>
                </a:solidFill>
                <a:latin typeface="Monaco"/>
                <a:ea typeface="Monaco"/>
                <a:cs typeface="Monaco"/>
              </a:rPr>
              <a:t>const</a:t>
            </a:r>
            <a:r>
              <a:rPr sz="1050" b="0">
                <a:solidFill>
                  <a:srgbClr val="F1F6FA"/>
                </a:solidFill>
                <a:latin typeface="Monaco"/>
                <a:ea typeface="Monaco"/>
                <a:cs typeface="Monaco"/>
              </a:rPr>
              <a:t> API =</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63B3ED"/>
                </a:solidFill>
                <a:latin typeface="Monaco"/>
                <a:ea typeface="Monaco"/>
                <a:cs typeface="Monaco"/>
              </a:rPr>
              <a:t>import</a:t>
            </a:r>
            <a:r>
              <a:rPr sz="1050" b="0">
                <a:solidFill>
                  <a:srgbClr val="F1F6FA"/>
                </a:solidFill>
                <a:latin typeface="Monaco"/>
                <a:ea typeface="Monaco"/>
                <a:cs typeface="Monaco"/>
              </a:rPr>
              <a:t>.meta.env.</a:t>
            </a:r>
            <a:r>
              <a:rPr sz="1050" b="0">
                <a:solidFill>
                  <a:srgbClr val="A7E3A1"/>
                </a:solidFill>
                <a:latin typeface="Monaco"/>
                <a:ea typeface="Monaco"/>
                <a:cs typeface="Monaco"/>
              </a:rPr>
              <a:t>VITE_API_URL</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 </a:t>
            </a:r>
            <a:r>
              <a:rPr sz="1050" b="0">
                <a:solidFill>
                  <a:srgbClr val="F6C85F"/>
                </a:solidFill>
                <a:latin typeface="Monaco"/>
                <a:ea typeface="Monaco"/>
                <a:cs typeface="Monaco"/>
              </a:rPr>
              <a:t>"http://localhost:8000"</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Browser </a:t>
            </a:r>
            <a:r>
              <a:rPr sz="1050" b="0">
                <a:solidFill>
                  <a:srgbClr val="A7E3A1"/>
                </a:solidFill>
                <a:latin typeface="Monaco"/>
                <a:ea typeface="Monaco"/>
                <a:cs typeface="Monaco"/>
              </a:rPr>
              <a:t>fetch only</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fetch(API + "/health")</a:t>
            </a:r>
          </a:p>
          <a:p>
            <a:endParaRPr sz="1050"/>
          </a:p>
          <a:p>
            <a:pPr algn="l">
              <a:buNone/>
              <a:defRPr sz="1050" b="0">
                <a:solidFill>
                  <a:srgbClr val="F1F6FA"/>
                </a:solidFill>
                <a:latin typeface="Monaco"/>
                <a:ea typeface="Monaco"/>
                <a:cs typeface="Monaco"/>
              </a:defRPr>
            </a:pPr>
            <a:r>
              <a:rPr sz="1050" b="0">
                <a:solidFill>
                  <a:srgbClr val="7893A6"/>
                </a:solidFill>
                <a:latin typeface="Monaco"/>
                <a:ea typeface="Monaco"/>
                <a:cs typeface="Monaco"/>
              </a:rPr>
              <a:t># Backend .env · never exposed to the browser or Git</a:t>
            </a:r>
          </a:p>
          <a:p>
            <a:pPr algn="l">
              <a:buNone/>
              <a:defRPr sz="1050" b="0">
                <a:solidFill>
                  <a:srgbClr val="F1F6FA"/>
                </a:solidFill>
                <a:latin typeface="Monaco"/>
                <a:ea typeface="Monaco"/>
                <a:cs typeface="Monaco"/>
              </a:defRPr>
            </a:pPr>
            <a:r>
              <a:rPr sz="1050" b="0">
                <a:solidFill>
                  <a:srgbClr val="A7E3A1"/>
                </a:solidFill>
                <a:latin typeface="Monaco"/>
                <a:ea typeface="Monaco"/>
                <a:cs typeface="Monaco"/>
              </a:rPr>
              <a:t>ALLOWED_ORIGINS</a:t>
            </a:r>
            <a:r>
              <a:rPr sz="1050" b="0">
                <a:solidFill>
                  <a:srgbClr val="F1F6FA"/>
                </a:solidFill>
                <a:latin typeface="Monaco"/>
                <a:ea typeface="Monaco"/>
                <a:cs typeface="Monaco"/>
              </a:rPr>
              <a:t>=http://localhost:</a:t>
            </a:r>
            <a:r>
              <a:rPr sz="1050" b="0">
                <a:solidFill>
                  <a:srgbClr val="A7E3A1"/>
                </a:solidFill>
                <a:latin typeface="Monaco"/>
                <a:ea typeface="Monaco"/>
                <a:cs typeface="Monaco"/>
              </a:rPr>
              <a:t>5173</a:t>
            </a:r>
          </a:p>
          <a:p>
            <a:pPr algn="l">
              <a:buNone/>
              <a:defRPr sz="1050" b="0">
                <a:solidFill>
                  <a:srgbClr val="F1F6FA"/>
                </a:solidFill>
                <a:latin typeface="Monaco"/>
                <a:ea typeface="Monaco"/>
                <a:cs typeface="Monaco"/>
              </a:defRPr>
            </a:pPr>
            <a:r>
              <a:rPr sz="1050" b="0">
                <a:solidFill>
                  <a:srgbClr val="A7E3A1"/>
                </a:solidFill>
                <a:latin typeface="Monaco"/>
                <a:ea typeface="Monaco"/>
                <a:cs typeface="Monaco"/>
              </a:rPr>
              <a:t>OPENROUTER_API_KEY</a:t>
            </a:r>
            <a:r>
              <a:rPr sz="1050" b="0">
                <a:solidFill>
                  <a:srgbClr val="F1F6FA"/>
                </a:solidFill>
                <a:latin typeface="Monaco"/>
                <a:ea typeface="Monaco"/>
                <a:cs typeface="Monaco"/>
              </a:rPr>
              <a:t>=&lt;local-only-key&gt;</a:t>
            </a:r>
          </a:p>
          <a:p>
            <a:pPr algn="l">
              <a:buNone/>
              <a:defRPr sz="1050" b="0">
                <a:solidFill>
                  <a:srgbClr val="F1F6FA"/>
                </a:solidFill>
                <a:latin typeface="Monaco"/>
                <a:ea typeface="Monaco"/>
                <a:cs typeface="Monaco"/>
              </a:defRPr>
            </a:pPr>
            <a:r>
              <a:rPr sz="1050" b="0">
                <a:solidFill>
                  <a:srgbClr val="A7E3A1"/>
                </a:solidFill>
                <a:latin typeface="Monaco"/>
                <a:ea typeface="Monaco"/>
                <a:cs typeface="Monaco"/>
              </a:rPr>
              <a:t># Upload pages</a:t>
            </a:r>
            <a:r>
              <a:rPr sz="1050" b="0">
                <a:solidFill>
                  <a:srgbClr val="F1F6FA"/>
                </a:solidFill>
                <a:latin typeface="Monaco"/>
                <a:ea typeface="Monaco"/>
                <a:cs typeface="Monaco"/>
              </a:rPr>
              <a:t> stay in memory by chat_id</a:t>
            </a:r>
          </a:p>
          <a:p>
            <a:pPr algn="l">
              <a:buNone/>
              <a:defRPr sz="1050" b="0">
                <a:solidFill>
                  <a:srgbClr val="F1F6FA"/>
                </a:solidFill>
                <a:latin typeface="Monaco"/>
                <a:ea typeface="Monaco"/>
                <a:cs typeface="Monaco"/>
              </a:defRPr>
            </a:pPr>
            <a:r>
              <a:rPr sz="1050" b="0">
                <a:solidFill>
                  <a:srgbClr val="A7E3A1"/>
                </a:solidFill>
                <a:latin typeface="Monaco"/>
                <a:ea typeface="Monaco"/>
                <a:cs typeface="Monaco"/>
              </a:rPr>
              <a:t># Upload files</a:t>
            </a:r>
            <a:r>
              <a:rPr sz="1050" b="0">
                <a:solidFill>
                  <a:srgbClr val="F1F6FA"/>
                </a:solidFill>
                <a:latin typeface="Monaco"/>
                <a:ea typeface="Monaco"/>
                <a:cs typeface="Monaco"/>
              </a:rPr>
              <a:t> are never written to disk</a:t>
            </a:r>
          </a:p>
        </p:txBody>
      </p:sp>
      <p:sp>
        <p:nvSpPr>
          <p:cNvPr id="17" name="圆角矩形 16"/>
          <p:cNvSpPr>
            <a:spLocks noGrp="1"/>
          </p:cNvSpPr>
          <p:nvPr/>
        </p:nvSpPr>
        <p:spPr>
          <a:xfrm>
            <a:off x="6172200" y="1409700"/>
            <a:ext cx="4953000" cy="3067050"/>
          </a:xfrm>
          <a:prstGeom prst="roundRect">
            <a:avLst>
              <a:gd name="adj" fmla="val 2484"/>
            </a:avLst>
          </a:prstGeom>
          <a:solidFill>
            <a:srgbClr val="003B74"/>
          </a:solidFill>
          <a:ln w="9525">
            <a:solidFill>
              <a:srgbClr val="003B74"/>
            </a:solidFill>
            <a:prstDash val="solid"/>
          </a:ln>
        </p:spPr>
        <p:txBody>
          <a:bodyPr/>
          <a:lstStyle/>
          <a:p>
            <a:endParaRPr/>
          </a:p>
        </p:txBody>
      </p:sp>
      <p:sp>
        <p:nvSpPr>
          <p:cNvPr id="18" name="矩形 17"/>
          <p:cNvSpPr>
            <a:spLocks noGrp="1"/>
          </p:cNvSpPr>
          <p:nvPr/>
        </p:nvSpPr>
        <p:spPr>
          <a:xfrm>
            <a:off x="6343650" y="1543050"/>
            <a:ext cx="46101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MAIN.PY · YOUR IMPLEMENTATION · CORS FOR THE VITE ORIGIN</a:t>
            </a:r>
          </a:p>
        </p:txBody>
      </p:sp>
      <p:sp>
        <p:nvSpPr>
          <p:cNvPr id="19" name="矩形 18"/>
          <p:cNvSpPr>
            <a:spLocks noGrp="1"/>
          </p:cNvSpPr>
          <p:nvPr/>
        </p:nvSpPr>
        <p:spPr>
          <a:xfrm>
            <a:off x="6343650" y="1809750"/>
            <a:ext cx="4610100" cy="2552700"/>
          </a:xfrm>
          <a:prstGeom prst="rect">
            <a:avLst/>
          </a:prstGeom>
          <a:solidFill>
            <a:srgbClr val="FFFFFF">
              <a:alpha val="0"/>
            </a:srgbClr>
          </a:solidFill>
          <a:ln w="0">
            <a:solidFill>
              <a:srgbClr val="000000">
                <a:alpha val="0"/>
              </a:srgbClr>
            </a:solidFill>
            <a:prstDash val="solid"/>
          </a:ln>
        </p:spPr>
        <p:txBody>
          <a:bodyPr lIns="0" tIns="0" rIns="0" bIns="0" anchor="t">
            <a:normAutofit fontScale="93838"/>
          </a:bodyPr>
          <a:lstStyle/>
          <a:p>
            <a:pPr algn="l">
              <a:buNone/>
              <a:defRPr sz="1050" b="0">
                <a:solidFill>
                  <a:srgbClr val="F1F6FA"/>
                </a:solidFill>
                <a:latin typeface="Monaco"/>
                <a:ea typeface="Monaco"/>
                <a:cs typeface="Monaco"/>
              </a:defRPr>
            </a:pPr>
            <a:r>
              <a:rPr sz="1050" b="0">
                <a:solidFill>
                  <a:srgbClr val="70D6E8"/>
                </a:solidFill>
                <a:latin typeface="Monaco"/>
                <a:ea typeface="Monaco"/>
                <a:cs typeface="Monaco"/>
              </a:rPr>
              <a:t>load_dotenv</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origins = [</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origin.</a:t>
            </a:r>
            <a:r>
              <a:rPr sz="1050" b="0">
                <a:solidFill>
                  <a:srgbClr val="70D6E8"/>
                </a:solidFill>
                <a:latin typeface="Monaco"/>
                <a:ea typeface="Monaco"/>
                <a:cs typeface="Monaco"/>
              </a:rPr>
              <a:t>strip</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63B3ED"/>
                </a:solidFill>
                <a:latin typeface="Monaco"/>
                <a:ea typeface="Monaco"/>
                <a:cs typeface="Monaco"/>
              </a:rPr>
              <a:t>for</a:t>
            </a:r>
            <a:r>
              <a:rPr sz="1050" b="0">
                <a:solidFill>
                  <a:srgbClr val="F1F6FA"/>
                </a:solidFill>
                <a:latin typeface="Monaco"/>
                <a:ea typeface="Monaco"/>
                <a:cs typeface="Monaco"/>
              </a:rPr>
              <a:t> origin </a:t>
            </a:r>
            <a:r>
              <a:rPr sz="1050" b="0">
                <a:solidFill>
                  <a:srgbClr val="63B3ED"/>
                </a:solidFill>
                <a:latin typeface="Monaco"/>
                <a:ea typeface="Monaco"/>
                <a:cs typeface="Monaco"/>
              </a:rPr>
              <a:t>in</a:t>
            </a:r>
            <a:r>
              <a:rPr sz="1050" b="0">
                <a:solidFill>
                  <a:srgbClr val="F1F6FA"/>
                </a:solidFill>
                <a:latin typeface="Monaco"/>
                <a:ea typeface="Monaco"/>
                <a:cs typeface="Monaco"/>
              </a:rPr>
              <a:t> os.</a:t>
            </a:r>
            <a:r>
              <a:rPr sz="1050" b="0">
                <a:solidFill>
                  <a:srgbClr val="70D6E8"/>
                </a:solidFill>
                <a:latin typeface="Monaco"/>
                <a:ea typeface="Monaco"/>
                <a:cs typeface="Monaco"/>
              </a:rPr>
              <a:t>getenv</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F6C85F"/>
                </a:solidFill>
                <a:latin typeface="Monaco"/>
                <a:ea typeface="Monaco"/>
                <a:cs typeface="Monaco"/>
              </a:rPr>
              <a:t>"ALLOWED_ORIGINS"</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F6C85F"/>
                </a:solidFill>
                <a:latin typeface="Monaco"/>
                <a:ea typeface="Monaco"/>
                <a:cs typeface="Monaco"/>
              </a:rPr>
              <a:t>"http://localhost:5173"</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70D6E8"/>
                </a:solidFill>
                <a:latin typeface="Monaco"/>
                <a:ea typeface="Monaco"/>
                <a:cs typeface="Monaco"/>
              </a:rPr>
              <a:t>split</a:t>
            </a:r>
            <a:r>
              <a:rPr sz="1050" b="0">
                <a:solidFill>
                  <a:srgbClr val="F1F6FA"/>
                </a:solidFill>
                <a:latin typeface="Monaco"/>
                <a:ea typeface="Monaco"/>
                <a:cs typeface="Monaco"/>
              </a:rPr>
              <a:t>(</a:t>
            </a:r>
            <a:r>
              <a:rPr sz="1050" b="0">
                <a:solidFill>
                  <a:srgbClr val="F6C85F"/>
                </a:solidFill>
                <a:latin typeface="Monaco"/>
                <a:ea typeface="Monaco"/>
                <a:cs typeface="Monaco"/>
              </a:rPr>
              <a:t>","</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t>
            </a:r>
            <a:r>
              <a:rPr sz="1050" b="0">
                <a:solidFill>
                  <a:srgbClr val="63B3ED"/>
                </a:solidFill>
                <a:latin typeface="Monaco"/>
                <a:ea typeface="Monaco"/>
                <a:cs typeface="Monaco"/>
              </a:rPr>
              <a:t>if</a:t>
            </a:r>
            <a:r>
              <a:rPr sz="1050" b="0">
                <a:solidFill>
                  <a:srgbClr val="F1F6FA"/>
                </a:solidFill>
                <a:latin typeface="Monaco"/>
                <a:ea typeface="Monaco"/>
                <a:cs typeface="Monaco"/>
              </a:rPr>
              <a:t> origin.</a:t>
            </a:r>
            <a:r>
              <a:rPr sz="1050" b="0">
                <a:solidFill>
                  <a:srgbClr val="70D6E8"/>
                </a:solidFill>
                <a:latin typeface="Monaco"/>
                <a:ea typeface="Monaco"/>
                <a:cs typeface="Monaco"/>
              </a:rPr>
              <a:t>strip</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a:t>
            </a:r>
          </a:p>
          <a:p>
            <a:endParaRPr sz="1050"/>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app.</a:t>
            </a:r>
            <a:r>
              <a:rPr sz="1050" b="0">
                <a:solidFill>
                  <a:srgbClr val="70D6E8"/>
                </a:solidFill>
                <a:latin typeface="Monaco"/>
                <a:ea typeface="Monaco"/>
                <a:cs typeface="Monaco"/>
              </a:rPr>
              <a:t>add_middleware</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CORSMiddleware,</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allow_origins=origins,</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allow_credentials=</a:t>
            </a:r>
            <a:r>
              <a:rPr sz="1050" b="0">
                <a:solidFill>
                  <a:srgbClr val="72AD47"/>
                </a:solidFill>
                <a:latin typeface="Monaco"/>
                <a:ea typeface="Monaco"/>
                <a:cs typeface="Monaco"/>
              </a:rPr>
              <a:t>False</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allow_methods=[</a:t>
            </a:r>
            <a:r>
              <a:rPr sz="1050" b="0">
                <a:solidFill>
                  <a:srgbClr val="F6C85F"/>
                </a:solidFill>
                <a:latin typeface="Monaco"/>
                <a:ea typeface="Monaco"/>
                <a:cs typeface="Monaco"/>
              </a:rPr>
              <a:t>"GET"</a:t>
            </a:r>
            <a:r>
              <a:rPr sz="1050" b="0">
                <a:solidFill>
                  <a:srgbClr val="F1F6FA"/>
                </a:solidFill>
                <a:latin typeface="Monaco"/>
                <a:ea typeface="Monaco"/>
                <a:cs typeface="Monaco"/>
              </a:rPr>
              <a:t>, </a:t>
            </a:r>
            <a:r>
              <a:rPr sz="1050" b="0">
                <a:solidFill>
                  <a:srgbClr val="F6C85F"/>
                </a:solidFill>
                <a:latin typeface="Monaco"/>
                <a:ea typeface="Monaco"/>
                <a:cs typeface="Monaco"/>
              </a:rPr>
              <a:t>"POST"</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  allow_headers=[</a:t>
            </a:r>
            <a:r>
              <a:rPr sz="1050" b="0">
                <a:solidFill>
                  <a:srgbClr val="F6C85F"/>
                </a:solidFill>
                <a:latin typeface="Monaco"/>
                <a:ea typeface="Monaco"/>
                <a:cs typeface="Monaco"/>
              </a:rPr>
              <a:t>"Content-Type"</a:t>
            </a:r>
            <a:r>
              <a:rPr sz="1050" b="0">
                <a:solidFill>
                  <a:srgbClr val="F1F6FA"/>
                </a:solidFill>
                <a:latin typeface="Monaco"/>
                <a:ea typeface="Monaco"/>
                <a:cs typeface="Monaco"/>
              </a:rPr>
              <a:t>],</a:t>
            </a:r>
          </a:p>
          <a:p>
            <a:pPr algn="l">
              <a:buNone/>
              <a:defRPr sz="1050" b="0">
                <a:solidFill>
                  <a:srgbClr val="F1F6FA"/>
                </a:solidFill>
                <a:latin typeface="Monaco"/>
                <a:ea typeface="Monaco"/>
                <a:cs typeface="Monaco"/>
              </a:defRPr>
            </a:pPr>
            <a:r>
              <a:rPr sz="1050" b="0">
                <a:solidFill>
                  <a:srgbClr val="F1F6FA"/>
                </a:solidFill>
                <a:latin typeface="Monaco"/>
                <a:ea typeface="Monaco"/>
                <a:cs typeface="Monaco"/>
              </a:rPr>
              <a:t>)</a:t>
            </a:r>
          </a:p>
        </p:txBody>
      </p:sp>
      <p:sp>
        <p:nvSpPr>
          <p:cNvPr id="20" name="圆角矩形 19"/>
          <p:cNvSpPr>
            <a:spLocks noGrp="1"/>
          </p:cNvSpPr>
          <p:nvPr/>
        </p:nvSpPr>
        <p:spPr>
          <a:xfrm>
            <a:off x="685800" y="4743450"/>
            <a:ext cx="10439400" cy="552450"/>
          </a:xfrm>
          <a:prstGeom prst="roundRect">
            <a:avLst>
              <a:gd name="adj" fmla="val 13793"/>
            </a:avLst>
          </a:prstGeom>
          <a:solidFill>
            <a:srgbClr val="EEF7EE"/>
          </a:solidFill>
          <a:ln w="9525">
            <a:solidFill>
              <a:srgbClr val="39825B"/>
            </a:solidFill>
            <a:prstDash val="solid"/>
          </a:ln>
        </p:spPr>
        <p:txBody>
          <a:bodyPr/>
          <a:lstStyle/>
          <a:p>
            <a:endParaRPr/>
          </a:p>
        </p:txBody>
      </p:sp>
      <p:sp>
        <p:nvSpPr>
          <p:cNvPr id="21" name="矩形 20"/>
          <p:cNvSpPr>
            <a:spLocks noGrp="1"/>
          </p:cNvSpPr>
          <p:nvPr/>
        </p:nvSpPr>
        <p:spPr>
          <a:xfrm>
            <a:off x="895350" y="4829175"/>
            <a:ext cx="10020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ONE-SENTENCE CHECK</a:t>
            </a:r>
          </a:p>
        </p:txBody>
      </p:sp>
      <p:sp>
        <p:nvSpPr>
          <p:cNvPr id="22" name="矩形 21"/>
          <p:cNvSpPr>
            <a:spLocks noGrp="1"/>
          </p:cNvSpPr>
          <p:nvPr/>
        </p:nvSpPr>
        <p:spPr>
          <a:xfrm>
            <a:off x="895350" y="5067300"/>
            <a:ext cx="1002030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5173 and 8000 are different origins. CORS determines whether the browser may read a response; it is not user login or API authorization.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矩形 41"/>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WHICH LAYER SHOULD YOU CHECK FIRST?</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When an error appears, first ask: which layer is blocked?</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48–52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32</a:t>
            </a:r>
          </a:p>
        </p:txBody>
      </p:sp>
      <p:sp>
        <p:nvSpPr>
          <p:cNvPr id="14" name="矩形 13"/>
          <p:cNvSpPr>
            <a:spLocks noGrp="1"/>
          </p:cNvSpPr>
          <p:nvPr/>
        </p:nvSpPr>
        <p:spPr>
          <a:xfrm>
            <a:off x="857250" y="1466850"/>
            <a:ext cx="2095500" cy="247650"/>
          </a:xfrm>
          <a:prstGeom prst="rect">
            <a:avLst/>
          </a:prstGeom>
          <a:solidFill>
            <a:srgbClr val="003B74"/>
          </a:solidFill>
          <a:ln w="0">
            <a:solidFill>
              <a:srgbClr val="000000">
                <a:alpha val="0"/>
              </a:srgbClr>
            </a:solidFill>
            <a:prstDash val="solid"/>
          </a:ln>
        </p:spPr>
        <p:txBody>
          <a:bodyPr lIns="114300" tIns="47625" rIns="7620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SYMPTOM</a:t>
            </a:r>
          </a:p>
        </p:txBody>
      </p:sp>
      <p:sp>
        <p:nvSpPr>
          <p:cNvPr id="15" name="矩形 14"/>
          <p:cNvSpPr>
            <a:spLocks noGrp="1"/>
          </p:cNvSpPr>
          <p:nvPr/>
        </p:nvSpPr>
        <p:spPr>
          <a:xfrm>
            <a:off x="3333750" y="1466850"/>
            <a:ext cx="2095500" cy="247650"/>
          </a:xfrm>
          <a:prstGeom prst="rect">
            <a:avLst/>
          </a:prstGeom>
          <a:solidFill>
            <a:srgbClr val="003B74"/>
          </a:solidFill>
          <a:ln w="0">
            <a:solidFill>
              <a:srgbClr val="000000">
                <a:alpha val="0"/>
              </a:srgbClr>
            </a:solidFill>
            <a:prstDash val="solid"/>
          </a:ln>
        </p:spPr>
        <p:txBody>
          <a:bodyPr lIns="114300" tIns="47625" rIns="7620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CHECK FIRST</a:t>
            </a:r>
          </a:p>
        </p:txBody>
      </p:sp>
      <p:sp>
        <p:nvSpPr>
          <p:cNvPr id="16" name="矩形 15"/>
          <p:cNvSpPr>
            <a:spLocks noGrp="1"/>
          </p:cNvSpPr>
          <p:nvPr/>
        </p:nvSpPr>
        <p:spPr>
          <a:xfrm>
            <a:off x="5619750" y="1466850"/>
            <a:ext cx="5334000" cy="247650"/>
          </a:xfrm>
          <a:prstGeom prst="rect">
            <a:avLst/>
          </a:prstGeom>
          <a:solidFill>
            <a:srgbClr val="003B74"/>
          </a:solidFill>
          <a:ln w="0">
            <a:solidFill>
              <a:srgbClr val="000000">
                <a:alpha val="0"/>
              </a:srgbClr>
            </a:solidFill>
            <a:prstDash val="solid"/>
          </a:ln>
        </p:spPr>
        <p:txBody>
          <a:bodyPr lIns="114300" tIns="47625" rIns="7620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FIRST QUESTION</a:t>
            </a:r>
          </a:p>
        </p:txBody>
      </p:sp>
      <p:sp>
        <p:nvSpPr>
          <p:cNvPr id="17" name="矩形 16"/>
          <p:cNvSpPr>
            <a:spLocks noGrp="1"/>
          </p:cNvSpPr>
          <p:nvPr/>
        </p:nvSpPr>
        <p:spPr>
          <a:xfrm>
            <a:off x="857250" y="1752600"/>
            <a:ext cx="10096500" cy="495300"/>
          </a:xfrm>
          <a:prstGeom prst="rect">
            <a:avLst/>
          </a:prstGeom>
          <a:solidFill>
            <a:srgbClr val="F1F6FA"/>
          </a:solidFill>
          <a:ln w="9525">
            <a:solidFill>
              <a:srgbClr val="A7B8C8"/>
            </a:solidFill>
            <a:prstDash val="solid"/>
          </a:ln>
        </p:spPr>
        <p:txBody>
          <a:bodyPr/>
          <a:lstStyle/>
          <a:p>
            <a:endParaRPr/>
          </a:p>
        </p:txBody>
      </p:sp>
      <p:sp>
        <p:nvSpPr>
          <p:cNvPr id="18" name="矩形 17"/>
          <p:cNvSpPr>
            <a:spLocks noGrp="1"/>
          </p:cNvSpPr>
          <p:nvPr/>
        </p:nvSpPr>
        <p:spPr>
          <a:xfrm>
            <a:off x="971550" y="188595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UI does not change</a:t>
            </a:r>
          </a:p>
        </p:txBody>
      </p:sp>
      <p:sp>
        <p:nvSpPr>
          <p:cNvPr id="19" name="矩形 18"/>
          <p:cNvSpPr>
            <a:spLocks noGrp="1"/>
          </p:cNvSpPr>
          <p:nvPr/>
        </p:nvSpPr>
        <p:spPr>
          <a:xfrm>
            <a:off x="3333750" y="188595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UI state</a:t>
            </a:r>
          </a:p>
        </p:txBody>
      </p:sp>
      <p:sp>
        <p:nvSpPr>
          <p:cNvPr id="20" name="矩形 19"/>
          <p:cNvSpPr>
            <a:spLocks noGrp="1"/>
          </p:cNvSpPr>
          <p:nvPr/>
        </p:nvSpPr>
        <p:spPr>
          <a:xfrm>
            <a:off x="5734050" y="188595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Did the button or waiting message change?</a:t>
            </a:r>
          </a:p>
        </p:txBody>
      </p:sp>
      <p:sp>
        <p:nvSpPr>
          <p:cNvPr id="21" name="矩形 20"/>
          <p:cNvSpPr>
            <a:spLocks noGrp="1"/>
          </p:cNvSpPr>
          <p:nvPr/>
        </p:nvSpPr>
        <p:spPr>
          <a:xfrm>
            <a:off x="857250" y="2305050"/>
            <a:ext cx="10096500" cy="495300"/>
          </a:xfrm>
          <a:prstGeom prst="rect">
            <a:avLst/>
          </a:prstGeom>
          <a:solidFill>
            <a:srgbClr val="FFFFFF"/>
          </a:solidFill>
          <a:ln w="9525">
            <a:solidFill>
              <a:srgbClr val="A7B8C8"/>
            </a:solidFill>
            <a:prstDash val="solid"/>
          </a:ln>
        </p:spPr>
        <p:txBody>
          <a:bodyPr/>
          <a:lstStyle/>
          <a:p>
            <a:endParaRPr/>
          </a:p>
        </p:txBody>
      </p:sp>
      <p:sp>
        <p:nvSpPr>
          <p:cNvPr id="22" name="矩形 21"/>
          <p:cNvSpPr>
            <a:spLocks noGrp="1"/>
          </p:cNvSpPr>
          <p:nvPr/>
        </p:nvSpPr>
        <p:spPr>
          <a:xfrm>
            <a:off x="971550" y="243840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Request did not reach the backend</a:t>
            </a:r>
          </a:p>
        </p:txBody>
      </p:sp>
      <p:sp>
        <p:nvSpPr>
          <p:cNvPr id="23" name="矩形 22"/>
          <p:cNvSpPr>
            <a:spLocks noGrp="1"/>
          </p:cNvSpPr>
          <p:nvPr/>
        </p:nvSpPr>
        <p:spPr>
          <a:xfrm>
            <a:off x="3333750" y="243840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Browser Network</a:t>
            </a:r>
          </a:p>
        </p:txBody>
      </p:sp>
      <p:sp>
        <p:nvSpPr>
          <p:cNvPr id="24" name="矩形 23"/>
          <p:cNvSpPr>
            <a:spLocks noGrp="1"/>
          </p:cNvSpPr>
          <p:nvPr/>
        </p:nvSpPr>
        <p:spPr>
          <a:xfrm>
            <a:off x="5734050" y="243840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Is the address or a browser rule incorrect?</a:t>
            </a:r>
          </a:p>
        </p:txBody>
      </p:sp>
      <p:sp>
        <p:nvSpPr>
          <p:cNvPr id="25" name="矩形 24"/>
          <p:cNvSpPr>
            <a:spLocks noGrp="1"/>
          </p:cNvSpPr>
          <p:nvPr/>
        </p:nvSpPr>
        <p:spPr>
          <a:xfrm>
            <a:off x="857250" y="2857500"/>
            <a:ext cx="10096500" cy="495300"/>
          </a:xfrm>
          <a:prstGeom prst="rect">
            <a:avLst/>
          </a:prstGeom>
          <a:solidFill>
            <a:srgbClr val="F1F6FA"/>
          </a:solidFill>
          <a:ln w="9525">
            <a:solidFill>
              <a:srgbClr val="A7B8C8"/>
            </a:solidFill>
            <a:prstDash val="solid"/>
          </a:ln>
        </p:spPr>
        <p:txBody>
          <a:bodyPr/>
          <a:lstStyle/>
          <a:p>
            <a:endParaRPr/>
          </a:p>
        </p:txBody>
      </p:sp>
      <p:sp>
        <p:nvSpPr>
          <p:cNvPr id="26" name="矩形 25"/>
          <p:cNvSpPr>
            <a:spLocks noGrp="1"/>
          </p:cNvSpPr>
          <p:nvPr/>
        </p:nvSpPr>
        <p:spPr>
          <a:xfrm>
            <a:off x="971550" y="299085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fontScale="77500" lnSpcReduction="20000"/>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Backend cannot understand the request</a:t>
            </a:r>
          </a:p>
        </p:txBody>
      </p:sp>
      <p:sp>
        <p:nvSpPr>
          <p:cNvPr id="27" name="矩形 26"/>
          <p:cNvSpPr>
            <a:spLocks noGrp="1"/>
          </p:cNvSpPr>
          <p:nvPr/>
        </p:nvSpPr>
        <p:spPr>
          <a:xfrm>
            <a:off x="3333750" y="299085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Request content</a:t>
            </a:r>
          </a:p>
        </p:txBody>
      </p:sp>
      <p:sp>
        <p:nvSpPr>
          <p:cNvPr id="28" name="矩形 27"/>
          <p:cNvSpPr>
            <a:spLocks noGrp="1"/>
          </p:cNvSpPr>
          <p:nvPr/>
        </p:nvSpPr>
        <p:spPr>
          <a:xfrm>
            <a:off x="5734050" y="299085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Do the file, chat_id, and message match the API contract?</a:t>
            </a:r>
          </a:p>
        </p:txBody>
      </p:sp>
      <p:sp>
        <p:nvSpPr>
          <p:cNvPr id="29" name="矩形 28"/>
          <p:cNvSpPr>
            <a:spLocks noGrp="1"/>
          </p:cNvSpPr>
          <p:nvPr/>
        </p:nvSpPr>
        <p:spPr>
          <a:xfrm>
            <a:off x="857250" y="3409950"/>
            <a:ext cx="10096500" cy="495300"/>
          </a:xfrm>
          <a:prstGeom prst="rect">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971550" y="354330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UI still shows the old result</a:t>
            </a:r>
          </a:p>
        </p:txBody>
      </p:sp>
      <p:sp>
        <p:nvSpPr>
          <p:cNvPr id="31" name="矩形 30"/>
          <p:cNvSpPr>
            <a:spLocks noGrp="1"/>
          </p:cNvSpPr>
          <p:nvPr/>
        </p:nvSpPr>
        <p:spPr>
          <a:xfrm>
            <a:off x="3333750" y="354330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UI state</a:t>
            </a:r>
          </a:p>
        </p:txBody>
      </p:sp>
      <p:sp>
        <p:nvSpPr>
          <p:cNvPr id="32" name="矩形 31"/>
          <p:cNvSpPr>
            <a:spLocks noGrp="1"/>
          </p:cNvSpPr>
          <p:nvPr/>
        </p:nvSpPr>
        <p:spPr>
          <a:xfrm>
            <a:off x="5734050" y="354330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Was the old result cleared before the new action?</a:t>
            </a:r>
          </a:p>
        </p:txBody>
      </p:sp>
      <p:sp>
        <p:nvSpPr>
          <p:cNvPr id="33" name="矩形 32"/>
          <p:cNvSpPr>
            <a:spLocks noGrp="1"/>
          </p:cNvSpPr>
          <p:nvPr/>
        </p:nvSpPr>
        <p:spPr>
          <a:xfrm>
            <a:off x="857250" y="3962400"/>
            <a:ext cx="10096500" cy="495300"/>
          </a:xfrm>
          <a:prstGeom prst="rect">
            <a:avLst/>
          </a:prstGeom>
          <a:solidFill>
            <a:srgbClr val="F1F6FA"/>
          </a:solidFill>
          <a:ln w="9525">
            <a:solidFill>
              <a:srgbClr val="A7B8C8"/>
            </a:solidFill>
            <a:prstDash val="solid"/>
          </a:ln>
        </p:spPr>
        <p:txBody>
          <a:bodyPr/>
          <a:lstStyle/>
          <a:p>
            <a:endParaRPr/>
          </a:p>
        </p:txBody>
      </p:sp>
      <p:sp>
        <p:nvSpPr>
          <p:cNvPr id="34" name="矩形 33"/>
          <p:cNvSpPr>
            <a:spLocks noGrp="1"/>
          </p:cNvSpPr>
          <p:nvPr/>
        </p:nvSpPr>
        <p:spPr>
          <a:xfrm>
            <a:off x="971550" y="409575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Backend error</a:t>
            </a:r>
          </a:p>
        </p:txBody>
      </p:sp>
      <p:sp>
        <p:nvSpPr>
          <p:cNvPr id="35" name="矩形 34"/>
          <p:cNvSpPr>
            <a:spLocks noGrp="1"/>
          </p:cNvSpPr>
          <p:nvPr/>
        </p:nvSpPr>
        <p:spPr>
          <a:xfrm>
            <a:off x="3333750" y="409575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Backend terminal</a:t>
            </a:r>
          </a:p>
        </p:txBody>
      </p:sp>
      <p:sp>
        <p:nvSpPr>
          <p:cNvPr id="36" name="矩形 35"/>
          <p:cNvSpPr>
            <a:spLocks noGrp="1"/>
          </p:cNvSpPr>
          <p:nvPr/>
        </p:nvSpPr>
        <p:spPr>
          <a:xfrm>
            <a:off x="5734050" y="409575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What does the first error message say?</a:t>
            </a:r>
          </a:p>
        </p:txBody>
      </p:sp>
      <p:sp>
        <p:nvSpPr>
          <p:cNvPr id="37" name="矩形 36"/>
          <p:cNvSpPr>
            <a:spLocks noGrp="1"/>
          </p:cNvSpPr>
          <p:nvPr/>
        </p:nvSpPr>
        <p:spPr>
          <a:xfrm>
            <a:off x="857250" y="4514850"/>
            <a:ext cx="10096500" cy="495300"/>
          </a:xfrm>
          <a:prstGeom prst="rect">
            <a:avLst/>
          </a:prstGeom>
          <a:solidFill>
            <a:srgbClr val="FFFFFF"/>
          </a:solidFill>
          <a:ln w="9525">
            <a:solidFill>
              <a:srgbClr val="A7B8C8"/>
            </a:solidFill>
            <a:prstDash val="solid"/>
          </a:ln>
        </p:spPr>
        <p:txBody>
          <a:bodyPr/>
          <a:lstStyle/>
          <a:p>
            <a:endParaRPr/>
          </a:p>
        </p:txBody>
      </p:sp>
      <p:sp>
        <p:nvSpPr>
          <p:cNvPr id="38" name="矩形 37"/>
          <p:cNvSpPr>
            <a:spLocks noGrp="1"/>
          </p:cNvSpPr>
          <p:nvPr/>
        </p:nvSpPr>
        <p:spPr>
          <a:xfrm>
            <a:off x="971550" y="4648200"/>
            <a:ext cx="2095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Answer is unsupported</a:t>
            </a:r>
          </a:p>
        </p:txBody>
      </p:sp>
      <p:sp>
        <p:nvSpPr>
          <p:cNvPr id="39" name="矩形 38"/>
          <p:cNvSpPr>
            <a:spLocks noGrp="1"/>
          </p:cNvSpPr>
          <p:nvPr/>
        </p:nvSpPr>
        <p:spPr>
          <a:xfrm>
            <a:off x="3333750" y="4648200"/>
            <a:ext cx="200025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637788"/>
                </a:solidFill>
                <a:latin typeface="Lato"/>
                <a:ea typeface="Lato"/>
                <a:cs typeface="Lato"/>
              </a:defRPr>
            </a:pPr>
            <a:r>
              <a:rPr sz="1200" b="0">
                <a:solidFill>
                  <a:srgbClr val="637788"/>
                </a:solidFill>
                <a:latin typeface="Lato"/>
                <a:ea typeface="Lato"/>
                <a:cs typeface="Lato"/>
              </a:rPr>
              <a:t>PDF and page numbers</a:t>
            </a:r>
          </a:p>
        </p:txBody>
      </p:sp>
      <p:sp>
        <p:nvSpPr>
          <p:cNvPr id="40" name="矩形 39"/>
          <p:cNvSpPr>
            <a:spLocks noGrp="1"/>
          </p:cNvSpPr>
          <p:nvPr/>
        </p:nvSpPr>
        <p:spPr>
          <a:xfrm>
            <a:off x="5734050" y="4648200"/>
            <a:ext cx="49530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0">
                <a:solidFill>
                  <a:srgbClr val="163F68"/>
                </a:solidFill>
                <a:latin typeface="Lato"/>
                <a:ea typeface="Lato"/>
                <a:cs typeface="Lato"/>
              </a:defRPr>
            </a:pPr>
            <a:r>
              <a:rPr sz="1200" b="0">
                <a:solidFill>
                  <a:srgbClr val="163F68"/>
                </a:solidFill>
                <a:latin typeface="Lato"/>
                <a:ea typeface="Lato"/>
                <a:cs typeface="Lato"/>
              </a:rPr>
              <a:t>Did upload and chat use the same chat_id after the latest restart?</a:t>
            </a:r>
          </a:p>
        </p:txBody>
      </p:sp>
      <p:sp>
        <p:nvSpPr>
          <p:cNvPr id="41" name="矩形 40"/>
          <p:cNvSpPr>
            <a:spLocks noGrp="1"/>
          </p:cNvSpPr>
          <p:nvPr/>
        </p:nvSpPr>
        <p:spPr>
          <a:xfrm>
            <a:off x="895350" y="5314950"/>
            <a:ext cx="85725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650" b="1">
                <a:solidFill>
                  <a:srgbClr val="163F68"/>
                </a:solidFill>
                <a:latin typeface="Lato"/>
                <a:ea typeface="Lato"/>
                <a:cs typeface="Lato"/>
              </a:defRPr>
            </a:pPr>
            <a:r>
              <a:rPr sz="1650" b="1">
                <a:solidFill>
                  <a:srgbClr val="163F68"/>
                </a:solidFill>
                <a:latin typeface="Lato"/>
                <a:ea typeface="Lato"/>
                <a:cs typeface="Lato"/>
              </a:rPr>
              <a:t>Check in order: frontend → Network → API → PDF → LLM. Change only one thing at a time.</a:t>
            </a:r>
          </a:p>
        </p:txBody>
      </p:sp>
      <p:sp>
        <p:nvSpPr>
          <p:cNvPr id="43" name="矩形 42"/>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44" name="圆角矩形 43"/>
          <p:cNvSpPr>
            <a:spLocks noGrp="1"/>
          </p:cNvSpPr>
          <p:nvPr/>
        </p:nvSpPr>
        <p:spPr>
          <a:xfrm>
            <a:off x="781050" y="142875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45" name="矩形 44"/>
          <p:cNvSpPr>
            <a:spLocks noGrp="1"/>
          </p:cNvSpPr>
          <p:nvPr/>
        </p:nvSpPr>
        <p:spPr>
          <a:xfrm>
            <a:off x="312420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6" name="圆角矩形 45"/>
          <p:cNvSpPr>
            <a:spLocks noGrp="1"/>
          </p:cNvSpPr>
          <p:nvPr/>
        </p:nvSpPr>
        <p:spPr>
          <a:xfrm>
            <a:off x="3429000" y="142875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47" name="矩形 46"/>
          <p:cNvSpPr>
            <a:spLocks noGrp="1"/>
          </p:cNvSpPr>
          <p:nvPr/>
        </p:nvSpPr>
        <p:spPr>
          <a:xfrm>
            <a:off x="577215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48" name="圆角矩形 47"/>
          <p:cNvSpPr>
            <a:spLocks noGrp="1"/>
          </p:cNvSpPr>
          <p:nvPr/>
        </p:nvSpPr>
        <p:spPr>
          <a:xfrm>
            <a:off x="6076950" y="1428750"/>
            <a:ext cx="2305050" cy="361950"/>
          </a:xfrm>
          <a:prstGeom prst="roundRect">
            <a:avLst>
              <a:gd name="adj" fmla="val 21053"/>
            </a:avLst>
          </a:prstGeom>
          <a:solidFill>
            <a:srgbClr val="7557C8"/>
          </a:solidFill>
          <a:ln w="10478">
            <a:solidFill>
              <a:srgbClr val="7557C8"/>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React state</a:t>
            </a:r>
          </a:p>
        </p:txBody>
      </p:sp>
      <p:sp>
        <p:nvSpPr>
          <p:cNvPr id="49" name="矩形 48"/>
          <p:cNvSpPr>
            <a:spLocks noGrp="1"/>
          </p:cNvSpPr>
          <p:nvPr/>
        </p:nvSpPr>
        <p:spPr>
          <a:xfrm>
            <a:off x="8420100" y="14573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637A90"/>
                </a:solidFill>
                <a:latin typeface="Aptos"/>
                <a:ea typeface="Aptos"/>
                <a:cs typeface="Aptos"/>
              </a:defRPr>
            </a:pPr>
            <a:r>
              <a:rPr sz="1650" b="1">
                <a:solidFill>
                  <a:srgbClr val="637A90"/>
                </a:solidFill>
                <a:latin typeface="Aptos"/>
                <a:ea typeface="Aptos"/>
                <a:cs typeface="Aptos"/>
              </a:rPr>
              <a:t>→</a:t>
            </a:r>
          </a:p>
        </p:txBody>
      </p:sp>
      <p:sp>
        <p:nvSpPr>
          <p:cNvPr id="50" name="圆角矩形 49"/>
          <p:cNvSpPr>
            <a:spLocks noGrp="1"/>
          </p:cNvSpPr>
          <p:nvPr/>
        </p:nvSpPr>
        <p:spPr>
          <a:xfrm>
            <a:off x="8724900" y="1428750"/>
            <a:ext cx="2305050" cy="361950"/>
          </a:xfrm>
          <a:prstGeom prst="roundRect">
            <a:avLst>
              <a:gd name="adj" fmla="val 21053"/>
            </a:avLst>
          </a:prstGeom>
          <a:solidFill>
            <a:srgbClr val="3A8B61"/>
          </a:solidFill>
          <a:ln w="10478">
            <a:solidFill>
              <a:srgbClr val="3A8B61"/>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Delivery</a:t>
            </a:r>
          </a:p>
        </p:txBody>
      </p:sp>
      <p:sp>
        <p:nvSpPr>
          <p:cNvPr id="51" name="圆角矩形 50"/>
          <p:cNvSpPr>
            <a:spLocks noGrp="1"/>
          </p:cNvSpPr>
          <p:nvPr/>
        </p:nvSpPr>
        <p:spPr>
          <a:xfrm>
            <a:off x="704850" y="2381250"/>
            <a:ext cx="1905000" cy="1619250"/>
          </a:xfrm>
          <a:prstGeom prst="roundRect">
            <a:avLst>
              <a:gd name="adj" fmla="val 4706"/>
            </a:avLst>
          </a:prstGeom>
          <a:solidFill>
            <a:srgbClr val="F1ECFF"/>
          </a:solidFill>
          <a:ln w="11430">
            <a:solidFill>
              <a:srgbClr val="7557C8"/>
            </a:solidFill>
            <a:prstDash val="solid"/>
          </a:ln>
        </p:spPr>
        <p:txBody>
          <a:bodyPr/>
          <a:lstStyle/>
          <a:p>
            <a:endParaRPr lang="zh-CN" altLang="en-US"/>
          </a:p>
        </p:txBody>
      </p:sp>
      <p:sp>
        <p:nvSpPr>
          <p:cNvPr id="52" name="圆角矩形 51"/>
          <p:cNvSpPr>
            <a:spLocks noGrp="1"/>
          </p:cNvSpPr>
          <p:nvPr/>
        </p:nvSpPr>
        <p:spPr>
          <a:xfrm>
            <a:off x="1428750" y="2571750"/>
            <a:ext cx="457200" cy="457200"/>
          </a:xfrm>
          <a:prstGeom prst="roundRect">
            <a:avLst>
              <a:gd name="adj" fmla="val 16667"/>
            </a:avLst>
          </a:prstGeom>
          <a:solidFill>
            <a:srgbClr val="7557C8"/>
          </a:solidFill>
          <a:ln w="10478">
            <a:solidFill>
              <a:srgbClr val="7557C8"/>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53" name="矩形 52"/>
          <p:cNvSpPr>
            <a:spLocks noGrp="1"/>
          </p:cNvSpPr>
          <p:nvPr/>
        </p:nvSpPr>
        <p:spPr>
          <a:xfrm>
            <a:off x="876300" y="3105150"/>
            <a:ext cx="1562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7557C8"/>
                </a:solidFill>
                <a:latin typeface="Aptos"/>
                <a:ea typeface="Aptos"/>
                <a:cs typeface="Aptos"/>
              </a:defRPr>
            </a:pPr>
            <a:r>
              <a:rPr sz="1500" b="1">
                <a:solidFill>
                  <a:srgbClr val="7557C8"/>
                </a:solidFill>
                <a:latin typeface="Aptos"/>
                <a:ea typeface="Aptos"/>
                <a:cs typeface="Aptos"/>
              </a:rPr>
              <a:t>UI</a:t>
            </a:r>
          </a:p>
        </p:txBody>
      </p:sp>
      <p:sp>
        <p:nvSpPr>
          <p:cNvPr id="54" name="矩形 53"/>
          <p:cNvSpPr>
            <a:spLocks noGrp="1"/>
          </p:cNvSpPr>
          <p:nvPr/>
        </p:nvSpPr>
        <p:spPr>
          <a:xfrm>
            <a:off x="857250" y="3524250"/>
            <a:ext cx="1600200" cy="3429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Did state change?</a:t>
            </a:r>
          </a:p>
        </p:txBody>
      </p:sp>
      <p:sp>
        <p:nvSpPr>
          <p:cNvPr id="55" name="右箭头 54"/>
          <p:cNvSpPr>
            <a:spLocks noGrp="1"/>
          </p:cNvSpPr>
          <p:nvPr/>
        </p:nvSpPr>
        <p:spPr>
          <a:xfrm>
            <a:off x="2628900" y="308610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56" name="圆角矩形 55"/>
          <p:cNvSpPr>
            <a:spLocks noGrp="1"/>
          </p:cNvSpPr>
          <p:nvPr/>
        </p:nvSpPr>
        <p:spPr>
          <a:xfrm>
            <a:off x="2914650" y="2381250"/>
            <a:ext cx="1905000" cy="1619250"/>
          </a:xfrm>
          <a:prstGeom prst="roundRect">
            <a:avLst>
              <a:gd name="adj" fmla="val 4706"/>
            </a:avLst>
          </a:prstGeom>
          <a:solidFill>
            <a:srgbClr val="FFF4DE"/>
          </a:solidFill>
          <a:ln w="11430">
            <a:solidFill>
              <a:srgbClr val="F59E0B"/>
            </a:solidFill>
            <a:prstDash val="solid"/>
          </a:ln>
        </p:spPr>
        <p:txBody>
          <a:bodyPr/>
          <a:lstStyle/>
          <a:p>
            <a:endParaRPr lang="zh-CN" altLang="en-US"/>
          </a:p>
        </p:txBody>
      </p:sp>
      <p:sp>
        <p:nvSpPr>
          <p:cNvPr id="57" name="圆角矩形 56"/>
          <p:cNvSpPr>
            <a:spLocks noGrp="1"/>
          </p:cNvSpPr>
          <p:nvPr/>
        </p:nvSpPr>
        <p:spPr>
          <a:xfrm>
            <a:off x="3638550" y="2571750"/>
            <a:ext cx="457200" cy="457200"/>
          </a:xfrm>
          <a:prstGeom prst="roundRect">
            <a:avLst>
              <a:gd name="adj" fmla="val 16667"/>
            </a:avLst>
          </a:prstGeom>
          <a:solidFill>
            <a:srgbClr val="F59E0B"/>
          </a:solidFill>
          <a:ln w="10478">
            <a:solidFill>
              <a:srgbClr val="F59E0B"/>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58" name="矩形 57"/>
          <p:cNvSpPr>
            <a:spLocks noGrp="1"/>
          </p:cNvSpPr>
          <p:nvPr/>
        </p:nvSpPr>
        <p:spPr>
          <a:xfrm>
            <a:off x="3086100" y="3105150"/>
            <a:ext cx="1562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59E0B"/>
                </a:solidFill>
                <a:latin typeface="Aptos"/>
                <a:ea typeface="Aptos"/>
                <a:cs typeface="Aptos"/>
              </a:defRPr>
            </a:pPr>
            <a:r>
              <a:rPr sz="1500" b="1">
                <a:solidFill>
                  <a:srgbClr val="F59E0B"/>
                </a:solidFill>
                <a:latin typeface="Aptos"/>
                <a:ea typeface="Aptos"/>
                <a:cs typeface="Aptos"/>
              </a:rPr>
              <a:t>Network</a:t>
            </a:r>
          </a:p>
        </p:txBody>
      </p:sp>
      <p:sp>
        <p:nvSpPr>
          <p:cNvPr id="59" name="矩形 58"/>
          <p:cNvSpPr>
            <a:spLocks noGrp="1"/>
          </p:cNvSpPr>
          <p:nvPr/>
        </p:nvSpPr>
        <p:spPr>
          <a:xfrm>
            <a:off x="3067050" y="3524250"/>
            <a:ext cx="1600200" cy="3429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Did the request leave?</a:t>
            </a:r>
          </a:p>
        </p:txBody>
      </p:sp>
      <p:sp>
        <p:nvSpPr>
          <p:cNvPr id="60" name="右箭头 59"/>
          <p:cNvSpPr>
            <a:spLocks noGrp="1"/>
          </p:cNvSpPr>
          <p:nvPr/>
        </p:nvSpPr>
        <p:spPr>
          <a:xfrm>
            <a:off x="4838700" y="308610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61" name="圆角矩形 60"/>
          <p:cNvSpPr>
            <a:spLocks noGrp="1"/>
          </p:cNvSpPr>
          <p:nvPr/>
        </p:nvSpPr>
        <p:spPr>
          <a:xfrm>
            <a:off x="5124450" y="2381250"/>
            <a:ext cx="1905000" cy="1619250"/>
          </a:xfrm>
          <a:prstGeom prst="roundRect">
            <a:avLst>
              <a:gd name="adj" fmla="val 4706"/>
            </a:avLst>
          </a:prstGeom>
          <a:solidFill>
            <a:srgbClr val="F4F7FA"/>
          </a:solidFill>
          <a:ln w="11430">
            <a:solidFill>
              <a:srgbClr val="123F6D"/>
            </a:solidFill>
            <a:prstDash val="solid"/>
          </a:ln>
        </p:spPr>
        <p:txBody>
          <a:bodyPr/>
          <a:lstStyle/>
          <a:p>
            <a:endParaRPr lang="zh-CN" altLang="en-US"/>
          </a:p>
        </p:txBody>
      </p:sp>
      <p:sp>
        <p:nvSpPr>
          <p:cNvPr id="62" name="圆角矩形 61"/>
          <p:cNvSpPr>
            <a:spLocks noGrp="1"/>
          </p:cNvSpPr>
          <p:nvPr/>
        </p:nvSpPr>
        <p:spPr>
          <a:xfrm>
            <a:off x="5848350" y="2571750"/>
            <a:ext cx="457200" cy="457200"/>
          </a:xfrm>
          <a:prstGeom prst="roundRect">
            <a:avLst>
              <a:gd name="adj" fmla="val 16667"/>
            </a:avLst>
          </a:prstGeom>
          <a:solidFill>
            <a:srgbClr val="123F6D"/>
          </a:solidFill>
          <a:ln w="10478">
            <a:solidFill>
              <a:srgbClr val="123F6D"/>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63" name="矩形 62"/>
          <p:cNvSpPr>
            <a:spLocks noGrp="1"/>
          </p:cNvSpPr>
          <p:nvPr/>
        </p:nvSpPr>
        <p:spPr>
          <a:xfrm>
            <a:off x="5295900" y="3105150"/>
            <a:ext cx="1562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API</a:t>
            </a:r>
          </a:p>
        </p:txBody>
      </p:sp>
      <p:sp>
        <p:nvSpPr>
          <p:cNvPr id="64" name="矩形 63"/>
          <p:cNvSpPr>
            <a:spLocks noGrp="1"/>
          </p:cNvSpPr>
          <p:nvPr/>
        </p:nvSpPr>
        <p:spPr>
          <a:xfrm>
            <a:off x="5276850" y="3524250"/>
            <a:ext cx="1600200" cy="3429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Did the contract match?</a:t>
            </a:r>
          </a:p>
        </p:txBody>
      </p:sp>
      <p:sp>
        <p:nvSpPr>
          <p:cNvPr id="65" name="右箭头 64"/>
          <p:cNvSpPr>
            <a:spLocks noGrp="1"/>
          </p:cNvSpPr>
          <p:nvPr/>
        </p:nvSpPr>
        <p:spPr>
          <a:xfrm>
            <a:off x="7048500" y="308610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66" name="圆角矩形 65"/>
          <p:cNvSpPr>
            <a:spLocks noGrp="1"/>
          </p:cNvSpPr>
          <p:nvPr/>
        </p:nvSpPr>
        <p:spPr>
          <a:xfrm>
            <a:off x="7334250" y="2381250"/>
            <a:ext cx="1905000" cy="1619250"/>
          </a:xfrm>
          <a:prstGeom prst="roundRect">
            <a:avLst>
              <a:gd name="adj" fmla="val 4706"/>
            </a:avLst>
          </a:prstGeom>
          <a:solidFill>
            <a:srgbClr val="E4F7F5"/>
          </a:solidFill>
          <a:ln w="11430">
            <a:solidFill>
              <a:srgbClr val="00A7A0"/>
            </a:solidFill>
            <a:prstDash val="solid"/>
          </a:ln>
        </p:spPr>
        <p:txBody>
          <a:bodyPr/>
          <a:lstStyle/>
          <a:p>
            <a:endParaRPr lang="zh-CN" altLang="en-US"/>
          </a:p>
        </p:txBody>
      </p:sp>
      <p:sp>
        <p:nvSpPr>
          <p:cNvPr id="67" name="圆角矩形 66"/>
          <p:cNvSpPr>
            <a:spLocks noGrp="1"/>
          </p:cNvSpPr>
          <p:nvPr/>
        </p:nvSpPr>
        <p:spPr>
          <a:xfrm>
            <a:off x="8058150" y="2571750"/>
            <a:ext cx="457200" cy="457200"/>
          </a:xfrm>
          <a:prstGeom prst="roundRect">
            <a:avLst>
              <a:gd name="adj" fmla="val 16667"/>
            </a:avLst>
          </a:prstGeom>
          <a:solidFill>
            <a:srgbClr val="00A7A0"/>
          </a:solidFill>
          <a:ln w="10478">
            <a:solidFill>
              <a:srgbClr val="00A7A0"/>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68" name="矩形 67"/>
          <p:cNvSpPr>
            <a:spLocks noGrp="1"/>
          </p:cNvSpPr>
          <p:nvPr/>
        </p:nvSpPr>
        <p:spPr>
          <a:xfrm>
            <a:off x="7505700" y="3105150"/>
            <a:ext cx="1562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00A7A0"/>
                </a:solidFill>
                <a:latin typeface="Aptos"/>
                <a:ea typeface="Aptos"/>
                <a:cs typeface="Aptos"/>
              </a:defRPr>
            </a:pPr>
            <a:r>
              <a:rPr sz="1500" b="1">
                <a:solidFill>
                  <a:srgbClr val="00A7A0"/>
                </a:solidFill>
                <a:latin typeface="Aptos"/>
                <a:ea typeface="Aptos"/>
                <a:cs typeface="Aptos"/>
              </a:rPr>
              <a:t>PDF</a:t>
            </a:r>
          </a:p>
        </p:txBody>
      </p:sp>
      <p:sp>
        <p:nvSpPr>
          <p:cNvPr id="69" name="矩形 68"/>
          <p:cNvSpPr>
            <a:spLocks noGrp="1"/>
          </p:cNvSpPr>
          <p:nvPr/>
        </p:nvSpPr>
        <p:spPr>
          <a:xfrm>
            <a:off x="7486650" y="3524250"/>
            <a:ext cx="1600200" cy="3429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Do pages exist?</a:t>
            </a:r>
          </a:p>
        </p:txBody>
      </p:sp>
      <p:sp>
        <p:nvSpPr>
          <p:cNvPr id="70" name="右箭头 69"/>
          <p:cNvSpPr>
            <a:spLocks noGrp="1"/>
          </p:cNvSpPr>
          <p:nvPr/>
        </p:nvSpPr>
        <p:spPr>
          <a:xfrm>
            <a:off x="9258300" y="308610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71" name="圆角矩形 70"/>
          <p:cNvSpPr>
            <a:spLocks noGrp="1"/>
          </p:cNvSpPr>
          <p:nvPr/>
        </p:nvSpPr>
        <p:spPr>
          <a:xfrm>
            <a:off x="9544050" y="2381250"/>
            <a:ext cx="1905000" cy="1619250"/>
          </a:xfrm>
          <a:prstGeom prst="roundRect">
            <a:avLst>
              <a:gd name="adj" fmla="val 4706"/>
            </a:avLst>
          </a:prstGeom>
          <a:solidFill>
            <a:srgbClr val="EAF5EE"/>
          </a:solidFill>
          <a:ln w="11430">
            <a:solidFill>
              <a:srgbClr val="3A8B61"/>
            </a:solidFill>
            <a:prstDash val="solid"/>
          </a:ln>
        </p:spPr>
        <p:txBody>
          <a:bodyPr/>
          <a:lstStyle/>
          <a:p>
            <a:endParaRPr lang="zh-CN" altLang="en-US"/>
          </a:p>
        </p:txBody>
      </p:sp>
      <p:sp>
        <p:nvSpPr>
          <p:cNvPr id="72" name="圆角矩形 71"/>
          <p:cNvSpPr>
            <a:spLocks noGrp="1"/>
          </p:cNvSpPr>
          <p:nvPr/>
        </p:nvSpPr>
        <p:spPr>
          <a:xfrm>
            <a:off x="10267950" y="2571750"/>
            <a:ext cx="457200" cy="457200"/>
          </a:xfrm>
          <a:prstGeom prst="roundRect">
            <a:avLst>
              <a:gd name="adj" fmla="val 16667"/>
            </a:avLst>
          </a:prstGeom>
          <a:solidFill>
            <a:srgbClr val="3A8B61"/>
          </a:solidFill>
          <a:ln w="10478">
            <a:solidFill>
              <a:srgbClr val="3A8B61"/>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5</a:t>
            </a:r>
          </a:p>
        </p:txBody>
      </p:sp>
      <p:sp>
        <p:nvSpPr>
          <p:cNvPr id="73" name="矩形 72"/>
          <p:cNvSpPr>
            <a:spLocks noGrp="1"/>
          </p:cNvSpPr>
          <p:nvPr/>
        </p:nvSpPr>
        <p:spPr>
          <a:xfrm>
            <a:off x="9715500" y="3105150"/>
            <a:ext cx="1562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3A8B61"/>
                </a:solidFill>
                <a:latin typeface="Aptos"/>
                <a:ea typeface="Aptos"/>
                <a:cs typeface="Aptos"/>
              </a:defRPr>
            </a:pPr>
            <a:r>
              <a:rPr sz="1500" b="1">
                <a:solidFill>
                  <a:srgbClr val="3A8B61"/>
                </a:solidFill>
                <a:latin typeface="Aptos"/>
                <a:ea typeface="Aptos"/>
                <a:cs typeface="Aptos"/>
              </a:rPr>
              <a:t>LLM</a:t>
            </a:r>
          </a:p>
        </p:txBody>
      </p:sp>
      <p:sp>
        <p:nvSpPr>
          <p:cNvPr id="74" name="矩形 73"/>
          <p:cNvSpPr>
            <a:spLocks noGrp="1"/>
          </p:cNvSpPr>
          <p:nvPr/>
        </p:nvSpPr>
        <p:spPr>
          <a:xfrm>
            <a:off x="9696450" y="3524250"/>
            <a:ext cx="1600200" cy="3429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Is the answer grounded?</a:t>
            </a:r>
          </a:p>
        </p:txBody>
      </p:sp>
      <p:sp>
        <p:nvSpPr>
          <p:cNvPr id="75" name="圆角矩形 74"/>
          <p:cNvSpPr>
            <a:spLocks noGrp="1"/>
          </p:cNvSpPr>
          <p:nvPr/>
        </p:nvSpPr>
        <p:spPr>
          <a:xfrm>
            <a:off x="781050" y="4419600"/>
            <a:ext cx="10458450" cy="514350"/>
          </a:xfrm>
          <a:prstGeom prst="roundRect">
            <a:avLst>
              <a:gd name="adj" fmla="val 14815"/>
            </a:avLst>
          </a:prstGeom>
          <a:solidFill>
            <a:srgbClr val="FCEBEC"/>
          </a:solidFill>
          <a:ln w="10478">
            <a:solidFill>
              <a:srgbClr val="C94A4A"/>
            </a:solidFill>
            <a:prstDash val="solid"/>
          </a:ln>
        </p:spPr>
        <p:txBody>
          <a:bodyPr lIns="0" tIns="0" rIns="0" bIns="0" anchor="ctr">
            <a:normAutofit/>
          </a:bodyPr>
          <a:lstStyle/>
          <a:p>
            <a:pPr algn="ctr">
              <a:buNone/>
              <a:defRPr sz="1800" b="1">
                <a:solidFill>
                  <a:srgbClr val="C94A4A"/>
                </a:solidFill>
                <a:latin typeface="Aptos"/>
                <a:ea typeface="Aptos"/>
                <a:cs typeface="Aptos"/>
              </a:defRPr>
            </a:pPr>
            <a:r>
              <a:rPr sz="1800" b="1">
                <a:solidFill>
                  <a:srgbClr val="C94A4A"/>
                </a:solidFill>
                <a:latin typeface="Aptos"/>
                <a:ea typeface="Aptos"/>
                <a:cs typeface="Aptos"/>
              </a:rPr>
              <a:t>Stop at the first failed layer</a:t>
            </a:r>
          </a:p>
        </p:txBody>
      </p:sp>
      <p:sp>
        <p:nvSpPr>
          <p:cNvPr id="76" name="圆角矩形 75"/>
          <p:cNvSpPr>
            <a:spLocks noGrp="1"/>
          </p:cNvSpPr>
          <p:nvPr/>
        </p:nvSpPr>
        <p:spPr>
          <a:xfrm>
            <a:off x="2343150" y="5200650"/>
            <a:ext cx="20002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1 · locate</a:t>
            </a:r>
          </a:p>
        </p:txBody>
      </p:sp>
      <p:sp>
        <p:nvSpPr>
          <p:cNvPr id="77" name="圆角矩形 76"/>
          <p:cNvSpPr>
            <a:spLocks noGrp="1"/>
          </p:cNvSpPr>
          <p:nvPr/>
        </p:nvSpPr>
        <p:spPr>
          <a:xfrm>
            <a:off x="5095875" y="5200650"/>
            <a:ext cx="20002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2 · change one thing</a:t>
            </a:r>
          </a:p>
        </p:txBody>
      </p:sp>
      <p:sp>
        <p:nvSpPr>
          <p:cNvPr id="78" name="圆角矩形 77"/>
          <p:cNvSpPr>
            <a:spLocks noGrp="1"/>
          </p:cNvSpPr>
          <p:nvPr/>
        </p:nvSpPr>
        <p:spPr>
          <a:xfrm>
            <a:off x="7848600" y="5200650"/>
            <a:ext cx="2000250" cy="323850"/>
          </a:xfrm>
          <a:prstGeom prst="roundRect">
            <a:avLst>
              <a:gd name="adj" fmla="val 23529"/>
            </a:avLst>
          </a:prstGeom>
          <a:solidFill>
            <a:srgbClr val="FFFFFF"/>
          </a:solidFill>
          <a:ln w="10478">
            <a:solidFill>
              <a:srgbClr val="123F6D"/>
            </a:solidFill>
            <a:prstDash val="solid"/>
          </a:ln>
        </p:spPr>
        <p:txBody>
          <a:bodyPr lIns="47625" tIns="47625" rIns="47625" bIns="47625" anchor="ctr">
            <a:normAutofit/>
          </a:bodyPr>
          <a:lstStyle/>
          <a:p>
            <a:pPr algn="ctr">
              <a:buNone/>
              <a:defRPr sz="1050" b="1">
                <a:solidFill>
                  <a:srgbClr val="123F6D"/>
                </a:solidFill>
                <a:latin typeface="Aptos"/>
                <a:ea typeface="Aptos"/>
                <a:cs typeface="Aptos"/>
              </a:defRPr>
            </a:pPr>
            <a:r>
              <a:rPr sz="1050" b="1">
                <a:solidFill>
                  <a:srgbClr val="123F6D"/>
                </a:solidFill>
                <a:latin typeface="Aptos"/>
                <a:ea typeface="Aptos"/>
                <a:cs typeface="Aptos"/>
              </a:rPr>
              <a:t>3 · repeat the same action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矩形 52"/>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TA CHECKPOINT B</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TA checkpoint B: align the UI, Network, and backend</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CHECKPOINT B</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0070C0"/>
          </a:solidFill>
          <a:ln w="9525">
            <a:solidFill>
              <a:srgbClr val="0070C0"/>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A7B8C8"/>
          </a:solidFill>
          <a:ln w="9525">
            <a:solidFill>
              <a:srgbClr val="A7B8C8"/>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33</a:t>
            </a:r>
          </a:p>
        </p:txBody>
      </p:sp>
      <p:sp>
        <p:nvSpPr>
          <p:cNvPr id="14" name="矩形 13"/>
          <p:cNvSpPr>
            <a:spLocks noGrp="1"/>
          </p:cNvSpPr>
          <p:nvPr/>
        </p:nvSpPr>
        <p:spPr>
          <a:xfrm>
            <a:off x="762000" y="1428750"/>
            <a:ext cx="23812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ACTION</a:t>
            </a:r>
          </a:p>
        </p:txBody>
      </p:sp>
      <p:sp>
        <p:nvSpPr>
          <p:cNvPr id="15" name="矩形 14"/>
          <p:cNvSpPr>
            <a:spLocks noGrp="1"/>
          </p:cNvSpPr>
          <p:nvPr/>
        </p:nvSpPr>
        <p:spPr>
          <a:xfrm>
            <a:off x="3333750" y="1428750"/>
            <a:ext cx="23812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UI</a:t>
            </a:r>
          </a:p>
        </p:txBody>
      </p:sp>
      <p:sp>
        <p:nvSpPr>
          <p:cNvPr id="16" name="矩形 15"/>
          <p:cNvSpPr>
            <a:spLocks noGrp="1"/>
          </p:cNvSpPr>
          <p:nvPr/>
        </p:nvSpPr>
        <p:spPr>
          <a:xfrm>
            <a:off x="5905500" y="1428750"/>
            <a:ext cx="23812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Network</a:t>
            </a:r>
          </a:p>
        </p:txBody>
      </p:sp>
      <p:sp>
        <p:nvSpPr>
          <p:cNvPr id="17" name="矩形 16"/>
          <p:cNvSpPr>
            <a:spLocks noGrp="1"/>
          </p:cNvSpPr>
          <p:nvPr/>
        </p:nvSpPr>
        <p:spPr>
          <a:xfrm>
            <a:off x="8477250" y="1428750"/>
            <a:ext cx="2381250" cy="266700"/>
          </a:xfrm>
          <a:prstGeom prst="rect">
            <a:avLst/>
          </a:prstGeom>
          <a:solidFill>
            <a:srgbClr val="003B74"/>
          </a:solidFill>
          <a:ln w="0">
            <a:solidFill>
              <a:srgbClr val="000000">
                <a:alpha val="0"/>
              </a:srgbClr>
            </a:solidFill>
            <a:prstDash val="solid"/>
          </a:ln>
        </p:spPr>
        <p:txBody>
          <a:bodyPr lIns="95250" tIns="57150" rIns="57150" bIns="0" anchor="t">
            <a:normAutofit/>
          </a:bodyPr>
          <a:lstStyle/>
          <a:p>
            <a:pPr algn="l">
              <a:buNone/>
              <a:defRPr sz="975" b="1">
                <a:solidFill>
                  <a:srgbClr val="FFFFFF"/>
                </a:solidFill>
                <a:latin typeface="Lato"/>
                <a:ea typeface="Lato"/>
                <a:cs typeface="Lato"/>
              </a:defRPr>
            </a:pPr>
            <a:r>
              <a:rPr sz="975" b="1">
                <a:solidFill>
                  <a:srgbClr val="FFFFFF"/>
                </a:solidFill>
                <a:latin typeface="Lato"/>
                <a:ea typeface="Lato"/>
                <a:cs typeface="Lato"/>
              </a:rPr>
              <a:t>BACKEND</a:t>
            </a:r>
          </a:p>
        </p:txBody>
      </p:sp>
      <p:sp>
        <p:nvSpPr>
          <p:cNvPr id="18" name="矩形 17"/>
          <p:cNvSpPr>
            <a:spLocks noGrp="1"/>
          </p:cNvSpPr>
          <p:nvPr/>
        </p:nvSpPr>
        <p:spPr>
          <a:xfrm>
            <a:off x="762000" y="1752600"/>
            <a:ext cx="10096500" cy="609600"/>
          </a:xfrm>
          <a:prstGeom prst="rect">
            <a:avLst/>
          </a:prstGeom>
          <a:solidFill>
            <a:srgbClr val="F1F6FA"/>
          </a:solidFill>
          <a:ln w="9525">
            <a:solidFill>
              <a:srgbClr val="A7B8C8"/>
            </a:solidFill>
            <a:prstDash val="solid"/>
          </a:ln>
        </p:spPr>
        <p:txBody>
          <a:bodyPr/>
          <a:lstStyle/>
          <a:p>
            <a:endParaRPr/>
          </a:p>
        </p:txBody>
      </p:sp>
      <p:sp>
        <p:nvSpPr>
          <p:cNvPr id="19" name="矩形 18"/>
          <p:cNvSpPr>
            <a:spLocks noGrp="1"/>
          </p:cNvSpPr>
          <p:nvPr/>
        </p:nvSpPr>
        <p:spPr>
          <a:xfrm>
            <a:off x="876300" y="18954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Lato"/>
                <a:ea typeface="Lato"/>
                <a:cs typeface="Lato"/>
              </a:defRPr>
            </a:pPr>
            <a:r>
              <a:rPr sz="1200" b="1">
                <a:solidFill>
                  <a:srgbClr val="1F5284"/>
                </a:solidFill>
                <a:latin typeface="Lato"/>
                <a:ea typeface="Lato"/>
                <a:cs typeface="Lato"/>
              </a:rPr>
              <a:t>UPLOAD</a:t>
            </a:r>
          </a:p>
        </p:txBody>
      </p:sp>
      <p:sp>
        <p:nvSpPr>
          <p:cNvPr id="20" name="矩形 19"/>
          <p:cNvSpPr>
            <a:spLocks noGrp="1"/>
          </p:cNvSpPr>
          <p:nvPr/>
        </p:nvSpPr>
        <p:spPr>
          <a:xfrm>
            <a:off x="3448050" y="18954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UI shows uploading → ready</a:t>
            </a:r>
          </a:p>
        </p:txBody>
      </p:sp>
      <p:sp>
        <p:nvSpPr>
          <p:cNvPr id="21" name="矩形 20"/>
          <p:cNvSpPr>
            <a:spLocks noGrp="1"/>
          </p:cNvSpPr>
          <p:nvPr/>
        </p:nvSpPr>
        <p:spPr>
          <a:xfrm>
            <a:off x="6019800" y="18954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POST /upload?chat_id= · 200</a:t>
            </a:r>
          </a:p>
        </p:txBody>
      </p:sp>
      <p:sp>
        <p:nvSpPr>
          <p:cNvPr id="22" name="矩形 21"/>
          <p:cNvSpPr>
            <a:spLocks noGrp="1"/>
          </p:cNvSpPr>
          <p:nvPr/>
        </p:nvSpPr>
        <p:spPr>
          <a:xfrm>
            <a:off x="8591550" y="18954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Response includes pages/characters</a:t>
            </a:r>
          </a:p>
        </p:txBody>
      </p:sp>
      <p:sp>
        <p:nvSpPr>
          <p:cNvPr id="23" name="矩形 22"/>
          <p:cNvSpPr>
            <a:spLocks noGrp="1"/>
          </p:cNvSpPr>
          <p:nvPr/>
        </p:nvSpPr>
        <p:spPr>
          <a:xfrm>
            <a:off x="762000" y="2457450"/>
            <a:ext cx="10096500" cy="609600"/>
          </a:xfrm>
          <a:prstGeom prst="rect">
            <a:avLst/>
          </a:prstGeom>
          <a:solidFill>
            <a:srgbClr val="FFFFFF"/>
          </a:solidFill>
          <a:ln w="9525">
            <a:solidFill>
              <a:srgbClr val="A7B8C8"/>
            </a:solidFill>
            <a:prstDash val="solid"/>
          </a:ln>
        </p:spPr>
        <p:txBody>
          <a:bodyPr/>
          <a:lstStyle/>
          <a:p>
            <a:endParaRPr/>
          </a:p>
        </p:txBody>
      </p:sp>
      <p:sp>
        <p:nvSpPr>
          <p:cNvPr id="24" name="矩形 23"/>
          <p:cNvSpPr>
            <a:spLocks noGrp="1"/>
          </p:cNvSpPr>
          <p:nvPr/>
        </p:nvSpPr>
        <p:spPr>
          <a:xfrm>
            <a:off x="876300" y="26003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Lato"/>
                <a:ea typeface="Lato"/>
                <a:cs typeface="Lato"/>
              </a:defRPr>
            </a:pPr>
            <a:r>
              <a:rPr sz="1200" b="1">
                <a:solidFill>
                  <a:srgbClr val="1F5284"/>
                </a:solidFill>
                <a:latin typeface="Lato"/>
                <a:ea typeface="Lato"/>
                <a:cs typeface="Lato"/>
              </a:rPr>
              <a:t>CHAT</a:t>
            </a:r>
          </a:p>
        </p:txBody>
      </p:sp>
      <p:sp>
        <p:nvSpPr>
          <p:cNvPr id="25" name="矩形 24"/>
          <p:cNvSpPr>
            <a:spLocks noGrp="1"/>
          </p:cNvSpPr>
          <p:nvPr/>
        </p:nvSpPr>
        <p:spPr>
          <a:xfrm>
            <a:off x="3448050" y="26003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UI shows asking → answer</a:t>
            </a:r>
          </a:p>
        </p:txBody>
      </p:sp>
      <p:sp>
        <p:nvSpPr>
          <p:cNvPr id="26" name="矩形 25"/>
          <p:cNvSpPr>
            <a:spLocks noGrp="1"/>
          </p:cNvSpPr>
          <p:nvPr/>
        </p:nvSpPr>
        <p:spPr>
          <a:xfrm>
            <a:off x="6019800" y="26003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POST /chat · 200</a:t>
            </a:r>
          </a:p>
        </p:txBody>
      </p:sp>
      <p:sp>
        <p:nvSpPr>
          <p:cNvPr id="27" name="矩形 26"/>
          <p:cNvSpPr>
            <a:spLocks noGrp="1"/>
          </p:cNvSpPr>
          <p:nvPr/>
        </p:nvSpPr>
        <p:spPr>
          <a:xfrm>
            <a:off x="8591550" y="26003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Receives the same chat_id</a:t>
            </a:r>
          </a:p>
        </p:txBody>
      </p:sp>
      <p:sp>
        <p:nvSpPr>
          <p:cNvPr id="28" name="矩形 27"/>
          <p:cNvSpPr>
            <a:spLocks noGrp="1"/>
          </p:cNvSpPr>
          <p:nvPr/>
        </p:nvSpPr>
        <p:spPr>
          <a:xfrm>
            <a:off x="762000" y="3162300"/>
            <a:ext cx="10096500" cy="609600"/>
          </a:xfrm>
          <a:prstGeom prst="rect">
            <a:avLst/>
          </a:prstGeom>
          <a:solidFill>
            <a:srgbClr val="F1F6FA"/>
          </a:solidFill>
          <a:ln w="9525">
            <a:solidFill>
              <a:srgbClr val="A7B8C8"/>
            </a:solidFill>
            <a:prstDash val="solid"/>
          </a:ln>
        </p:spPr>
        <p:txBody>
          <a:bodyPr/>
          <a:lstStyle/>
          <a:p>
            <a:endParaRPr/>
          </a:p>
        </p:txBody>
      </p:sp>
      <p:sp>
        <p:nvSpPr>
          <p:cNvPr id="29" name="矩形 28"/>
          <p:cNvSpPr>
            <a:spLocks noGrp="1"/>
          </p:cNvSpPr>
          <p:nvPr/>
        </p:nvSpPr>
        <p:spPr>
          <a:xfrm>
            <a:off x="876300" y="33051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Lato"/>
                <a:ea typeface="Lato"/>
                <a:cs typeface="Lato"/>
              </a:defRPr>
            </a:pPr>
            <a:r>
              <a:rPr sz="1200" b="1">
                <a:solidFill>
                  <a:srgbClr val="1F5284"/>
                </a:solidFill>
                <a:latin typeface="Lato"/>
                <a:ea typeface="Lato"/>
                <a:cs typeface="Lato"/>
              </a:rPr>
              <a:t>CITATION</a:t>
            </a:r>
          </a:p>
        </p:txBody>
      </p:sp>
      <p:sp>
        <p:nvSpPr>
          <p:cNvPr id="30" name="矩形 29"/>
          <p:cNvSpPr>
            <a:spLocks noGrp="1"/>
          </p:cNvSpPr>
          <p:nvPr/>
        </p:nvSpPr>
        <p:spPr>
          <a:xfrm>
            <a:off x="3448050" y="33051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Page tags are visible</a:t>
            </a:r>
          </a:p>
        </p:txBody>
      </p:sp>
      <p:sp>
        <p:nvSpPr>
          <p:cNvPr id="31" name="矩形 30"/>
          <p:cNvSpPr>
            <a:spLocks noGrp="1"/>
          </p:cNvSpPr>
          <p:nvPr/>
        </p:nvSpPr>
        <p:spPr>
          <a:xfrm>
            <a:off x="6019800" y="33051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citations array exists</a:t>
            </a:r>
          </a:p>
        </p:txBody>
      </p:sp>
      <p:sp>
        <p:nvSpPr>
          <p:cNvPr id="32" name="矩形 31"/>
          <p:cNvSpPr>
            <a:spLocks noGrp="1"/>
          </p:cNvSpPr>
          <p:nvPr/>
        </p:nvSpPr>
        <p:spPr>
          <a:xfrm>
            <a:off x="8591550" y="330517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Page numbers come from parsed pages</a:t>
            </a:r>
          </a:p>
        </p:txBody>
      </p:sp>
      <p:sp>
        <p:nvSpPr>
          <p:cNvPr id="33" name="矩形 32"/>
          <p:cNvSpPr>
            <a:spLocks noGrp="1"/>
          </p:cNvSpPr>
          <p:nvPr/>
        </p:nvSpPr>
        <p:spPr>
          <a:xfrm>
            <a:off x="762000" y="3867150"/>
            <a:ext cx="10096500" cy="609600"/>
          </a:xfrm>
          <a:prstGeom prst="rect">
            <a:avLst/>
          </a:prstGeom>
          <a:solidFill>
            <a:srgbClr val="FFFFFF"/>
          </a:solidFill>
          <a:ln w="9525">
            <a:solidFill>
              <a:srgbClr val="A7B8C8"/>
            </a:solidFill>
            <a:prstDash val="solid"/>
          </a:ln>
        </p:spPr>
        <p:txBody>
          <a:bodyPr/>
          <a:lstStyle/>
          <a:p>
            <a:endParaRPr/>
          </a:p>
        </p:txBody>
      </p:sp>
      <p:sp>
        <p:nvSpPr>
          <p:cNvPr id="34" name="矩形 33"/>
          <p:cNvSpPr>
            <a:spLocks noGrp="1"/>
          </p:cNvSpPr>
          <p:nvPr/>
        </p:nvSpPr>
        <p:spPr>
          <a:xfrm>
            <a:off x="876300" y="40100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F5284"/>
                </a:solidFill>
                <a:latin typeface="Lato"/>
                <a:ea typeface="Lato"/>
                <a:cs typeface="Lato"/>
              </a:defRPr>
            </a:pPr>
            <a:r>
              <a:rPr sz="1200" b="1">
                <a:solidFill>
                  <a:srgbClr val="1F5284"/>
                </a:solidFill>
                <a:latin typeface="Lato"/>
                <a:ea typeface="Lato"/>
                <a:cs typeface="Lato"/>
              </a:rPr>
              <a:t>ERROR</a:t>
            </a:r>
          </a:p>
        </p:txBody>
      </p:sp>
      <p:sp>
        <p:nvSpPr>
          <p:cNvPr id="35" name="矩形 34"/>
          <p:cNvSpPr>
            <a:spLocks noGrp="1"/>
          </p:cNvSpPr>
          <p:nvPr/>
        </p:nvSpPr>
        <p:spPr>
          <a:xfrm>
            <a:off x="3448050" y="40100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Message is actionable</a:t>
            </a:r>
          </a:p>
        </p:txBody>
      </p:sp>
      <p:sp>
        <p:nvSpPr>
          <p:cNvPr id="36" name="矩形 35"/>
          <p:cNvSpPr>
            <a:spLocks noGrp="1"/>
          </p:cNvSpPr>
          <p:nvPr/>
        </p:nvSpPr>
        <p:spPr>
          <a:xfrm>
            <a:off x="6019800" y="40100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400 / 404 / 422</a:t>
            </a:r>
          </a:p>
        </p:txBody>
      </p:sp>
      <p:sp>
        <p:nvSpPr>
          <p:cNvPr id="37" name="矩形 36"/>
          <p:cNvSpPr>
            <a:spLocks noGrp="1"/>
          </p:cNvSpPr>
          <p:nvPr/>
        </p:nvSpPr>
        <p:spPr>
          <a:xfrm>
            <a:off x="8591550" y="4010025"/>
            <a:ext cx="2266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First error can be explained</a:t>
            </a:r>
          </a:p>
        </p:txBody>
      </p:sp>
      <p:sp>
        <p:nvSpPr>
          <p:cNvPr id="38" name="圆角矩形 37"/>
          <p:cNvSpPr>
            <a:spLocks noGrp="1"/>
          </p:cNvSpPr>
          <p:nvPr/>
        </p:nvSpPr>
        <p:spPr>
          <a:xfrm>
            <a:off x="762000" y="4781550"/>
            <a:ext cx="10096500" cy="514350"/>
          </a:xfrm>
          <a:prstGeom prst="roundRect">
            <a:avLst>
              <a:gd name="adj" fmla="val 14815"/>
            </a:avLst>
          </a:prstGeom>
          <a:solidFill>
            <a:srgbClr val="EEF7EE"/>
          </a:solidFill>
          <a:ln w="9525">
            <a:solidFill>
              <a:srgbClr val="39825B"/>
            </a:solidFill>
            <a:prstDash val="solid"/>
          </a:ln>
        </p:spPr>
        <p:txBody>
          <a:bodyPr/>
          <a:lstStyle/>
          <a:p>
            <a:endParaRPr/>
          </a:p>
        </p:txBody>
      </p:sp>
      <p:sp>
        <p:nvSpPr>
          <p:cNvPr id="39" name="矩形 38"/>
          <p:cNvSpPr>
            <a:spLocks noGrp="1"/>
          </p:cNvSpPr>
          <p:nvPr/>
        </p:nvSpPr>
        <p:spPr>
          <a:xfrm>
            <a:off x="971550" y="4867275"/>
            <a:ext cx="96774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PEER TEST RULE</a:t>
            </a:r>
          </a:p>
        </p:txBody>
      </p:sp>
      <p:sp>
        <p:nvSpPr>
          <p:cNvPr id="40" name="矩形 39"/>
          <p:cNvSpPr>
            <a:spLocks noGrp="1"/>
          </p:cNvSpPr>
          <p:nvPr/>
        </p:nvSpPr>
        <p:spPr>
          <a:xfrm>
            <a:off x="971550" y="5105400"/>
            <a:ext cx="967740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The author steps away from the keyboard; the peer uses only the UI prompts to complete one known-answer and one unanswerable question.</a:t>
            </a:r>
          </a:p>
        </p:txBody>
      </p:sp>
      <p:sp>
        <p:nvSpPr>
          <p:cNvPr id="41" name="圆角矩形 40"/>
          <p:cNvSpPr>
            <a:spLocks noGrp="1"/>
          </p:cNvSpPr>
          <p:nvPr/>
        </p:nvSpPr>
        <p:spPr>
          <a:xfrm>
            <a:off x="704850" y="5410200"/>
            <a:ext cx="2476500" cy="685800"/>
          </a:xfrm>
          <a:prstGeom prst="roundRect">
            <a:avLst>
              <a:gd name="adj" fmla="val 11111"/>
            </a:avLst>
          </a:prstGeom>
          <a:solidFill>
            <a:srgbClr val="F1F6FA"/>
          </a:solidFill>
          <a:ln w="9525">
            <a:solidFill>
              <a:srgbClr val="1F5284"/>
            </a:solidFill>
            <a:prstDash val="solid"/>
          </a:ln>
        </p:spPr>
        <p:txBody>
          <a:bodyPr/>
          <a:lstStyle/>
          <a:p>
            <a:endParaRPr/>
          </a:p>
        </p:txBody>
      </p:sp>
      <p:sp>
        <p:nvSpPr>
          <p:cNvPr id="42" name="矩形 41"/>
          <p:cNvSpPr>
            <a:spLocks noGrp="1"/>
          </p:cNvSpPr>
          <p:nvPr/>
        </p:nvSpPr>
        <p:spPr>
          <a:xfrm>
            <a:off x="838200" y="55054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YOU ALREADY HAVE</a:t>
            </a:r>
          </a:p>
        </p:txBody>
      </p:sp>
      <p:sp>
        <p:nvSpPr>
          <p:cNvPr id="43" name="矩形 42"/>
          <p:cNvSpPr>
            <a:spLocks noGrp="1"/>
          </p:cNvSpPr>
          <p:nvPr/>
        </p:nvSpPr>
        <p:spPr>
          <a:xfrm>
            <a:off x="838200" y="57054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Actual Classroom PDF</a:t>
            </a:r>
          </a:p>
        </p:txBody>
      </p:sp>
      <p:sp>
        <p:nvSpPr>
          <p:cNvPr id="44" name="圆角矩形 43"/>
          <p:cNvSpPr>
            <a:spLocks noGrp="1"/>
          </p:cNvSpPr>
          <p:nvPr/>
        </p:nvSpPr>
        <p:spPr>
          <a:xfrm>
            <a:off x="3352800" y="5410200"/>
            <a:ext cx="2476500" cy="685800"/>
          </a:xfrm>
          <a:prstGeom prst="roundRect">
            <a:avLst>
              <a:gd name="adj" fmla="val 11111"/>
            </a:avLst>
          </a:prstGeom>
          <a:solidFill>
            <a:srgbClr val="FFFFFF"/>
          </a:solidFill>
          <a:ln w="9525">
            <a:solidFill>
              <a:srgbClr val="0070C0"/>
            </a:solidFill>
            <a:prstDash val="solid"/>
          </a:ln>
        </p:spPr>
        <p:txBody>
          <a:bodyPr/>
          <a:lstStyle/>
          <a:p>
            <a:endParaRPr/>
          </a:p>
        </p:txBody>
      </p:sp>
      <p:sp>
        <p:nvSpPr>
          <p:cNvPr id="45" name="矩形 44"/>
          <p:cNvSpPr>
            <a:spLocks noGrp="1"/>
          </p:cNvSpPr>
          <p:nvPr/>
        </p:nvSpPr>
        <p:spPr>
          <a:xfrm>
            <a:off x="3486150" y="55054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0070C0"/>
                </a:solidFill>
                <a:latin typeface="Lato"/>
                <a:ea typeface="Lato"/>
                <a:cs typeface="Lato"/>
              </a:defRPr>
            </a:pPr>
            <a:r>
              <a:rPr sz="750" b="1">
                <a:solidFill>
                  <a:srgbClr val="0070C0"/>
                </a:solidFill>
                <a:latin typeface="Lato"/>
                <a:ea typeface="Lato"/>
                <a:cs typeface="Lato"/>
              </a:rPr>
              <a:t>UI</a:t>
            </a:r>
          </a:p>
        </p:txBody>
      </p:sp>
      <p:sp>
        <p:nvSpPr>
          <p:cNvPr id="46" name="矩形 45"/>
          <p:cNvSpPr>
            <a:spLocks noGrp="1"/>
          </p:cNvSpPr>
          <p:nvPr/>
        </p:nvSpPr>
        <p:spPr>
          <a:xfrm>
            <a:off x="3486150" y="57054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State Tells the Truth</a:t>
            </a:r>
          </a:p>
        </p:txBody>
      </p:sp>
      <p:sp>
        <p:nvSpPr>
          <p:cNvPr id="47" name="圆角矩形 46"/>
          <p:cNvSpPr>
            <a:spLocks noGrp="1"/>
          </p:cNvSpPr>
          <p:nvPr/>
        </p:nvSpPr>
        <p:spPr>
          <a:xfrm>
            <a:off x="6000750" y="5410200"/>
            <a:ext cx="2476500" cy="685800"/>
          </a:xfrm>
          <a:prstGeom prst="roundRect">
            <a:avLst>
              <a:gd name="adj" fmla="val 11111"/>
            </a:avLst>
          </a:prstGeom>
          <a:solidFill>
            <a:srgbClr val="EEF7EE"/>
          </a:solidFill>
          <a:ln w="9525">
            <a:solidFill>
              <a:srgbClr val="39825B"/>
            </a:solidFill>
            <a:prstDash val="solid"/>
          </a:ln>
        </p:spPr>
        <p:txBody>
          <a:bodyPr/>
          <a:lstStyle/>
          <a:p>
            <a:endParaRPr/>
          </a:p>
        </p:txBody>
      </p:sp>
      <p:sp>
        <p:nvSpPr>
          <p:cNvPr id="48" name="矩形 47"/>
          <p:cNvSpPr>
            <a:spLocks noGrp="1"/>
          </p:cNvSpPr>
          <p:nvPr/>
        </p:nvSpPr>
        <p:spPr>
          <a:xfrm>
            <a:off x="6134100" y="55054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NETWORK</a:t>
            </a:r>
          </a:p>
        </p:txBody>
      </p:sp>
      <p:sp>
        <p:nvSpPr>
          <p:cNvPr id="49" name="矩形 48"/>
          <p:cNvSpPr>
            <a:spLocks noGrp="1"/>
          </p:cNvSpPr>
          <p:nvPr/>
        </p:nvSpPr>
        <p:spPr>
          <a:xfrm>
            <a:off x="6134100" y="57054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Both Requests Are Visible</a:t>
            </a:r>
          </a:p>
        </p:txBody>
      </p:sp>
      <p:sp>
        <p:nvSpPr>
          <p:cNvPr id="50" name="圆角矩形 49"/>
          <p:cNvSpPr>
            <a:spLocks noGrp="1"/>
          </p:cNvSpPr>
          <p:nvPr/>
        </p:nvSpPr>
        <p:spPr>
          <a:xfrm>
            <a:off x="8648700" y="5410200"/>
            <a:ext cx="2476500" cy="685800"/>
          </a:xfrm>
          <a:prstGeom prst="roundRect">
            <a:avLst>
              <a:gd name="adj" fmla="val 11111"/>
            </a:avLst>
          </a:prstGeom>
          <a:solidFill>
            <a:srgbClr val="FFF8E6"/>
          </a:solidFill>
          <a:ln w="9525">
            <a:solidFill>
              <a:srgbClr val="D4A72C"/>
            </a:solidFill>
            <a:prstDash val="solid"/>
          </a:ln>
        </p:spPr>
        <p:txBody>
          <a:bodyPr/>
          <a:lstStyle/>
          <a:p>
            <a:endParaRPr/>
          </a:p>
        </p:txBody>
      </p:sp>
      <p:sp>
        <p:nvSpPr>
          <p:cNvPr id="51" name="矩形 50"/>
          <p:cNvSpPr>
            <a:spLocks noGrp="1"/>
          </p:cNvSpPr>
          <p:nvPr/>
        </p:nvSpPr>
        <p:spPr>
          <a:xfrm>
            <a:off x="8782050" y="550545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D4A72C"/>
                </a:solidFill>
                <a:latin typeface="Lato"/>
                <a:ea typeface="Lato"/>
                <a:cs typeface="Lato"/>
              </a:defRPr>
            </a:pPr>
            <a:r>
              <a:rPr sz="750" b="1">
                <a:solidFill>
                  <a:srgbClr val="D4A72C"/>
                </a:solidFill>
                <a:latin typeface="Lato"/>
                <a:ea typeface="Lato"/>
                <a:cs typeface="Lato"/>
              </a:rPr>
              <a:t>NEXT</a:t>
            </a:r>
          </a:p>
        </p:txBody>
      </p:sp>
      <p:sp>
        <p:nvSpPr>
          <p:cNvPr id="52" name="矩形 51"/>
          <p:cNvSpPr>
            <a:spLocks noGrp="1"/>
          </p:cNvSpPr>
          <p:nvPr/>
        </p:nvSpPr>
        <p:spPr>
          <a:xfrm>
            <a:off x="8782050" y="570547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Open a PR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3B74"/>
        </a:solidFill>
        <a:effectLst/>
      </p:bgPr>
    </p:bg>
    <p:spTree>
      <p:nvGrpSpPr>
        <p:cNvPr id="1" name=""/>
        <p:cNvGrpSpPr/>
        <p:nvPr/>
      </p:nvGrpSpPr>
      <p:grpSpPr>
        <a:xfrm>
          <a:off x="0" y="0"/>
          <a:ext cx="0" cy="0"/>
          <a:chOff x="0" y="0"/>
          <a:chExt cx="0" cy="0"/>
        </a:xfrm>
      </p:grpSpPr>
      <p:sp>
        <p:nvSpPr>
          <p:cNvPr id="26" name="矩形 25"/>
          <p:cNvSpPr>
            <a:spLocks noGrp="1"/>
          </p:cNvSpPr>
          <p:nvPr/>
        </p:nvSpPr>
        <p:spPr>
          <a:xfrm>
            <a:off x="0" y="0"/>
            <a:ext cx="12192000" cy="6858000"/>
          </a:xfrm>
          <a:prstGeom prst="rect">
            <a:avLst/>
          </a:prstGeom>
          <a:solidFill>
            <a:srgbClr val="003B74"/>
          </a:solidFill>
          <a:ln w="9525">
            <a:solidFill>
              <a:srgbClr val="003B74"/>
            </a:solidFill>
            <a:prstDash val="solid"/>
          </a:ln>
        </p:spPr>
        <p:txBody>
          <a:bodyPr/>
          <a:lstStyle/>
          <a:p>
            <a:endParaRPr/>
          </a:p>
        </p:txBody>
      </p:sp>
      <p:sp>
        <p:nvSpPr>
          <p:cNvPr id="2" name="矩形 1"/>
          <p:cNvSpPr>
            <a:spLocks noGrp="1"/>
          </p:cNvSpPr>
          <p:nvPr/>
        </p:nvSpPr>
        <p:spPr>
          <a:xfrm>
            <a:off x="0" y="2571750"/>
            <a:ext cx="190500" cy="1143000"/>
          </a:xfrm>
          <a:prstGeom prst="rect">
            <a:avLst/>
          </a:prstGeom>
          <a:solidFill>
            <a:srgbClr val="00467F"/>
          </a:solidFill>
          <a:ln w="9525">
            <a:solidFill>
              <a:srgbClr val="00467F"/>
            </a:solidFill>
            <a:prstDash val="solid"/>
          </a:ln>
        </p:spPr>
        <p:txBody>
          <a:bodyPr/>
          <a:lstStyle/>
          <a:p>
            <a:endParaRPr/>
          </a:p>
        </p:txBody>
      </p:sp>
      <p:sp>
        <p:nvSpPr>
          <p:cNvPr id="3" name="矩形 2"/>
          <p:cNvSpPr>
            <a:spLocks noGrp="1"/>
          </p:cNvSpPr>
          <p:nvPr/>
        </p:nvSpPr>
        <p:spPr>
          <a:xfrm>
            <a:off x="781050" y="220980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D8E6EF"/>
                </a:solidFill>
                <a:latin typeface="Lato"/>
                <a:ea typeface="Lato"/>
                <a:cs typeface="Lato"/>
              </a:defRPr>
            </a:pPr>
            <a:r>
              <a:rPr sz="975" b="1">
                <a:solidFill>
                  <a:srgbClr val="D8E6EF"/>
                </a:solidFill>
                <a:latin typeface="Lato"/>
                <a:ea typeface="Lato"/>
                <a:cs typeface="Lato"/>
              </a:rPr>
              <a:t>HANDOFF &amp; SHARE</a:t>
            </a:r>
          </a:p>
        </p:txBody>
      </p:sp>
      <p:sp>
        <p:nvSpPr>
          <p:cNvPr id="4" name="矩形 3"/>
          <p:cNvSpPr>
            <a:spLocks noGrp="1"/>
          </p:cNvSpPr>
          <p:nvPr/>
        </p:nvSpPr>
        <p:spPr>
          <a:xfrm>
            <a:off x="781050" y="2647950"/>
            <a:ext cx="9982200" cy="1066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300" b="1">
                <a:solidFill>
                  <a:srgbClr val="FFFFFF"/>
                </a:solidFill>
                <a:latin typeface="Lato"/>
                <a:ea typeface="Lato"/>
                <a:cs typeface="Lato"/>
              </a:defRPr>
            </a:pPr>
            <a:r>
              <a:rPr sz="3300" b="1">
                <a:solidFill>
                  <a:srgbClr val="FFFFFF"/>
                </a:solidFill>
                <a:latin typeface="Lato"/>
                <a:ea typeface="Lato"/>
                <a:cs typeface="Lato"/>
              </a:rPr>
              <a:t>Core concept 4 | PR, deployment, and public test</a:t>
            </a:r>
          </a:p>
        </p:txBody>
      </p:sp>
      <p:sp>
        <p:nvSpPr>
          <p:cNvPr id="5" name="矩形 4"/>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D8E6EF"/>
                </a:solidFill>
                <a:latin typeface="Lato"/>
                <a:ea typeface="Lato"/>
                <a:cs typeface="Lato"/>
              </a:defRPr>
            </a:pPr>
            <a:r>
              <a:rPr sz="825" b="1">
                <a:solidFill>
                  <a:srgbClr val="D8E6EF"/>
                </a:solidFill>
                <a:latin typeface="Lato"/>
                <a:ea typeface="Lato"/>
                <a:cs typeface="Lato"/>
              </a:rPr>
              <a:t>TEACHER CORE · 52–54 MIN</a:t>
            </a:r>
          </a:p>
        </p:txBody>
      </p:sp>
      <p:sp>
        <p:nvSpPr>
          <p:cNvPr id="6" name="矩形 5"/>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9" name="矩形 8"/>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10" name="矩形 9"/>
          <p:cNvSpPr>
            <a:spLocks noGrp="1"/>
          </p:cNvSpPr>
          <p:nvPr/>
        </p:nvSpPr>
        <p:spPr>
          <a:xfrm>
            <a:off x="10648950" y="647700"/>
            <a:ext cx="400050" cy="28575"/>
          </a:xfrm>
          <a:prstGeom prst="rect">
            <a:avLst/>
          </a:prstGeom>
          <a:solidFill>
            <a:srgbClr val="7FA0B9"/>
          </a:solidFill>
          <a:ln w="9525">
            <a:solidFill>
              <a:srgbClr val="7FA0B9"/>
            </a:solidFill>
            <a:prstDash val="solid"/>
          </a:ln>
        </p:spPr>
        <p:txBody>
          <a:bodyPr/>
          <a:lstStyle/>
          <a:p>
            <a:endParaRP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34</a:t>
            </a:r>
          </a:p>
        </p:txBody>
      </p:sp>
      <p:sp>
        <p:nvSpPr>
          <p:cNvPr id="15" name="矩形 14"/>
          <p:cNvSpPr>
            <a:spLocks noGrp="1"/>
          </p:cNvSpPr>
          <p:nvPr/>
        </p:nvSpPr>
        <p:spPr>
          <a:xfrm>
            <a:off x="781050" y="1600200"/>
            <a:ext cx="24765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D6E6F3"/>
                </a:solidFill>
                <a:latin typeface="Lato"/>
                <a:ea typeface="Lato"/>
                <a:cs typeface="Lato"/>
              </a:defRPr>
            </a:pPr>
            <a:r>
              <a:rPr sz="1200" b="1">
                <a:solidFill>
                  <a:srgbClr val="D6E6F3"/>
                </a:solidFill>
                <a:latin typeface="Lato"/>
                <a:ea typeface="Lato"/>
                <a:cs typeface="Lato"/>
              </a:rPr>
              <a:t>SECTION 04</a:t>
            </a:r>
          </a:p>
        </p:txBody>
      </p:sp>
      <p:sp>
        <p:nvSpPr>
          <p:cNvPr id="16" name="矩形 15"/>
          <p:cNvSpPr>
            <a:spLocks noGrp="1"/>
          </p:cNvSpPr>
          <p:nvPr/>
        </p:nvSpPr>
        <p:spPr>
          <a:xfrm>
            <a:off x="781050" y="3905250"/>
            <a:ext cx="9296400" cy="4762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650" b="0">
                <a:solidFill>
                  <a:srgbClr val="E1EBF2"/>
                </a:solidFill>
                <a:latin typeface="Lato"/>
                <a:ea typeface="Lato"/>
                <a:cs typeface="Lato"/>
              </a:defRPr>
            </a:pPr>
            <a:r>
              <a:rPr sz="1650" b="0">
                <a:solidFill>
                  <a:srgbClr val="E1EBF2"/>
                </a:solidFill>
                <a:latin typeface="Lato"/>
                <a:ea typeface="Lato"/>
                <a:cs typeface="Lato"/>
              </a:rPr>
              <a:t>Delivery is complete only when someone else can understand and run the code again.</a:t>
            </a:r>
          </a:p>
        </p:txBody>
      </p:sp>
      <p:sp>
        <p:nvSpPr>
          <p:cNvPr id="17" name="圆角矩形 16"/>
          <p:cNvSpPr>
            <a:spLocks noGrp="1"/>
          </p:cNvSpPr>
          <p:nvPr/>
        </p:nvSpPr>
        <p:spPr>
          <a:xfrm>
            <a:off x="7810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18" name="矩形 17"/>
          <p:cNvSpPr>
            <a:spLocks noGrp="1"/>
          </p:cNvSpPr>
          <p:nvPr/>
        </p:nvSpPr>
        <p:spPr>
          <a:xfrm>
            <a:off x="9525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WHY</a:t>
            </a:r>
          </a:p>
        </p:txBody>
      </p:sp>
      <p:sp>
        <p:nvSpPr>
          <p:cNvPr id="19" name="矩形 18"/>
          <p:cNvSpPr>
            <a:spLocks noGrp="1"/>
          </p:cNvSpPr>
          <p:nvPr/>
        </p:nvSpPr>
        <p:spPr>
          <a:xfrm>
            <a:off x="9525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It running for you does not mean it will run for a peer.</a:t>
            </a:r>
          </a:p>
        </p:txBody>
      </p:sp>
      <p:sp>
        <p:nvSpPr>
          <p:cNvPr id="20" name="圆角矩形 19"/>
          <p:cNvSpPr>
            <a:spLocks noGrp="1"/>
          </p:cNvSpPr>
          <p:nvPr/>
        </p:nvSpPr>
        <p:spPr>
          <a:xfrm>
            <a:off x="426720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1" name="矩形 20"/>
          <p:cNvSpPr>
            <a:spLocks noGrp="1"/>
          </p:cNvSpPr>
          <p:nvPr/>
        </p:nvSpPr>
        <p:spPr>
          <a:xfrm>
            <a:off x="443865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WHAT TO LEARN</a:t>
            </a:r>
          </a:p>
        </p:txBody>
      </p:sp>
      <p:sp>
        <p:nvSpPr>
          <p:cNvPr id="22" name="矩形 21"/>
          <p:cNvSpPr>
            <a:spLocks noGrp="1"/>
          </p:cNvSpPr>
          <p:nvPr/>
        </p:nvSpPr>
        <p:spPr>
          <a:xfrm>
            <a:off x="443865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Commits, review, public services, and peer retesting.</a:t>
            </a:r>
          </a:p>
        </p:txBody>
      </p:sp>
      <p:sp>
        <p:nvSpPr>
          <p:cNvPr id="23" name="圆角矩形 22"/>
          <p:cNvSpPr>
            <a:spLocks noGrp="1"/>
          </p:cNvSpPr>
          <p:nvPr/>
        </p:nvSpPr>
        <p:spPr>
          <a:xfrm>
            <a:off x="7753350" y="4705350"/>
            <a:ext cx="3219450" cy="857250"/>
          </a:xfrm>
          <a:prstGeom prst="roundRect">
            <a:avLst>
              <a:gd name="adj" fmla="val 8889"/>
            </a:avLst>
          </a:prstGeom>
          <a:solidFill>
            <a:srgbClr val="F1F6FA"/>
          </a:solidFill>
          <a:ln w="9525">
            <a:solidFill>
              <a:srgbClr val="D6E6F3"/>
            </a:solidFill>
            <a:prstDash val="solid"/>
          </a:ln>
        </p:spPr>
        <p:txBody>
          <a:bodyPr/>
          <a:lstStyle/>
          <a:p>
            <a:endParaRPr/>
          </a:p>
        </p:txBody>
      </p:sp>
      <p:sp>
        <p:nvSpPr>
          <p:cNvPr id="24" name="矩形 23"/>
          <p:cNvSpPr>
            <a:spLocks noGrp="1"/>
          </p:cNvSpPr>
          <p:nvPr/>
        </p:nvSpPr>
        <p:spPr>
          <a:xfrm>
            <a:off x="7924800" y="4838700"/>
            <a:ext cx="8763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825" b="1">
                <a:solidFill>
                  <a:srgbClr val="1F5284"/>
                </a:solidFill>
                <a:latin typeface="Lato"/>
                <a:ea typeface="Lato"/>
                <a:cs typeface="Lato"/>
              </a:defRPr>
            </a:pPr>
            <a:r>
              <a:rPr sz="825" b="1">
                <a:solidFill>
                  <a:srgbClr val="1F5284"/>
                </a:solidFill>
                <a:latin typeface="Lato"/>
                <a:ea typeface="Lato"/>
                <a:cs typeface="Lato"/>
              </a:rPr>
              <a:t>PASS CRITERIA</a:t>
            </a:r>
          </a:p>
        </p:txBody>
      </p:sp>
      <p:sp>
        <p:nvSpPr>
          <p:cNvPr id="25" name="矩形 24"/>
          <p:cNvSpPr>
            <a:spLocks noGrp="1"/>
          </p:cNvSpPr>
          <p:nvPr/>
        </p:nvSpPr>
        <p:spPr>
          <a:xfrm>
            <a:off x="7924800" y="5105400"/>
            <a:ext cx="285750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163F68"/>
                </a:solidFill>
                <a:latin typeface="Lato"/>
                <a:ea typeface="Lato"/>
                <a:cs typeface="Lato"/>
              </a:defRPr>
            </a:pPr>
            <a:r>
              <a:rPr sz="1125" b="0">
                <a:solidFill>
                  <a:srgbClr val="163F68"/>
                </a:solidFill>
                <a:latin typeface="Lato"/>
                <a:ea typeface="Lato"/>
                <a:cs typeface="Lato"/>
              </a:rPr>
              <a:t>Explain what was done, how to run it, and what limitations remain.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矩形 30"/>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GIT + GITHUB</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First PR: hand runnable changes to a peer for review</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C · DEPLOY</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Merge the reviewed PR into your own fork/main, then sync local main before deployment</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35</a:t>
            </a:r>
          </a:p>
        </p:txBody>
      </p:sp>
      <p:sp>
        <p:nvSpPr>
          <p:cNvPr id="15" name="圆角矩形 14"/>
          <p:cNvSpPr>
            <a:spLocks noGrp="1"/>
          </p:cNvSpPr>
          <p:nvPr/>
        </p:nvSpPr>
        <p:spPr>
          <a:xfrm>
            <a:off x="685800" y="1409700"/>
            <a:ext cx="6191250" cy="2076450"/>
          </a:xfrm>
          <a:prstGeom prst="roundRect">
            <a:avLst>
              <a:gd name="adj" fmla="val 3670"/>
            </a:avLst>
          </a:prstGeom>
          <a:solidFill>
            <a:srgbClr val="003B74"/>
          </a:solidFill>
          <a:ln w="9525">
            <a:solidFill>
              <a:srgbClr val="003B74"/>
            </a:solidFill>
            <a:prstDash val="solid"/>
          </a:ln>
        </p:spPr>
        <p:txBody>
          <a:bodyPr/>
          <a:lstStyle/>
          <a:p>
            <a:endParaRPr/>
          </a:p>
        </p:txBody>
      </p:sp>
      <p:sp>
        <p:nvSpPr>
          <p:cNvPr id="16" name="矩形 15"/>
          <p:cNvSpPr>
            <a:spLocks noGrp="1"/>
          </p:cNvSpPr>
          <p:nvPr/>
        </p:nvSpPr>
        <p:spPr>
          <a:xfrm>
            <a:off x="857250" y="1543050"/>
            <a:ext cx="58483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PREPARE THE DOCKERFILE, THEN COMMIT, REVIEW, MERGE, AND SYNC</a:t>
            </a:r>
          </a:p>
        </p:txBody>
      </p:sp>
      <p:sp>
        <p:nvSpPr>
          <p:cNvPr id="17" name="矩形 16"/>
          <p:cNvSpPr>
            <a:spLocks noGrp="1"/>
          </p:cNvSpPr>
          <p:nvPr/>
        </p:nvSpPr>
        <p:spPr>
          <a:xfrm>
            <a:off x="857250" y="1809750"/>
            <a:ext cx="5848350" cy="1562100"/>
          </a:xfrm>
          <a:prstGeom prst="rect">
            <a:avLst/>
          </a:prstGeom>
          <a:solidFill>
            <a:srgbClr val="FFFFFF">
              <a:alpha val="0"/>
            </a:srgbClr>
          </a:solidFill>
          <a:ln w="0">
            <a:solidFill>
              <a:srgbClr val="000000">
                <a:alpha val="0"/>
              </a:srgbClr>
            </a:solidFill>
            <a:prstDash val="solid"/>
          </a:ln>
        </p:spPr>
        <p:txBody>
          <a:bodyPr lIns="171450" tIns="152400" rIns="171450" bIns="133350" anchor="t">
            <a:normAutofit fontScale="74405" lnSpcReduction="10000"/>
          </a:bodyPr>
          <a:lstStyle/>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remote -v</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status --short</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branch --show-current</a:t>
            </a:r>
          </a:p>
          <a:p>
            <a:endParaRPr sz="940"/>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 Before the PR: create/review smartlearn-backend/Dockerfile</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add smartlearn-backend smartlearn-frontend</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diff --cached --name-only</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check-ignore .env .venv node_modules dist</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commit -m "feat: build Day 2 PDF chat"</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push -u origin feature/day2-lite</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 GitHub: review and merge the PR into your fork/main</a:t>
            </a:r>
          </a:p>
          <a:p>
            <a:pPr algn="l">
              <a:buNone/>
              <a:defRPr sz="1050" b="0">
                <a:solidFill>
                  <a:srgbClr val="F1F6FA"/>
                </a:solidFill>
                <a:latin typeface="Monaco"/>
                <a:ea typeface="Monaco"/>
                <a:cs typeface="Monaco"/>
              </a:defRPr>
            </a:pPr>
            <a:r>
              <a:rPr sz="940" b="0">
                <a:solidFill>
                  <a:srgbClr val="F4F8FB"/>
                </a:solidFill>
                <a:latin typeface="Consolas"/>
                <a:ea typeface="Consolas"/>
                <a:cs typeface="Consolas"/>
              </a:rPr>
              <a:t>git switch main &amp;&amp; git pull --ff-only origin main</a:t>
            </a:r>
          </a:p>
        </p:txBody>
      </p:sp>
      <p:sp>
        <p:nvSpPr>
          <p:cNvPr id="18" name="圆角矩形 17"/>
          <p:cNvSpPr>
            <a:spLocks noGrp="1"/>
          </p:cNvSpPr>
          <p:nvPr/>
        </p:nvSpPr>
        <p:spPr>
          <a:xfrm>
            <a:off x="685800" y="3676650"/>
            <a:ext cx="6191250" cy="1219200"/>
          </a:xfrm>
          <a:prstGeom prst="roundRect">
            <a:avLst>
              <a:gd name="adj" fmla="val 6250"/>
            </a:avLst>
          </a:prstGeom>
          <a:solidFill>
            <a:srgbClr val="003B74"/>
          </a:solidFill>
          <a:ln w="9525">
            <a:solidFill>
              <a:srgbClr val="003B74"/>
            </a:solidFill>
            <a:prstDash val="solid"/>
          </a:ln>
        </p:spPr>
        <p:txBody>
          <a:bodyPr/>
          <a:lstStyle/>
          <a:p>
            <a:endParaRPr/>
          </a:p>
        </p:txBody>
      </p:sp>
      <p:sp>
        <p:nvSpPr>
          <p:cNvPr id="19" name="矩形 18"/>
          <p:cNvSpPr>
            <a:spLocks noGrp="1"/>
          </p:cNvSpPr>
          <p:nvPr/>
        </p:nvSpPr>
        <p:spPr>
          <a:xfrm>
            <a:off x="857250" y="3810000"/>
            <a:ext cx="58483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.GITIGNORE · PATHS MATCH THE ACTUAL DIRECTORIES</a:t>
            </a:r>
          </a:p>
        </p:txBody>
      </p:sp>
      <p:sp>
        <p:nvSpPr>
          <p:cNvPr id="20" name="矩形 19"/>
          <p:cNvSpPr>
            <a:spLocks noGrp="1"/>
          </p:cNvSpPr>
          <p:nvPr/>
        </p:nvSpPr>
        <p:spPr>
          <a:xfrm>
            <a:off x="857250" y="4076700"/>
            <a:ext cx="5848350" cy="704850"/>
          </a:xfrm>
          <a:prstGeom prst="rect">
            <a:avLst/>
          </a:prstGeom>
          <a:solidFill>
            <a:srgbClr val="FFFFFF">
              <a:alpha val="0"/>
            </a:srgbClr>
          </a:solidFill>
          <a:ln w="0">
            <a:solidFill>
              <a:srgbClr val="000000">
                <a:alpha val="0"/>
              </a:srgbClr>
            </a:solidFill>
            <a:prstDash val="solid"/>
          </a:ln>
        </p:spPr>
        <p:txBody>
          <a:bodyPr lIns="0" tIns="0" rIns="0" bIns="0" anchor="t">
            <a:normAutofit fontScale="85648"/>
          </a:bodyPr>
          <a:lstStyle/>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**/.env</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**/.venv/</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**/node_modules/</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**/dist/</a:t>
            </a:r>
          </a:p>
        </p:txBody>
      </p:sp>
      <p:sp>
        <p:nvSpPr>
          <p:cNvPr id="21" name="圆角矩形 20"/>
          <p:cNvSpPr>
            <a:spLocks noGrp="1"/>
          </p:cNvSpPr>
          <p:nvPr/>
        </p:nvSpPr>
        <p:spPr>
          <a:xfrm>
            <a:off x="7219950" y="1428750"/>
            <a:ext cx="3790950" cy="876300"/>
          </a:xfrm>
          <a:prstGeom prst="roundRect">
            <a:avLst>
              <a:gd name="adj" fmla="val 8696"/>
            </a:avLst>
          </a:prstGeom>
          <a:solidFill>
            <a:srgbClr val="F1F6FA"/>
          </a:solidFill>
          <a:ln w="9525">
            <a:solidFill>
              <a:srgbClr val="1F5284"/>
            </a:solidFill>
            <a:prstDash val="solid"/>
          </a:ln>
        </p:spPr>
        <p:txBody>
          <a:bodyPr/>
          <a:lstStyle/>
          <a:p>
            <a:endParaRPr/>
          </a:p>
        </p:txBody>
      </p:sp>
      <p:sp>
        <p:nvSpPr>
          <p:cNvPr id="22" name="矩形 21"/>
          <p:cNvSpPr>
            <a:spLocks noGrp="1"/>
          </p:cNvSpPr>
          <p:nvPr/>
        </p:nvSpPr>
        <p:spPr>
          <a:xfrm>
            <a:off x="7429500" y="1590675"/>
            <a:ext cx="33718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PR TITLE</a:t>
            </a:r>
          </a:p>
        </p:txBody>
      </p:sp>
      <p:sp>
        <p:nvSpPr>
          <p:cNvPr id="23" name="矩形 22"/>
          <p:cNvSpPr>
            <a:spLocks noGrp="1"/>
          </p:cNvSpPr>
          <p:nvPr/>
        </p:nvSpPr>
        <p:spPr>
          <a:xfrm>
            <a:off x="7429500" y="1981200"/>
            <a:ext cx="337185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Day 2: minimal PDF chat</a:t>
            </a:r>
          </a:p>
        </p:txBody>
      </p:sp>
      <p:sp>
        <p:nvSpPr>
          <p:cNvPr id="24" name="圆角矩形 23"/>
          <p:cNvSpPr>
            <a:spLocks noGrp="1"/>
          </p:cNvSpPr>
          <p:nvPr/>
        </p:nvSpPr>
        <p:spPr>
          <a:xfrm>
            <a:off x="7219950" y="2495550"/>
            <a:ext cx="3790950" cy="876300"/>
          </a:xfrm>
          <a:prstGeom prst="roundRect">
            <a:avLst>
              <a:gd name="adj" fmla="val 8696"/>
            </a:avLst>
          </a:prstGeom>
          <a:solidFill>
            <a:srgbClr val="F1F6FA"/>
          </a:solidFill>
          <a:ln w="9525">
            <a:solidFill>
              <a:srgbClr val="0070C0"/>
            </a:solidFill>
            <a:prstDash val="solid"/>
          </a:ln>
        </p:spPr>
        <p:txBody>
          <a:bodyPr/>
          <a:lstStyle/>
          <a:p>
            <a:endParaRPr/>
          </a:p>
        </p:txBody>
      </p:sp>
      <p:sp>
        <p:nvSpPr>
          <p:cNvPr id="25" name="矩形 24"/>
          <p:cNvSpPr>
            <a:spLocks noGrp="1"/>
          </p:cNvSpPr>
          <p:nvPr/>
        </p:nvSpPr>
        <p:spPr>
          <a:xfrm>
            <a:off x="7429500" y="2657475"/>
            <a:ext cx="33718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How to test</a:t>
            </a:r>
          </a:p>
        </p:txBody>
      </p:sp>
      <p:sp>
        <p:nvSpPr>
          <p:cNvPr id="26" name="矩形 25"/>
          <p:cNvSpPr>
            <a:spLocks noGrp="1"/>
          </p:cNvSpPr>
          <p:nvPr/>
        </p:nvSpPr>
        <p:spPr>
          <a:xfrm>
            <a:off x="7429500" y="3048000"/>
            <a:ext cx="3371850" cy="1905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Document /health, /upload?chat_id=, /chat, and frontend startup.</a:t>
            </a:r>
          </a:p>
        </p:txBody>
      </p:sp>
      <p:sp>
        <p:nvSpPr>
          <p:cNvPr id="27" name="圆角矩形 26"/>
          <p:cNvSpPr>
            <a:spLocks noGrp="1"/>
          </p:cNvSpPr>
          <p:nvPr/>
        </p:nvSpPr>
        <p:spPr>
          <a:xfrm>
            <a:off x="7219950" y="3562350"/>
            <a:ext cx="3790950" cy="1085850"/>
          </a:xfrm>
          <a:prstGeom prst="roundRect">
            <a:avLst>
              <a:gd name="adj" fmla="val 7018"/>
            </a:avLst>
          </a:prstGeom>
          <a:solidFill>
            <a:srgbClr val="EEF7EE"/>
          </a:solidFill>
          <a:ln w="9525">
            <a:solidFill>
              <a:srgbClr val="39825B"/>
            </a:solidFill>
            <a:prstDash val="solid"/>
          </a:ln>
        </p:spPr>
        <p:txBody>
          <a:bodyPr/>
          <a:lstStyle/>
          <a:p>
            <a:endParaRPr/>
          </a:p>
        </p:txBody>
      </p:sp>
      <p:sp>
        <p:nvSpPr>
          <p:cNvPr id="28" name="矩形 27"/>
          <p:cNvSpPr>
            <a:spLocks noGrp="1"/>
          </p:cNvSpPr>
          <p:nvPr/>
        </p:nvSpPr>
        <p:spPr>
          <a:xfrm>
            <a:off x="7429500" y="3724275"/>
            <a:ext cx="33718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Evidence + limitation</a:t>
            </a:r>
          </a:p>
        </p:txBody>
      </p:sp>
      <p:sp>
        <p:nvSpPr>
          <p:cNvPr id="29" name="矩形 28"/>
          <p:cNvSpPr>
            <a:spLocks noGrp="1"/>
          </p:cNvSpPr>
          <p:nvPr/>
        </p:nvSpPr>
        <p:spPr>
          <a:xfrm>
            <a:off x="7429500" y="4114800"/>
            <a:ext cx="3371850" cy="4000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Record JSON and page checks; data is in memory and uploads never reach disk.</a:t>
            </a:r>
          </a:p>
        </p:txBody>
      </p:sp>
      <p:sp>
        <p:nvSpPr>
          <p:cNvPr id="30" name="矩形 29"/>
          <p:cNvSpPr>
            <a:spLocks noGrp="1"/>
          </p:cNvSpPr>
          <p:nvPr/>
        </p:nvSpPr>
        <p:spPr>
          <a:xfrm>
            <a:off x="742950" y="5010150"/>
            <a:ext cx="102870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C85A4E"/>
                </a:solidFill>
                <a:latin typeface="Lato"/>
                <a:ea typeface="Lato"/>
                <a:cs typeface="Lato"/>
              </a:defRPr>
            </a:pPr>
            <a:r>
              <a:rPr sz="1275" b="1">
                <a:solidFill>
                  <a:srgbClr val="C85A4E"/>
                </a:solidFill>
                <a:latin typeface="Lato"/>
                <a:ea typeface="Lato"/>
                <a:cs typeface="Lato"/>
              </a:rPr>
              <a:t>Exclude .env, .venv, node_modules, and dist; merge only after review.</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矩形 26"/>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HOW TWO PUBLIC SERVICES CONNECT</a:t>
            </a:r>
          </a:p>
        </p:txBody>
      </p:sp>
      <p:sp>
        <p:nvSpPr>
          <p:cNvPr id="3" name="矩形 2"/>
          <p:cNvSpPr>
            <a:spLocks noGrp="1"/>
          </p:cNvSpPr>
          <p:nvPr/>
        </p:nvSpPr>
        <p:spPr>
          <a:xfrm>
            <a:off x="781050" y="781050"/>
            <a:ext cx="10605135"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Deployment connects source, backend, and frontend</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TEACHER CORE · 54–58 MIN</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36</a:t>
            </a:r>
          </a:p>
        </p:txBody>
      </p:sp>
      <p:pic>
        <p:nvPicPr>
          <p:cNvPr id="72" name="图片 39"/>
          <p:cNvPicPr>
            <a:picLocks noChangeAspect="1"/>
          </p:cNvPicPr>
          <p:nvPr/>
        </p:nvPicPr>
        <p:blipFill>
          <a:blip r:embed="rId3"/>
          <a:srcRect t="795" b="795"/>
          <a:stretch>
            <a:fillRect/>
          </a:stretch>
        </p:blipFill>
        <p:spPr>
          <a:xfrm>
            <a:off x="666750" y="1428750"/>
            <a:ext cx="6191250" cy="3429000"/>
          </a:xfrm>
          <a:prstGeom prst="rect">
            <a:avLst/>
          </a:prstGeom>
        </p:spPr>
      </p:pic>
      <p:sp>
        <p:nvSpPr>
          <p:cNvPr id="15" name="圆角矩形 14"/>
          <p:cNvSpPr>
            <a:spLocks noGrp="1"/>
          </p:cNvSpPr>
          <p:nvPr/>
        </p:nvSpPr>
        <p:spPr>
          <a:xfrm>
            <a:off x="7181850" y="1428750"/>
            <a:ext cx="3829050" cy="990600"/>
          </a:xfrm>
          <a:prstGeom prst="roundRect">
            <a:avLst>
              <a:gd name="adj" fmla="val 7692"/>
            </a:avLst>
          </a:prstGeom>
          <a:solidFill>
            <a:srgbClr val="F1F6FA"/>
          </a:solidFill>
          <a:ln w="9525">
            <a:solidFill>
              <a:srgbClr val="1F5284"/>
            </a:solidFill>
            <a:prstDash val="solid"/>
          </a:ln>
        </p:spPr>
        <p:txBody>
          <a:bodyPr/>
          <a:lstStyle/>
          <a:p>
            <a:endParaRPr/>
          </a:p>
        </p:txBody>
      </p:sp>
      <p:sp>
        <p:nvSpPr>
          <p:cNvPr id="16" name="矩形 15"/>
          <p:cNvSpPr>
            <a:spLocks noGrp="1"/>
          </p:cNvSpPr>
          <p:nvPr/>
        </p:nvSpPr>
        <p:spPr>
          <a:xfrm>
            <a:off x="7391400" y="1590675"/>
            <a:ext cx="34099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BACKEND · RAILWAY</a:t>
            </a:r>
          </a:p>
        </p:txBody>
      </p:sp>
      <p:sp>
        <p:nvSpPr>
          <p:cNvPr id="17" name="矩形 16"/>
          <p:cNvSpPr>
            <a:spLocks noGrp="1"/>
          </p:cNvSpPr>
          <p:nvPr/>
        </p:nvSpPr>
        <p:spPr>
          <a:xfrm>
            <a:off x="7391400" y="1981200"/>
            <a:ext cx="3409950" cy="304800"/>
          </a:xfrm>
          <a:prstGeom prst="rect">
            <a:avLst/>
          </a:prstGeom>
          <a:solidFill>
            <a:srgbClr val="FFFFFF">
              <a:alpha val="0"/>
            </a:srgbClr>
          </a:solidFill>
          <a:ln w="0">
            <a:solidFill>
              <a:srgbClr val="000000">
                <a:alpha val="0"/>
              </a:srgbClr>
            </a:solidFill>
            <a:prstDash val="solid"/>
          </a:ln>
        </p:spPr>
        <p:txBody>
          <a:bodyPr lIns="0" tIns="0" rIns="0" bIns="0" anchor="t">
            <a:normAutofit fontScale="95238"/>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Root Directory: smartlearn-backend</a:t>
            </a:r>
          </a:p>
          <a:p>
            <a:pPr algn="l">
              <a:buNone/>
              <a:defRPr sz="1050" b="0">
                <a:solidFill>
                  <a:srgbClr val="637788"/>
                </a:solidFill>
                <a:latin typeface="Lato"/>
                <a:ea typeface="Lato"/>
                <a:cs typeface="Lato"/>
              </a:defRPr>
            </a:pPr>
            <a:r>
              <a:rPr sz="1050" b="0">
                <a:solidFill>
                  <a:srgbClr val="637788"/>
                </a:solidFill>
                <a:latin typeface="Lato"/>
                <a:ea typeface="Lato"/>
                <a:cs typeface="Lato"/>
              </a:rPr>
              <a:t>Get https://.../health first</a:t>
            </a:r>
          </a:p>
        </p:txBody>
      </p:sp>
      <p:sp>
        <p:nvSpPr>
          <p:cNvPr id="18" name="圆角矩形 17"/>
          <p:cNvSpPr>
            <a:spLocks noGrp="1"/>
          </p:cNvSpPr>
          <p:nvPr/>
        </p:nvSpPr>
        <p:spPr>
          <a:xfrm>
            <a:off x="7181850" y="2628900"/>
            <a:ext cx="3829050" cy="990600"/>
          </a:xfrm>
          <a:prstGeom prst="roundRect">
            <a:avLst>
              <a:gd name="adj" fmla="val 7692"/>
            </a:avLst>
          </a:prstGeom>
          <a:solidFill>
            <a:srgbClr val="F1F6FA"/>
          </a:solidFill>
          <a:ln w="9525">
            <a:solidFill>
              <a:srgbClr val="0070C0"/>
            </a:solidFill>
            <a:prstDash val="solid"/>
          </a:ln>
        </p:spPr>
        <p:txBody>
          <a:bodyPr/>
          <a:lstStyle/>
          <a:p>
            <a:endParaRPr/>
          </a:p>
        </p:txBody>
      </p:sp>
      <p:sp>
        <p:nvSpPr>
          <p:cNvPr id="19" name="矩形 18"/>
          <p:cNvSpPr>
            <a:spLocks noGrp="1"/>
          </p:cNvSpPr>
          <p:nvPr/>
        </p:nvSpPr>
        <p:spPr>
          <a:xfrm>
            <a:off x="7391400" y="2790825"/>
            <a:ext cx="34099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FRONTEND · VERCEL</a:t>
            </a:r>
          </a:p>
        </p:txBody>
      </p:sp>
      <p:sp>
        <p:nvSpPr>
          <p:cNvPr id="20" name="矩形 19"/>
          <p:cNvSpPr>
            <a:spLocks noGrp="1"/>
          </p:cNvSpPr>
          <p:nvPr/>
        </p:nvSpPr>
        <p:spPr>
          <a:xfrm>
            <a:off x="7391400" y="3181350"/>
            <a:ext cx="3409950" cy="304800"/>
          </a:xfrm>
          <a:prstGeom prst="rect">
            <a:avLst/>
          </a:prstGeom>
          <a:solidFill>
            <a:srgbClr val="FFFFFF">
              <a:alpha val="0"/>
            </a:srgbClr>
          </a:solidFill>
          <a:ln w="0">
            <a:solidFill>
              <a:srgbClr val="000000">
                <a:alpha val="0"/>
              </a:srgbClr>
            </a:solidFill>
            <a:prstDash val="solid"/>
          </a:ln>
        </p:spPr>
        <p:txBody>
          <a:bodyPr lIns="0" tIns="0" rIns="0" bIns="0" anchor="t">
            <a:normAutofit fontScale="95238"/>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Root Directory: smartlearn-frontend</a:t>
            </a:r>
          </a:p>
          <a:p>
            <a:pPr algn="l">
              <a:buNone/>
              <a:defRPr sz="1050" b="0">
                <a:solidFill>
                  <a:srgbClr val="637788"/>
                </a:solidFill>
                <a:latin typeface="Lato"/>
                <a:ea typeface="Lato"/>
                <a:cs typeface="Lato"/>
              </a:defRPr>
            </a:pPr>
            <a:r>
              <a:rPr sz="1050" b="0">
                <a:solidFill>
                  <a:srgbClr val="637788"/>
                </a:solidFill>
                <a:latin typeface="Lato"/>
                <a:ea typeface="Lato"/>
                <a:cs typeface="Lato"/>
              </a:rPr>
              <a:t>VITE_API_URL points to the backend</a:t>
            </a:r>
          </a:p>
        </p:txBody>
      </p:sp>
      <p:sp>
        <p:nvSpPr>
          <p:cNvPr id="21" name="圆角矩形 20"/>
          <p:cNvSpPr>
            <a:spLocks noGrp="1"/>
          </p:cNvSpPr>
          <p:nvPr/>
        </p:nvSpPr>
        <p:spPr>
          <a:xfrm>
            <a:off x="7181850" y="3829050"/>
            <a:ext cx="3829050" cy="1028700"/>
          </a:xfrm>
          <a:prstGeom prst="roundRect">
            <a:avLst>
              <a:gd name="adj" fmla="val 7407"/>
            </a:avLst>
          </a:prstGeom>
          <a:solidFill>
            <a:srgbClr val="EEF7EE"/>
          </a:solidFill>
          <a:ln w="9525">
            <a:solidFill>
              <a:srgbClr val="39825B"/>
            </a:solidFill>
            <a:prstDash val="solid"/>
          </a:ln>
        </p:spPr>
        <p:txBody>
          <a:bodyPr/>
          <a:lstStyle/>
          <a:p>
            <a:endParaRPr/>
          </a:p>
        </p:txBody>
      </p:sp>
      <p:sp>
        <p:nvSpPr>
          <p:cNvPr id="22" name="矩形 21"/>
          <p:cNvSpPr>
            <a:spLocks noGrp="1"/>
          </p:cNvSpPr>
          <p:nvPr/>
        </p:nvSpPr>
        <p:spPr>
          <a:xfrm>
            <a:off x="7391400" y="3990975"/>
            <a:ext cx="34099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CONNECT CORS LAST</a:t>
            </a:r>
          </a:p>
        </p:txBody>
      </p:sp>
      <p:sp>
        <p:nvSpPr>
          <p:cNvPr id="23" name="矩形 22"/>
          <p:cNvSpPr>
            <a:spLocks noGrp="1"/>
          </p:cNvSpPr>
          <p:nvPr/>
        </p:nvSpPr>
        <p:spPr>
          <a:xfrm>
            <a:off x="7391400" y="4381500"/>
            <a:ext cx="34099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Add the actual Vercel origin to ALLOWED_ORIGINS, then upload again.</a:t>
            </a:r>
          </a:p>
        </p:txBody>
      </p:sp>
      <p:sp>
        <p:nvSpPr>
          <p:cNvPr id="24" name="圆角矩形 23"/>
          <p:cNvSpPr>
            <a:spLocks noGrp="1"/>
          </p:cNvSpPr>
          <p:nvPr/>
        </p:nvSpPr>
        <p:spPr>
          <a:xfrm>
            <a:off x="666750" y="5067300"/>
            <a:ext cx="10344150" cy="691515"/>
          </a:xfrm>
          <a:prstGeom prst="roundRect">
            <a:avLst>
              <a:gd name="adj" fmla="val 14286"/>
            </a:avLst>
          </a:prstGeom>
          <a:solidFill>
            <a:srgbClr val="FFF8E6"/>
          </a:solidFill>
          <a:ln w="9525">
            <a:solidFill>
              <a:srgbClr val="D4A72C"/>
            </a:solidFill>
            <a:prstDash val="solid"/>
          </a:ln>
        </p:spPr>
        <p:txBody>
          <a:bodyPr/>
          <a:lstStyle/>
          <a:p>
            <a:endParaRPr/>
          </a:p>
        </p:txBody>
      </p:sp>
      <p:sp>
        <p:nvSpPr>
          <p:cNvPr id="25" name="矩形 24"/>
          <p:cNvSpPr>
            <a:spLocks noGrp="1"/>
          </p:cNvSpPr>
          <p:nvPr/>
        </p:nvSpPr>
        <p:spPr>
          <a:xfrm>
            <a:off x="876300" y="5153025"/>
            <a:ext cx="99250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DELIVERY SEQUENCE</a:t>
            </a:r>
          </a:p>
        </p:txBody>
      </p:sp>
      <p:sp>
        <p:nvSpPr>
          <p:cNvPr id="26" name="矩形 25"/>
          <p:cNvSpPr>
            <a:spLocks noGrp="1"/>
          </p:cNvSpPr>
          <p:nvPr/>
        </p:nvSpPr>
        <p:spPr>
          <a:xfrm>
            <a:off x="876300" y="5391150"/>
            <a:ext cx="992505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Dockerfile → PR/merge → sync main → Railway → Vercel → CORS → restart/re-upload → peer test</a:t>
            </a:r>
          </a:p>
        </p:txBody>
      </p:sp>
      <p:sp>
        <p:nvSpPr>
          <p:cNvPr id="29" name="矩形 28"/>
          <p:cNvSpPr>
            <a:spLocks noGrp="1"/>
          </p:cNvSpPr>
          <p:nvPr/>
        </p:nvSpPr>
        <p:spPr>
          <a:xfrm>
            <a:off x="0" y="1333500"/>
            <a:ext cx="12192000" cy="4972050"/>
          </a:xfrm>
          <a:prstGeom prst="rect">
            <a:avLst/>
          </a:prstGeom>
          <a:solidFill>
            <a:srgbClr val="FFFFFF"/>
          </a:solidFill>
          <a:ln w="0">
            <a:solidFill>
              <a:srgbClr val="FFFFFF"/>
            </a:solidFill>
            <a:prstDash val="solid"/>
          </a:ln>
        </p:spPr>
        <p:txBody>
          <a:bodyPr/>
          <a:lstStyle/>
          <a:p>
            <a:endParaRPr lang="zh-CN" altLang="en-US"/>
          </a:p>
        </p:txBody>
      </p:sp>
      <p:sp>
        <p:nvSpPr>
          <p:cNvPr id="30" name="圆角矩形 29"/>
          <p:cNvSpPr>
            <a:spLocks noGrp="1"/>
          </p:cNvSpPr>
          <p:nvPr/>
        </p:nvSpPr>
        <p:spPr>
          <a:xfrm>
            <a:off x="781050" y="1428750"/>
            <a:ext cx="1428750" cy="361950"/>
          </a:xfrm>
          <a:prstGeom prst="roundRect">
            <a:avLst>
              <a:gd name="adj" fmla="val 21053"/>
            </a:avLst>
          </a:prstGeom>
          <a:solidFill>
            <a:srgbClr val="FFF4DE"/>
          </a:solidFill>
          <a:ln w="10478">
            <a:solidFill>
              <a:srgbClr val="F59E0B"/>
            </a:solidFill>
            <a:prstDash val="solid"/>
          </a:ln>
        </p:spPr>
        <p:txBody>
          <a:bodyPr lIns="47625" tIns="47625" rIns="47625" bIns="47625" anchor="ctr">
            <a:normAutofit/>
          </a:bodyPr>
          <a:lstStyle/>
          <a:p>
            <a:pPr algn="ctr">
              <a:buNone/>
              <a:defRPr sz="1050" b="1">
                <a:solidFill>
                  <a:srgbClr val="F59E0B"/>
                </a:solidFill>
                <a:latin typeface="Aptos"/>
                <a:ea typeface="Aptos"/>
                <a:cs typeface="Aptos"/>
              </a:defRPr>
            </a:pPr>
            <a:r>
              <a:rPr sz="1050" b="1">
                <a:solidFill>
                  <a:srgbClr val="F59E0B"/>
                </a:solidFill>
                <a:latin typeface="Aptos"/>
                <a:ea typeface="Aptos"/>
                <a:cs typeface="Aptos"/>
              </a:rPr>
              <a:t>Request</a:t>
            </a:r>
          </a:p>
        </p:txBody>
      </p:sp>
      <p:sp>
        <p:nvSpPr>
          <p:cNvPr id="31" name="矩形 30"/>
          <p:cNvSpPr>
            <a:spLocks noGrp="1"/>
          </p:cNvSpPr>
          <p:nvPr/>
        </p:nvSpPr>
        <p:spPr>
          <a:xfrm>
            <a:off x="2238375"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2" name="圆角矩形 31"/>
          <p:cNvSpPr>
            <a:spLocks noGrp="1"/>
          </p:cNvSpPr>
          <p:nvPr/>
        </p:nvSpPr>
        <p:spPr>
          <a:xfrm>
            <a:off x="2466975" y="1428750"/>
            <a:ext cx="1428750" cy="361950"/>
          </a:xfrm>
          <a:prstGeom prst="roundRect">
            <a:avLst>
              <a:gd name="adj" fmla="val 21053"/>
            </a:avLst>
          </a:prstGeom>
          <a:solidFill>
            <a:srgbClr val="E4F7F5"/>
          </a:solidFill>
          <a:ln w="10478">
            <a:solidFill>
              <a:srgbClr val="00A7A0"/>
            </a:solidFill>
            <a:prstDash val="solid"/>
          </a:ln>
        </p:spPr>
        <p:txBody>
          <a:bodyPr lIns="47625" tIns="47625" rIns="47625" bIns="47625" anchor="ctr">
            <a:normAutofit/>
          </a:bodyPr>
          <a:lstStyle/>
          <a:p>
            <a:pPr algn="ctr">
              <a:buNone/>
              <a:defRPr sz="1050" b="1">
                <a:solidFill>
                  <a:srgbClr val="00A7A0"/>
                </a:solidFill>
                <a:latin typeface="Aptos"/>
                <a:ea typeface="Aptos"/>
                <a:cs typeface="Aptos"/>
              </a:defRPr>
            </a:pPr>
            <a:r>
              <a:rPr sz="1050" b="1">
                <a:solidFill>
                  <a:srgbClr val="00A7A0"/>
                </a:solidFill>
                <a:latin typeface="Aptos"/>
                <a:ea typeface="Aptos"/>
                <a:cs typeface="Aptos"/>
              </a:rPr>
              <a:t>Evidence</a:t>
            </a:r>
          </a:p>
        </p:txBody>
      </p:sp>
      <p:sp>
        <p:nvSpPr>
          <p:cNvPr id="33" name="矩形 32"/>
          <p:cNvSpPr>
            <a:spLocks noGrp="1"/>
          </p:cNvSpPr>
          <p:nvPr/>
        </p:nvSpPr>
        <p:spPr>
          <a:xfrm>
            <a:off x="3924300"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4" name="圆角矩形 33"/>
          <p:cNvSpPr>
            <a:spLocks noGrp="1"/>
          </p:cNvSpPr>
          <p:nvPr/>
        </p:nvSpPr>
        <p:spPr>
          <a:xfrm>
            <a:off x="4152900" y="1428750"/>
            <a:ext cx="1428750" cy="361950"/>
          </a:xfrm>
          <a:prstGeom prst="roundRect">
            <a:avLst>
              <a:gd name="adj" fmla="val 21053"/>
            </a:avLst>
          </a:prstGeom>
          <a:solidFill>
            <a:srgbClr val="F1ECFF"/>
          </a:solidFill>
          <a:ln w="10478">
            <a:solidFill>
              <a:srgbClr val="7557C8"/>
            </a:solidFill>
            <a:prstDash val="solid"/>
          </a:ln>
        </p:spPr>
        <p:txBody>
          <a:bodyPr lIns="47625" tIns="47625" rIns="47625" bIns="47625" anchor="ctr">
            <a:normAutofit/>
          </a:bodyPr>
          <a:lstStyle/>
          <a:p>
            <a:pPr algn="ctr">
              <a:buNone/>
              <a:defRPr sz="1050" b="1">
                <a:solidFill>
                  <a:srgbClr val="7557C8"/>
                </a:solidFill>
                <a:latin typeface="Aptos"/>
                <a:ea typeface="Aptos"/>
                <a:cs typeface="Aptos"/>
              </a:defRPr>
            </a:pPr>
            <a:r>
              <a:rPr sz="1050" b="1">
                <a:solidFill>
                  <a:srgbClr val="7557C8"/>
                </a:solidFill>
                <a:latin typeface="Aptos"/>
                <a:ea typeface="Aptos"/>
                <a:cs typeface="Aptos"/>
              </a:rPr>
              <a:t>React state</a:t>
            </a:r>
          </a:p>
        </p:txBody>
      </p:sp>
      <p:sp>
        <p:nvSpPr>
          <p:cNvPr id="35" name="矩形 34"/>
          <p:cNvSpPr>
            <a:spLocks noGrp="1"/>
          </p:cNvSpPr>
          <p:nvPr/>
        </p:nvSpPr>
        <p:spPr>
          <a:xfrm>
            <a:off x="5610225" y="1457325"/>
            <a:ext cx="200025"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350" b="1">
                <a:solidFill>
                  <a:srgbClr val="637A90"/>
                </a:solidFill>
                <a:latin typeface="Aptos"/>
                <a:ea typeface="Aptos"/>
                <a:cs typeface="Aptos"/>
              </a:defRPr>
            </a:pPr>
            <a:r>
              <a:rPr sz="1350" b="1">
                <a:solidFill>
                  <a:srgbClr val="637A90"/>
                </a:solidFill>
                <a:latin typeface="Aptos"/>
                <a:ea typeface="Aptos"/>
                <a:cs typeface="Aptos"/>
              </a:rPr>
              <a:t>→</a:t>
            </a:r>
          </a:p>
        </p:txBody>
      </p:sp>
      <p:sp>
        <p:nvSpPr>
          <p:cNvPr id="36" name="圆角矩形 35"/>
          <p:cNvSpPr>
            <a:spLocks noGrp="1"/>
          </p:cNvSpPr>
          <p:nvPr/>
        </p:nvSpPr>
        <p:spPr>
          <a:xfrm>
            <a:off x="5838825" y="1428750"/>
            <a:ext cx="1428750" cy="361950"/>
          </a:xfrm>
          <a:prstGeom prst="roundRect">
            <a:avLst>
              <a:gd name="adj" fmla="val 21053"/>
            </a:avLst>
          </a:prstGeom>
          <a:solidFill>
            <a:srgbClr val="3A8B61"/>
          </a:solidFill>
          <a:ln w="10478">
            <a:solidFill>
              <a:srgbClr val="3A8B61"/>
            </a:solidFill>
            <a:prstDash val="solid"/>
          </a:ln>
        </p:spPr>
        <p:txBody>
          <a:bodyPr lIns="47625" tIns="47625" rIns="47625" bIns="47625" anchor="ctr">
            <a:normAutofit/>
          </a:bodyPr>
          <a:lstStyle/>
          <a:p>
            <a:pPr algn="ctr">
              <a:buNone/>
              <a:defRPr sz="1050" b="1">
                <a:solidFill>
                  <a:srgbClr val="FFFFFF"/>
                </a:solidFill>
                <a:latin typeface="Aptos"/>
                <a:ea typeface="Aptos"/>
                <a:cs typeface="Aptos"/>
              </a:defRPr>
            </a:pPr>
            <a:r>
              <a:rPr sz="1050" b="1">
                <a:solidFill>
                  <a:srgbClr val="FFFFFF"/>
                </a:solidFill>
                <a:latin typeface="Aptos"/>
                <a:ea typeface="Aptos"/>
                <a:cs typeface="Aptos"/>
              </a:rPr>
              <a:t>Delivery</a:t>
            </a:r>
          </a:p>
        </p:txBody>
      </p:sp>
      <p:sp>
        <p:nvSpPr>
          <p:cNvPr id="37" name="圆角矩形 36"/>
          <p:cNvSpPr>
            <a:spLocks noGrp="1"/>
          </p:cNvSpPr>
          <p:nvPr/>
        </p:nvSpPr>
        <p:spPr>
          <a:xfrm>
            <a:off x="781050" y="2400300"/>
            <a:ext cx="2286000" cy="1524000"/>
          </a:xfrm>
          <a:prstGeom prst="roundRect">
            <a:avLst>
              <a:gd name="adj" fmla="val 5000"/>
            </a:avLst>
          </a:prstGeom>
          <a:solidFill>
            <a:srgbClr val="F4F7FA"/>
          </a:solidFill>
          <a:ln w="11430">
            <a:solidFill>
              <a:srgbClr val="123F6D"/>
            </a:solidFill>
            <a:prstDash val="solid"/>
          </a:ln>
        </p:spPr>
        <p:txBody>
          <a:bodyPr/>
          <a:lstStyle/>
          <a:p>
            <a:endParaRPr lang="zh-CN" altLang="en-US"/>
          </a:p>
        </p:txBody>
      </p:sp>
      <p:sp>
        <p:nvSpPr>
          <p:cNvPr id="38" name="圆角矩形 37"/>
          <p:cNvSpPr>
            <a:spLocks noGrp="1"/>
          </p:cNvSpPr>
          <p:nvPr/>
        </p:nvSpPr>
        <p:spPr>
          <a:xfrm>
            <a:off x="1676400" y="2571750"/>
            <a:ext cx="495300" cy="495300"/>
          </a:xfrm>
          <a:prstGeom prst="roundRect">
            <a:avLst>
              <a:gd name="adj" fmla="val 15385"/>
            </a:avLst>
          </a:prstGeom>
          <a:solidFill>
            <a:srgbClr val="123F6D"/>
          </a:solidFill>
          <a:ln w="10478">
            <a:solidFill>
              <a:srgbClr val="123F6D"/>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39" name="矩形 38"/>
          <p:cNvSpPr>
            <a:spLocks noGrp="1"/>
          </p:cNvSpPr>
          <p:nvPr/>
        </p:nvSpPr>
        <p:spPr>
          <a:xfrm>
            <a:off x="952500" y="316230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123F6D"/>
                </a:solidFill>
                <a:latin typeface="Aptos"/>
                <a:ea typeface="Aptos"/>
                <a:cs typeface="Aptos"/>
              </a:defRPr>
            </a:pPr>
            <a:r>
              <a:rPr sz="1500" b="1">
                <a:solidFill>
                  <a:srgbClr val="123F6D"/>
                </a:solidFill>
                <a:latin typeface="Aptos"/>
                <a:ea typeface="Aptos"/>
                <a:cs typeface="Aptos"/>
              </a:rPr>
              <a:t>fork/main</a:t>
            </a:r>
          </a:p>
        </p:txBody>
      </p:sp>
      <p:sp>
        <p:nvSpPr>
          <p:cNvPr id="40" name="矩形 39"/>
          <p:cNvSpPr>
            <a:spLocks noGrp="1"/>
          </p:cNvSpPr>
          <p:nvPr/>
        </p:nvSpPr>
        <p:spPr>
          <a:xfrm>
            <a:off x="952500" y="352425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Dockerfile + reviewed PR</a:t>
            </a:r>
          </a:p>
        </p:txBody>
      </p:sp>
      <p:sp>
        <p:nvSpPr>
          <p:cNvPr id="41" name="右箭头 40"/>
          <p:cNvSpPr>
            <a:spLocks noGrp="1"/>
          </p:cNvSpPr>
          <p:nvPr/>
        </p:nvSpPr>
        <p:spPr>
          <a:xfrm>
            <a:off x="3105150" y="30289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2" name="圆角矩形 41"/>
          <p:cNvSpPr>
            <a:spLocks noGrp="1"/>
          </p:cNvSpPr>
          <p:nvPr/>
        </p:nvSpPr>
        <p:spPr>
          <a:xfrm>
            <a:off x="3429000" y="2400300"/>
            <a:ext cx="2286000" cy="1524000"/>
          </a:xfrm>
          <a:prstGeom prst="roundRect">
            <a:avLst>
              <a:gd name="adj" fmla="val 5000"/>
            </a:avLst>
          </a:prstGeom>
          <a:solidFill>
            <a:srgbClr val="E4F7F5"/>
          </a:solidFill>
          <a:ln w="11430">
            <a:solidFill>
              <a:srgbClr val="00A7A0"/>
            </a:solidFill>
            <a:prstDash val="solid"/>
          </a:ln>
        </p:spPr>
        <p:txBody>
          <a:bodyPr/>
          <a:lstStyle/>
          <a:p>
            <a:endParaRPr lang="zh-CN" altLang="en-US"/>
          </a:p>
        </p:txBody>
      </p:sp>
      <p:sp>
        <p:nvSpPr>
          <p:cNvPr id="43" name="圆角矩形 42"/>
          <p:cNvSpPr>
            <a:spLocks noGrp="1"/>
          </p:cNvSpPr>
          <p:nvPr/>
        </p:nvSpPr>
        <p:spPr>
          <a:xfrm>
            <a:off x="4324350" y="2571750"/>
            <a:ext cx="495300" cy="495300"/>
          </a:xfrm>
          <a:prstGeom prst="roundRect">
            <a:avLst>
              <a:gd name="adj" fmla="val 15385"/>
            </a:avLst>
          </a:prstGeom>
          <a:solidFill>
            <a:srgbClr val="00A7A0"/>
          </a:solidFill>
          <a:ln w="10478">
            <a:solidFill>
              <a:srgbClr val="00A7A0"/>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44" name="矩形 43"/>
          <p:cNvSpPr>
            <a:spLocks noGrp="1"/>
          </p:cNvSpPr>
          <p:nvPr/>
        </p:nvSpPr>
        <p:spPr>
          <a:xfrm>
            <a:off x="3600450" y="316230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00A7A0"/>
                </a:solidFill>
                <a:latin typeface="Aptos"/>
                <a:ea typeface="Aptos"/>
                <a:cs typeface="Aptos"/>
              </a:defRPr>
            </a:pPr>
            <a:r>
              <a:rPr sz="1500" b="1">
                <a:solidFill>
                  <a:srgbClr val="00A7A0"/>
                </a:solidFill>
                <a:latin typeface="Aptos"/>
                <a:ea typeface="Aptos"/>
                <a:cs typeface="Aptos"/>
              </a:rPr>
              <a:t>Railway</a:t>
            </a:r>
          </a:p>
        </p:txBody>
      </p:sp>
      <p:sp>
        <p:nvSpPr>
          <p:cNvPr id="45" name="矩形 44"/>
          <p:cNvSpPr>
            <a:spLocks noGrp="1"/>
          </p:cNvSpPr>
          <p:nvPr/>
        </p:nvSpPr>
        <p:spPr>
          <a:xfrm>
            <a:off x="3600450" y="352425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backend /health = 200</a:t>
            </a:r>
          </a:p>
        </p:txBody>
      </p:sp>
      <p:sp>
        <p:nvSpPr>
          <p:cNvPr id="46" name="右箭头 45"/>
          <p:cNvSpPr>
            <a:spLocks noGrp="1"/>
          </p:cNvSpPr>
          <p:nvPr/>
        </p:nvSpPr>
        <p:spPr>
          <a:xfrm>
            <a:off x="5753100" y="30289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47" name="圆角矩形 46"/>
          <p:cNvSpPr>
            <a:spLocks noGrp="1"/>
          </p:cNvSpPr>
          <p:nvPr/>
        </p:nvSpPr>
        <p:spPr>
          <a:xfrm>
            <a:off x="6076950" y="2400300"/>
            <a:ext cx="2286000" cy="1524000"/>
          </a:xfrm>
          <a:prstGeom prst="roundRect">
            <a:avLst>
              <a:gd name="adj" fmla="val 5000"/>
            </a:avLst>
          </a:prstGeom>
          <a:solidFill>
            <a:srgbClr val="F1ECFF"/>
          </a:solidFill>
          <a:ln w="11430">
            <a:solidFill>
              <a:srgbClr val="7557C8"/>
            </a:solidFill>
            <a:prstDash val="solid"/>
          </a:ln>
        </p:spPr>
        <p:txBody>
          <a:bodyPr/>
          <a:lstStyle/>
          <a:p>
            <a:endParaRPr lang="zh-CN" altLang="en-US"/>
          </a:p>
        </p:txBody>
      </p:sp>
      <p:sp>
        <p:nvSpPr>
          <p:cNvPr id="48" name="圆角矩形 47"/>
          <p:cNvSpPr>
            <a:spLocks noGrp="1"/>
          </p:cNvSpPr>
          <p:nvPr/>
        </p:nvSpPr>
        <p:spPr>
          <a:xfrm>
            <a:off x="6972300" y="2571750"/>
            <a:ext cx="495300" cy="495300"/>
          </a:xfrm>
          <a:prstGeom prst="roundRect">
            <a:avLst>
              <a:gd name="adj" fmla="val 15385"/>
            </a:avLst>
          </a:prstGeom>
          <a:solidFill>
            <a:srgbClr val="7557C8"/>
          </a:solidFill>
          <a:ln w="10478">
            <a:solidFill>
              <a:srgbClr val="7557C8"/>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49" name="矩形 48"/>
          <p:cNvSpPr>
            <a:spLocks noGrp="1"/>
          </p:cNvSpPr>
          <p:nvPr/>
        </p:nvSpPr>
        <p:spPr>
          <a:xfrm>
            <a:off x="6248400" y="316230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7557C8"/>
                </a:solidFill>
                <a:latin typeface="Aptos"/>
                <a:ea typeface="Aptos"/>
                <a:cs typeface="Aptos"/>
              </a:defRPr>
            </a:pPr>
            <a:r>
              <a:rPr sz="1500" b="1">
                <a:solidFill>
                  <a:srgbClr val="7557C8"/>
                </a:solidFill>
                <a:latin typeface="Aptos"/>
                <a:ea typeface="Aptos"/>
                <a:cs typeface="Aptos"/>
              </a:rPr>
              <a:t>Vercel</a:t>
            </a:r>
          </a:p>
        </p:txBody>
      </p:sp>
      <p:sp>
        <p:nvSpPr>
          <p:cNvPr id="50" name="矩形 49"/>
          <p:cNvSpPr>
            <a:spLocks noGrp="1"/>
          </p:cNvSpPr>
          <p:nvPr/>
        </p:nvSpPr>
        <p:spPr>
          <a:xfrm>
            <a:off x="6248400" y="352425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VITE_API_URL → backend</a:t>
            </a:r>
          </a:p>
        </p:txBody>
      </p:sp>
      <p:sp>
        <p:nvSpPr>
          <p:cNvPr id="51" name="右箭头 50"/>
          <p:cNvSpPr>
            <a:spLocks noGrp="1"/>
          </p:cNvSpPr>
          <p:nvPr/>
        </p:nvSpPr>
        <p:spPr>
          <a:xfrm>
            <a:off x="8401050" y="3028950"/>
            <a:ext cx="266700" cy="209550"/>
          </a:xfrm>
          <a:prstGeom prst="rightArrow">
            <a:avLst/>
          </a:prstGeom>
          <a:solidFill>
            <a:srgbClr val="CAD8E6"/>
          </a:solidFill>
          <a:ln w="0">
            <a:solidFill>
              <a:srgbClr val="CAD8E6"/>
            </a:solidFill>
            <a:prstDash val="solid"/>
          </a:ln>
        </p:spPr>
        <p:txBody>
          <a:bodyPr/>
          <a:lstStyle/>
          <a:p>
            <a:endParaRPr lang="zh-CN" altLang="en-US"/>
          </a:p>
        </p:txBody>
      </p:sp>
      <p:sp>
        <p:nvSpPr>
          <p:cNvPr id="52" name="圆角矩形 51"/>
          <p:cNvSpPr>
            <a:spLocks noGrp="1"/>
          </p:cNvSpPr>
          <p:nvPr/>
        </p:nvSpPr>
        <p:spPr>
          <a:xfrm>
            <a:off x="8724900" y="2400300"/>
            <a:ext cx="2286000" cy="1524000"/>
          </a:xfrm>
          <a:prstGeom prst="roundRect">
            <a:avLst>
              <a:gd name="adj" fmla="val 5000"/>
            </a:avLst>
          </a:prstGeom>
          <a:solidFill>
            <a:srgbClr val="EAF5EE"/>
          </a:solidFill>
          <a:ln w="11430">
            <a:solidFill>
              <a:srgbClr val="3A8B61"/>
            </a:solidFill>
            <a:prstDash val="solid"/>
          </a:ln>
        </p:spPr>
        <p:txBody>
          <a:bodyPr/>
          <a:lstStyle/>
          <a:p>
            <a:endParaRPr lang="zh-CN" altLang="en-US"/>
          </a:p>
        </p:txBody>
      </p:sp>
      <p:sp>
        <p:nvSpPr>
          <p:cNvPr id="53" name="圆角矩形 52"/>
          <p:cNvSpPr>
            <a:spLocks noGrp="1"/>
          </p:cNvSpPr>
          <p:nvPr/>
        </p:nvSpPr>
        <p:spPr>
          <a:xfrm>
            <a:off x="9620250" y="2571750"/>
            <a:ext cx="495300" cy="495300"/>
          </a:xfrm>
          <a:prstGeom prst="roundRect">
            <a:avLst>
              <a:gd name="adj" fmla="val 15385"/>
            </a:avLst>
          </a:prstGeom>
          <a:solidFill>
            <a:srgbClr val="3A8B61"/>
          </a:solidFill>
          <a:ln w="10478">
            <a:solidFill>
              <a:srgbClr val="3A8B61"/>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54" name="矩形 53"/>
          <p:cNvSpPr>
            <a:spLocks noGrp="1"/>
          </p:cNvSpPr>
          <p:nvPr/>
        </p:nvSpPr>
        <p:spPr>
          <a:xfrm>
            <a:off x="8896350" y="316230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3A8B61"/>
                </a:solidFill>
                <a:latin typeface="Aptos"/>
                <a:ea typeface="Aptos"/>
                <a:cs typeface="Aptos"/>
              </a:defRPr>
            </a:pPr>
            <a:r>
              <a:rPr sz="1500" b="1">
                <a:solidFill>
                  <a:srgbClr val="3A8B61"/>
                </a:solidFill>
                <a:latin typeface="Aptos"/>
                <a:ea typeface="Aptos"/>
                <a:cs typeface="Aptos"/>
              </a:rPr>
              <a:t>CORS + test</a:t>
            </a:r>
          </a:p>
        </p:txBody>
      </p:sp>
      <p:sp>
        <p:nvSpPr>
          <p:cNvPr id="55" name="矩形 54"/>
          <p:cNvSpPr>
            <a:spLocks noGrp="1"/>
          </p:cNvSpPr>
          <p:nvPr/>
        </p:nvSpPr>
        <p:spPr>
          <a:xfrm>
            <a:off x="8896350" y="3524250"/>
            <a:ext cx="1943100" cy="3238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125" b="0">
                <a:solidFill>
                  <a:srgbClr val="123F6D"/>
                </a:solidFill>
                <a:latin typeface="Aptos"/>
                <a:ea typeface="Aptos"/>
                <a:cs typeface="Aptos"/>
              </a:defRPr>
            </a:pPr>
            <a:r>
              <a:rPr sz="1125" b="0">
                <a:solidFill>
                  <a:srgbClr val="123F6D"/>
                </a:solidFill>
                <a:latin typeface="Aptos"/>
                <a:ea typeface="Aptos"/>
                <a:cs typeface="Aptos"/>
              </a:rPr>
              <a:t>allow origin · re-upload · peer</a:t>
            </a:r>
          </a:p>
        </p:txBody>
      </p:sp>
      <p:sp>
        <p:nvSpPr>
          <p:cNvPr id="56" name="圆角矩形 55"/>
          <p:cNvSpPr>
            <a:spLocks noGrp="1"/>
          </p:cNvSpPr>
          <p:nvPr/>
        </p:nvSpPr>
        <p:spPr>
          <a:xfrm>
            <a:off x="1524000" y="4362450"/>
            <a:ext cx="9144000" cy="590550"/>
          </a:xfrm>
          <a:prstGeom prst="roundRect">
            <a:avLst>
              <a:gd name="adj" fmla="val 12903"/>
            </a:avLst>
          </a:prstGeom>
          <a:solidFill>
            <a:srgbClr val="EAF5EE"/>
          </a:solidFill>
          <a:ln w="10478">
            <a:solidFill>
              <a:srgbClr val="3A8B61"/>
            </a:solidFill>
            <a:prstDash val="solid"/>
          </a:ln>
        </p:spPr>
        <p:txBody>
          <a:bodyPr lIns="0" tIns="0" rIns="0" bIns="0" anchor="ctr">
            <a:normAutofit/>
          </a:bodyPr>
          <a:lstStyle/>
          <a:p>
            <a:pPr algn="ctr">
              <a:buNone/>
              <a:defRPr sz="1725" b="1">
                <a:solidFill>
                  <a:srgbClr val="3A8B61"/>
                </a:solidFill>
                <a:latin typeface="Aptos"/>
                <a:ea typeface="Aptos"/>
                <a:cs typeface="Aptos"/>
              </a:defRPr>
            </a:pPr>
            <a:r>
              <a:rPr sz="1725" b="1">
                <a:solidFill>
                  <a:srgbClr val="3A8B61"/>
                </a:solidFill>
                <a:latin typeface="Aptos"/>
                <a:ea typeface="Aptos"/>
                <a:cs typeface="Aptos"/>
              </a:rPr>
              <a:t>The API contract stays the same; only the public URLs change.</a:t>
            </a:r>
          </a:p>
        </p:txBody>
      </p:sp>
      <p:sp>
        <p:nvSpPr>
          <p:cNvPr id="57" name="矩形 56"/>
          <p:cNvSpPr>
            <a:spLocks noGrp="1"/>
          </p:cNvSpPr>
          <p:nvPr/>
        </p:nvSpPr>
        <p:spPr>
          <a:xfrm>
            <a:off x="781050" y="5219700"/>
            <a:ext cx="10458450" cy="3619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275" b="1">
                <a:solidFill>
                  <a:srgbClr val="123F6D"/>
                </a:solidFill>
                <a:latin typeface="Aptos"/>
                <a:ea typeface="Aptos"/>
                <a:cs typeface="Aptos"/>
              </a:defRPr>
            </a:pPr>
            <a:r>
              <a:rPr sz="1275" b="1">
                <a:solidFill>
                  <a:srgbClr val="123F6D"/>
                </a:solidFill>
                <a:latin typeface="Aptos"/>
                <a:ea typeface="Aptos"/>
                <a:cs typeface="Aptos"/>
              </a:rPr>
              <a:t>Dockerfile → merge → sync main → Railway → Vercel → CORS → re-upload → peer test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矩形 35"/>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RAILWAY</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Deploy the backend first; connect only after /health is green</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C · DEPLOY</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37</a:t>
            </a:r>
          </a:p>
        </p:txBody>
      </p:sp>
      <p:sp>
        <p:nvSpPr>
          <p:cNvPr id="14" name="圆角矩形 13"/>
          <p:cNvSpPr>
            <a:spLocks noGrp="1"/>
          </p:cNvSpPr>
          <p:nvPr/>
        </p:nvSpPr>
        <p:spPr>
          <a:xfrm>
            <a:off x="685800" y="1409700"/>
            <a:ext cx="6191250" cy="2952750"/>
          </a:xfrm>
          <a:prstGeom prst="roundRect">
            <a:avLst>
              <a:gd name="adj" fmla="val 2581"/>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43050"/>
            <a:ext cx="58483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RAILWAY READS THE BACKEND DOCKERFILE; ADD ONLY THE REQUIRED RUNTIME SETTINGS</a:t>
            </a:r>
          </a:p>
        </p:txBody>
      </p:sp>
      <p:sp>
        <p:nvSpPr>
          <p:cNvPr id="16" name="矩形 15"/>
          <p:cNvSpPr>
            <a:spLocks noGrp="1"/>
          </p:cNvSpPr>
          <p:nvPr/>
        </p:nvSpPr>
        <p:spPr>
          <a:xfrm>
            <a:off x="857250" y="1809750"/>
            <a:ext cx="5848350" cy="2438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Root Directory: smartlearn-backend</a:t>
            </a:r>
          </a:p>
          <a:p>
            <a:endParaRPr sz="1125"/>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Runtime: smartlearn-backend/Dockerfile</a:t>
            </a:r>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Dockerfile CMD: uvicorn main:app --host </a:t>
            </a:r>
            <a:r>
              <a:rPr sz="1125" b="0">
                <a:solidFill>
                  <a:srgbClr val="A7E3A1"/>
                </a:solidFill>
                <a:latin typeface="Monaco"/>
                <a:ea typeface="Monaco"/>
                <a:cs typeface="Monaco"/>
              </a:rPr>
              <a:t>0.0</a:t>
            </a:r>
            <a:r>
              <a:rPr sz="1125" b="0">
                <a:solidFill>
                  <a:srgbClr val="F1F6FA"/>
                </a:solidFill>
                <a:latin typeface="Monaco"/>
                <a:ea typeface="Monaco"/>
                <a:cs typeface="Monaco"/>
              </a:rPr>
              <a:t>.</a:t>
            </a:r>
            <a:r>
              <a:rPr sz="1125" b="0">
                <a:solidFill>
                  <a:srgbClr val="A7E3A1"/>
                </a:solidFill>
                <a:latin typeface="Monaco"/>
                <a:ea typeface="Monaco"/>
                <a:cs typeface="Monaco"/>
              </a:rPr>
              <a:t>0.0</a:t>
            </a:r>
            <a:r>
              <a:rPr sz="1125" b="0">
                <a:solidFill>
                  <a:srgbClr val="F1F6FA"/>
                </a:solidFill>
                <a:latin typeface="Monaco"/>
                <a:ea typeface="Monaco"/>
                <a:cs typeface="Monaco"/>
              </a:rPr>
              <a:t> --port $</a:t>
            </a:r>
            <a:r>
              <a:rPr sz="1125" b="0">
                <a:solidFill>
                  <a:srgbClr val="A7E3A1"/>
                </a:solidFill>
                <a:latin typeface="Monaco"/>
                <a:ea typeface="Monaco"/>
                <a:cs typeface="Monaco"/>
              </a:rPr>
              <a:t>PORT</a:t>
            </a:r>
          </a:p>
          <a:p>
            <a:endParaRPr sz="1125"/>
          </a:p>
          <a:p>
            <a:pPr algn="l">
              <a:buNone/>
              <a:defRPr sz="1125" b="0">
                <a:solidFill>
                  <a:srgbClr val="F1F6FA"/>
                </a:solidFill>
                <a:latin typeface="Monaco"/>
                <a:ea typeface="Monaco"/>
                <a:cs typeface="Monaco"/>
              </a:defRPr>
            </a:pPr>
            <a:r>
              <a:rPr sz="1125" b="0">
                <a:solidFill>
                  <a:srgbClr val="F1F6FA"/>
                </a:solidFill>
                <a:latin typeface="Monaco"/>
                <a:ea typeface="Monaco"/>
                <a:cs typeface="Monaco"/>
              </a:rPr>
              <a:t>Railway settings:</a:t>
            </a:r>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OPENROUTER_API_KEY</a:t>
            </a:r>
            <a:r>
              <a:rPr sz="1125" b="0">
                <a:solidFill>
                  <a:srgbClr val="F1F6FA"/>
                </a:solidFill>
                <a:latin typeface="Monaco"/>
                <a:ea typeface="Monaco"/>
                <a:cs typeface="Monaco"/>
              </a:rPr>
              <a:t>=&lt;secret&gt;</a:t>
            </a:r>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PORT</a:t>
            </a:r>
            <a:r>
              <a:rPr sz="1125" b="0">
                <a:solidFill>
                  <a:srgbClr val="F1F6FA"/>
                </a:solidFill>
                <a:latin typeface="Monaco"/>
                <a:ea typeface="Monaco"/>
                <a:cs typeface="Monaco"/>
              </a:rPr>
              <a:t>=supplied by Railway; do not set</a:t>
            </a:r>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Start Command: leave blank; Dockerfile CMD is used</a:t>
            </a:r>
          </a:p>
          <a:p>
            <a:pPr algn="l">
              <a:buNone/>
              <a:defRPr sz="1125" b="0">
                <a:solidFill>
                  <a:srgbClr val="F1F6FA"/>
                </a:solidFill>
                <a:latin typeface="Monaco"/>
                <a:ea typeface="Monaco"/>
                <a:cs typeface="Monaco"/>
              </a:defRPr>
            </a:pPr>
            <a:r>
              <a:rPr sz="1125" b="0">
                <a:solidFill>
                  <a:srgbClr val="A7E3A1"/>
                </a:solidFill>
                <a:latin typeface="Monaco"/>
                <a:ea typeface="Monaco"/>
                <a:cs typeface="Monaco"/>
              </a:rPr>
              <a:t>ALLOWED_ORIGINS</a:t>
            </a:r>
            <a:r>
              <a:rPr sz="1125" b="0">
                <a:solidFill>
                  <a:srgbClr val="F1F6FA"/>
                </a:solidFill>
                <a:latin typeface="Monaco"/>
                <a:ea typeface="Monaco"/>
                <a:cs typeface="Monaco"/>
              </a:rPr>
              <a:t>=http://localhost:</a:t>
            </a:r>
            <a:r>
              <a:rPr sz="1125" b="0">
                <a:solidFill>
                  <a:srgbClr val="A7E3A1"/>
                </a:solidFill>
                <a:latin typeface="Monaco"/>
                <a:ea typeface="Monaco"/>
                <a:cs typeface="Monaco"/>
              </a:rPr>
              <a:t>5173</a:t>
            </a:r>
          </a:p>
        </p:txBody>
      </p:sp>
      <p:sp>
        <p:nvSpPr>
          <p:cNvPr id="17" name="圆角矩形 16"/>
          <p:cNvSpPr>
            <a:spLocks noGrp="1"/>
          </p:cNvSpPr>
          <p:nvPr/>
        </p:nvSpPr>
        <p:spPr>
          <a:xfrm>
            <a:off x="7239000" y="1428750"/>
            <a:ext cx="3771900" cy="933450"/>
          </a:xfrm>
          <a:prstGeom prst="roundRect">
            <a:avLst>
              <a:gd name="adj" fmla="val 8163"/>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448550" y="1590675"/>
            <a:ext cx="3352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1 · CHECK BUILD LOGS</a:t>
            </a:r>
          </a:p>
        </p:txBody>
      </p:sp>
      <p:sp>
        <p:nvSpPr>
          <p:cNvPr id="19" name="矩形 18"/>
          <p:cNvSpPr>
            <a:spLocks noGrp="1"/>
          </p:cNvSpPr>
          <p:nvPr/>
        </p:nvSpPr>
        <p:spPr>
          <a:xfrm>
            <a:off x="7448550" y="1981200"/>
            <a:ext cx="33528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If dependency installation fails, fix the first error first.</a:t>
            </a:r>
          </a:p>
        </p:txBody>
      </p:sp>
      <p:sp>
        <p:nvSpPr>
          <p:cNvPr id="20" name="圆角矩形 19"/>
          <p:cNvSpPr>
            <a:spLocks noGrp="1"/>
          </p:cNvSpPr>
          <p:nvPr/>
        </p:nvSpPr>
        <p:spPr>
          <a:xfrm>
            <a:off x="7239000" y="2571750"/>
            <a:ext cx="3771900" cy="933450"/>
          </a:xfrm>
          <a:prstGeom prst="roundRect">
            <a:avLst>
              <a:gd name="adj" fmla="val 8163"/>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448550" y="2733675"/>
            <a:ext cx="3352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2 · CHECK STARTUP LOGS</a:t>
            </a:r>
          </a:p>
        </p:txBody>
      </p:sp>
      <p:sp>
        <p:nvSpPr>
          <p:cNvPr id="22" name="矩形 21"/>
          <p:cNvSpPr>
            <a:spLocks noGrp="1"/>
          </p:cNvSpPr>
          <p:nvPr/>
        </p:nvSpPr>
        <p:spPr>
          <a:xfrm>
            <a:off x="7448550" y="3124200"/>
            <a:ext cx="3352800" cy="2476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Confirm that Uvicorn listens on 0.0.0.0 and the platform PORT.</a:t>
            </a:r>
          </a:p>
        </p:txBody>
      </p:sp>
      <p:sp>
        <p:nvSpPr>
          <p:cNvPr id="23" name="圆角矩形 22"/>
          <p:cNvSpPr>
            <a:spLocks noGrp="1"/>
          </p:cNvSpPr>
          <p:nvPr/>
        </p:nvSpPr>
        <p:spPr>
          <a:xfrm>
            <a:off x="7239000" y="3714750"/>
            <a:ext cx="3771900" cy="933450"/>
          </a:xfrm>
          <a:prstGeom prst="roundRect">
            <a:avLst>
              <a:gd name="adj" fmla="val 8163"/>
            </a:avLst>
          </a:prstGeom>
          <a:solidFill>
            <a:srgbClr val="EEF7EE"/>
          </a:solidFill>
          <a:ln w="9525">
            <a:solidFill>
              <a:srgbClr val="39825B"/>
            </a:solidFill>
            <a:prstDash val="solid"/>
          </a:ln>
        </p:spPr>
        <p:txBody>
          <a:bodyPr/>
          <a:lstStyle/>
          <a:p>
            <a:endParaRPr/>
          </a:p>
        </p:txBody>
      </p:sp>
      <p:sp>
        <p:nvSpPr>
          <p:cNvPr id="24" name="矩形 23"/>
          <p:cNvSpPr>
            <a:spLocks noGrp="1"/>
          </p:cNvSpPr>
          <p:nvPr/>
        </p:nvSpPr>
        <p:spPr>
          <a:xfrm>
            <a:off x="7448550" y="3876675"/>
            <a:ext cx="3352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3 · OPEN PUBLIC /HEALTH</a:t>
            </a:r>
          </a:p>
        </p:txBody>
      </p:sp>
      <p:sp>
        <p:nvSpPr>
          <p:cNvPr id="25" name="矩形 24"/>
          <p:cNvSpPr>
            <a:spLocks noGrp="1"/>
          </p:cNvSpPr>
          <p:nvPr/>
        </p:nvSpPr>
        <p:spPr>
          <a:xfrm>
            <a:off x="7448550" y="4267200"/>
            <a:ext cx="33528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After seeing 200, copy the actual backend URL.</a:t>
            </a:r>
          </a:p>
        </p:txBody>
      </p:sp>
      <p:sp>
        <p:nvSpPr>
          <p:cNvPr id="26" name="矩形 25"/>
          <p:cNvSpPr>
            <a:spLocks noGrp="1"/>
          </p:cNvSpPr>
          <p:nvPr/>
        </p:nvSpPr>
        <p:spPr>
          <a:xfrm>
            <a:off x="742950" y="4876800"/>
            <a:ext cx="102870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D4A72C"/>
                </a:solidFill>
                <a:latin typeface="Lato"/>
                <a:ea typeface="Lato"/>
                <a:cs typeface="Lato"/>
              </a:defRPr>
            </a:pPr>
            <a:r>
              <a:rPr sz="1200" b="1">
                <a:solidFill>
                  <a:srgbClr val="D4A72C"/>
                </a:solidFill>
                <a:latin typeface="Lato"/>
                <a:ea typeface="Lato"/>
                <a:cs typeface="Lato"/>
              </a:rPr>
              <a:t>Deploy the committed Dockerfile from merged fork/main; Railway builds from the backend Root Directory.</a:t>
            </a:r>
          </a:p>
        </p:txBody>
      </p:sp>
      <p:sp>
        <p:nvSpPr>
          <p:cNvPr id="27" name="圆角矩形 26"/>
          <p:cNvSpPr>
            <a:spLocks noGrp="1"/>
          </p:cNvSpPr>
          <p:nvPr/>
        </p:nvSpPr>
        <p:spPr>
          <a:xfrm>
            <a:off x="70485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8" name="矩形 27"/>
          <p:cNvSpPr>
            <a:spLocks noGrp="1"/>
          </p:cNvSpPr>
          <p:nvPr/>
        </p:nvSpPr>
        <p:spPr>
          <a:xfrm>
            <a:off x="83820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9" name="矩形 28"/>
          <p:cNvSpPr>
            <a:spLocks noGrp="1"/>
          </p:cNvSpPr>
          <p:nvPr/>
        </p:nvSpPr>
        <p:spPr>
          <a:xfrm>
            <a:off x="154305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Open public /health</a:t>
            </a:r>
          </a:p>
        </p:txBody>
      </p:sp>
      <p:sp>
        <p:nvSpPr>
          <p:cNvPr id="30" name="圆角矩形 29"/>
          <p:cNvSpPr>
            <a:spLocks noGrp="1"/>
          </p:cNvSpPr>
          <p:nvPr/>
        </p:nvSpPr>
        <p:spPr>
          <a:xfrm>
            <a:off x="438150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1" name="矩形 30"/>
          <p:cNvSpPr>
            <a:spLocks noGrp="1"/>
          </p:cNvSpPr>
          <p:nvPr/>
        </p:nvSpPr>
        <p:spPr>
          <a:xfrm>
            <a:off x="451485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2" name="矩形 31"/>
          <p:cNvSpPr>
            <a:spLocks noGrp="1"/>
          </p:cNvSpPr>
          <p:nvPr/>
        </p:nvSpPr>
        <p:spPr>
          <a:xfrm>
            <a:off x="521970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200 + {"ok": true}</a:t>
            </a:r>
          </a:p>
        </p:txBody>
      </p:sp>
      <p:sp>
        <p:nvSpPr>
          <p:cNvPr id="33" name="圆角矩形 32"/>
          <p:cNvSpPr>
            <a:spLocks noGrp="1"/>
          </p:cNvSpPr>
          <p:nvPr/>
        </p:nvSpPr>
        <p:spPr>
          <a:xfrm>
            <a:off x="8058150" y="535305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4" name="矩形 33"/>
          <p:cNvSpPr>
            <a:spLocks noGrp="1"/>
          </p:cNvSpPr>
          <p:nvPr/>
        </p:nvSpPr>
        <p:spPr>
          <a:xfrm>
            <a:off x="8191500" y="546735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5" name="矩形 34"/>
          <p:cNvSpPr>
            <a:spLocks noGrp="1"/>
          </p:cNvSpPr>
          <p:nvPr/>
        </p:nvSpPr>
        <p:spPr>
          <a:xfrm>
            <a:off x="8896350" y="544830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Failure → read the first build/start error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VERCEL</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Deploy the frontend: VITE_API_URL is set at build time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C · DEPLOY</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38</a:t>
            </a:r>
          </a:p>
        </p:txBody>
      </p:sp>
      <p:sp>
        <p:nvSpPr>
          <p:cNvPr id="14" name="圆角矩形 13"/>
          <p:cNvSpPr>
            <a:spLocks noGrp="1"/>
          </p:cNvSpPr>
          <p:nvPr/>
        </p:nvSpPr>
        <p:spPr>
          <a:xfrm>
            <a:off x="685800" y="1428750"/>
            <a:ext cx="6000750" cy="2571750"/>
          </a:xfrm>
          <a:prstGeom prst="roundRect">
            <a:avLst>
              <a:gd name="adj" fmla="val 2963"/>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62100"/>
            <a:ext cx="565785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VERCEL PROJECT SETTINGS</a:t>
            </a:r>
          </a:p>
        </p:txBody>
      </p:sp>
      <p:sp>
        <p:nvSpPr>
          <p:cNvPr id="16" name="矩形 15"/>
          <p:cNvSpPr>
            <a:spLocks noGrp="1"/>
          </p:cNvSpPr>
          <p:nvPr/>
        </p:nvSpPr>
        <p:spPr>
          <a:xfrm>
            <a:off x="857250" y="1828800"/>
            <a:ext cx="5657850" cy="2057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Root Directory: smartlearn-frontend</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Framework Preset: Vite</a:t>
            </a:r>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Build Command: npm run build</a:t>
            </a:r>
          </a:p>
          <a:p>
            <a:endParaRPr sz="1350"/>
          </a:p>
          <a:p>
            <a:pPr algn="l">
              <a:buNone/>
              <a:defRPr sz="1350" b="0">
                <a:solidFill>
                  <a:srgbClr val="F1F6FA"/>
                </a:solidFill>
                <a:latin typeface="Monaco"/>
                <a:ea typeface="Monaco"/>
                <a:cs typeface="Monaco"/>
              </a:defRPr>
            </a:pPr>
            <a:r>
              <a:rPr sz="1350" b="0">
                <a:solidFill>
                  <a:srgbClr val="F1F6FA"/>
                </a:solidFill>
                <a:latin typeface="Monaco"/>
                <a:ea typeface="Monaco"/>
                <a:cs typeface="Monaco"/>
              </a:rPr>
              <a:t>Environment Variable:</a:t>
            </a:r>
          </a:p>
          <a:p>
            <a:pPr algn="l">
              <a:buNone/>
              <a:defRPr sz="1350" b="0">
                <a:solidFill>
                  <a:srgbClr val="F1F6FA"/>
                </a:solidFill>
                <a:latin typeface="Monaco"/>
                <a:ea typeface="Monaco"/>
                <a:cs typeface="Monaco"/>
              </a:defRPr>
            </a:pPr>
            <a:r>
              <a:rPr sz="1350" b="0">
                <a:solidFill>
                  <a:srgbClr val="A7E3A1"/>
                </a:solidFill>
                <a:latin typeface="Monaco"/>
                <a:ea typeface="Monaco"/>
                <a:cs typeface="Monaco"/>
              </a:rPr>
              <a:t>VITE_API_URL</a:t>
            </a:r>
            <a:r>
              <a:rPr sz="1350" b="0">
                <a:solidFill>
                  <a:srgbClr val="F1F6FA"/>
                </a:solidFill>
                <a:latin typeface="Monaco"/>
                <a:ea typeface="Monaco"/>
                <a:cs typeface="Monaco"/>
              </a:rPr>
              <a:t>=https://&lt;real-backend-url&gt;</a:t>
            </a:r>
          </a:p>
        </p:txBody>
      </p:sp>
      <p:sp>
        <p:nvSpPr>
          <p:cNvPr id="17" name="圆角矩形 16"/>
          <p:cNvSpPr>
            <a:spLocks noGrp="1"/>
          </p:cNvSpPr>
          <p:nvPr/>
        </p:nvSpPr>
        <p:spPr>
          <a:xfrm>
            <a:off x="7067550" y="1428750"/>
            <a:ext cx="3943350" cy="1047750"/>
          </a:xfrm>
          <a:prstGeom prst="roundRect">
            <a:avLst>
              <a:gd name="adj" fmla="val 7273"/>
            </a:avLst>
          </a:prstGeom>
          <a:solidFill>
            <a:srgbClr val="F1F6FA"/>
          </a:solidFill>
          <a:ln w="9525">
            <a:solidFill>
              <a:srgbClr val="1F5284"/>
            </a:solidFill>
            <a:prstDash val="solid"/>
          </a:ln>
        </p:spPr>
        <p:txBody>
          <a:bodyPr/>
          <a:lstStyle/>
          <a:p>
            <a:endParaRPr/>
          </a:p>
        </p:txBody>
      </p:sp>
      <p:sp>
        <p:nvSpPr>
          <p:cNvPr id="18" name="矩形 17"/>
          <p:cNvSpPr>
            <a:spLocks noGrp="1"/>
          </p:cNvSpPr>
          <p:nvPr/>
        </p:nvSpPr>
        <p:spPr>
          <a:xfrm>
            <a:off x="7277100" y="1590675"/>
            <a:ext cx="3524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WHY DEPLOY THE BACKEND FIRST?</a:t>
            </a:r>
          </a:p>
        </p:txBody>
      </p:sp>
      <p:sp>
        <p:nvSpPr>
          <p:cNvPr id="19" name="矩形 18"/>
          <p:cNvSpPr>
            <a:spLocks noGrp="1"/>
          </p:cNvSpPr>
          <p:nvPr/>
        </p:nvSpPr>
        <p:spPr>
          <a:xfrm>
            <a:off x="7277100" y="1981200"/>
            <a:ext cx="35242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The actual API URL must be written into the bundle when the frontend is built.</a:t>
            </a:r>
          </a:p>
        </p:txBody>
      </p:sp>
      <p:sp>
        <p:nvSpPr>
          <p:cNvPr id="20" name="圆角矩形 19"/>
          <p:cNvSpPr>
            <a:spLocks noGrp="1"/>
          </p:cNvSpPr>
          <p:nvPr/>
        </p:nvSpPr>
        <p:spPr>
          <a:xfrm>
            <a:off x="7067550" y="2686050"/>
            <a:ext cx="3943350" cy="1047750"/>
          </a:xfrm>
          <a:prstGeom prst="roundRect">
            <a:avLst>
              <a:gd name="adj" fmla="val 7273"/>
            </a:avLst>
          </a:prstGeom>
          <a:solidFill>
            <a:srgbClr val="F1F6FA"/>
          </a:solidFill>
          <a:ln w="9525">
            <a:solidFill>
              <a:srgbClr val="0070C0"/>
            </a:solidFill>
            <a:prstDash val="solid"/>
          </a:ln>
        </p:spPr>
        <p:txBody>
          <a:bodyPr/>
          <a:lstStyle/>
          <a:p>
            <a:endParaRPr/>
          </a:p>
        </p:txBody>
      </p:sp>
      <p:sp>
        <p:nvSpPr>
          <p:cNvPr id="21" name="矩形 20"/>
          <p:cNvSpPr>
            <a:spLocks noGrp="1"/>
          </p:cNvSpPr>
          <p:nvPr/>
        </p:nvSpPr>
        <p:spPr>
          <a:xfrm>
            <a:off x="7277100" y="2847975"/>
            <a:ext cx="3524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WHAT IF THE VARIABLE CHANGES?</a:t>
            </a:r>
          </a:p>
        </p:txBody>
      </p:sp>
      <p:sp>
        <p:nvSpPr>
          <p:cNvPr id="22" name="矩形 21"/>
          <p:cNvSpPr>
            <a:spLocks noGrp="1"/>
          </p:cNvSpPr>
          <p:nvPr/>
        </p:nvSpPr>
        <p:spPr>
          <a:xfrm>
            <a:off x="7277100" y="3238500"/>
            <a:ext cx="35242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Redeploy; refreshing the browser alone still uses the old bundle.</a:t>
            </a:r>
          </a:p>
        </p:txBody>
      </p:sp>
      <p:sp>
        <p:nvSpPr>
          <p:cNvPr id="23" name="圆角矩形 22"/>
          <p:cNvSpPr>
            <a:spLocks noGrp="1"/>
          </p:cNvSpPr>
          <p:nvPr/>
        </p:nvSpPr>
        <p:spPr>
          <a:xfrm>
            <a:off x="7067550" y="3943350"/>
            <a:ext cx="3943350" cy="1047750"/>
          </a:xfrm>
          <a:prstGeom prst="roundRect">
            <a:avLst>
              <a:gd name="adj" fmla="val 7273"/>
            </a:avLst>
          </a:prstGeom>
          <a:solidFill>
            <a:srgbClr val="FFF1EE"/>
          </a:solidFill>
          <a:ln w="9525">
            <a:solidFill>
              <a:srgbClr val="C85A4E"/>
            </a:solidFill>
            <a:prstDash val="solid"/>
          </a:ln>
        </p:spPr>
        <p:txBody>
          <a:bodyPr/>
          <a:lstStyle/>
          <a:p>
            <a:endParaRPr/>
          </a:p>
        </p:txBody>
      </p:sp>
      <p:sp>
        <p:nvSpPr>
          <p:cNvPr id="24" name="矩形 23"/>
          <p:cNvSpPr>
            <a:spLocks noGrp="1"/>
          </p:cNvSpPr>
          <p:nvPr/>
        </p:nvSpPr>
        <p:spPr>
          <a:xfrm>
            <a:off x="7277100" y="4105275"/>
            <a:ext cx="35242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WHAT MUST NEVER GO THERE?</a:t>
            </a:r>
          </a:p>
        </p:txBody>
      </p:sp>
      <p:sp>
        <p:nvSpPr>
          <p:cNvPr id="25" name="矩形 24"/>
          <p:cNvSpPr>
            <a:spLocks noGrp="1"/>
          </p:cNvSpPr>
          <p:nvPr/>
        </p:nvSpPr>
        <p:spPr>
          <a:xfrm>
            <a:off x="7277100" y="4495800"/>
            <a:ext cx="3524250" cy="3619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Any API key. VITE_ variables are exposed in the browser and visible to users.</a:t>
            </a:r>
          </a:p>
        </p:txBody>
      </p:sp>
      <p:sp>
        <p:nvSpPr>
          <p:cNvPr id="26" name="圆角矩形 25"/>
          <p:cNvSpPr>
            <a:spLocks noGrp="1"/>
          </p:cNvSpPr>
          <p:nvPr/>
        </p:nvSpPr>
        <p:spPr>
          <a:xfrm>
            <a:off x="70485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83820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28" name="矩形 27"/>
          <p:cNvSpPr>
            <a:spLocks noGrp="1"/>
          </p:cNvSpPr>
          <p:nvPr/>
        </p:nvSpPr>
        <p:spPr>
          <a:xfrm>
            <a:off x="154305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Deploy and open the Vercel URL</a:t>
            </a:r>
          </a:p>
        </p:txBody>
      </p:sp>
      <p:sp>
        <p:nvSpPr>
          <p:cNvPr id="29" name="圆角矩形 28"/>
          <p:cNvSpPr>
            <a:spLocks noGrp="1"/>
          </p:cNvSpPr>
          <p:nvPr/>
        </p:nvSpPr>
        <p:spPr>
          <a:xfrm>
            <a:off x="438150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0" name="矩形 29"/>
          <p:cNvSpPr>
            <a:spLocks noGrp="1"/>
          </p:cNvSpPr>
          <p:nvPr/>
        </p:nvSpPr>
        <p:spPr>
          <a:xfrm>
            <a:off x="451485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1" name="矩形 30"/>
          <p:cNvSpPr>
            <a:spLocks noGrp="1"/>
          </p:cNvSpPr>
          <p:nvPr/>
        </p:nvSpPr>
        <p:spPr>
          <a:xfrm>
            <a:off x="521970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Page loads without requesting localhost</a:t>
            </a:r>
          </a:p>
        </p:txBody>
      </p:sp>
      <p:sp>
        <p:nvSpPr>
          <p:cNvPr id="32" name="圆角矩形 31"/>
          <p:cNvSpPr>
            <a:spLocks noGrp="1"/>
          </p:cNvSpPr>
          <p:nvPr/>
        </p:nvSpPr>
        <p:spPr>
          <a:xfrm>
            <a:off x="8058150" y="52578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191500" y="53721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34" name="矩形 33"/>
          <p:cNvSpPr>
            <a:spLocks noGrp="1"/>
          </p:cNvSpPr>
          <p:nvPr/>
        </p:nvSpPr>
        <p:spPr>
          <a:xfrm>
            <a:off x="8896350" y="53530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Blank screen → check the Vercel build log</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矩形 40"/>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CONNECT BOTH URLS</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Update CORS with the actual frontend origin</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C · DEPLOY</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39</a:t>
            </a:r>
          </a:p>
        </p:txBody>
      </p:sp>
      <p:sp>
        <p:nvSpPr>
          <p:cNvPr id="14" name="圆角矩形 13"/>
          <p:cNvSpPr>
            <a:spLocks noGrp="1"/>
          </p:cNvSpPr>
          <p:nvPr/>
        </p:nvSpPr>
        <p:spPr>
          <a:xfrm>
            <a:off x="685800" y="1428750"/>
            <a:ext cx="5905500" cy="2362200"/>
          </a:xfrm>
          <a:prstGeom prst="roundRect">
            <a:avLst>
              <a:gd name="adj" fmla="val 3226"/>
            </a:avLst>
          </a:prstGeom>
          <a:solidFill>
            <a:srgbClr val="003B74"/>
          </a:solidFill>
          <a:ln w="9525">
            <a:solidFill>
              <a:srgbClr val="003B74"/>
            </a:solidFill>
            <a:prstDash val="solid"/>
          </a:ln>
        </p:spPr>
        <p:txBody>
          <a:bodyPr/>
          <a:lstStyle/>
          <a:p>
            <a:endParaRPr/>
          </a:p>
        </p:txBody>
      </p:sp>
      <p:sp>
        <p:nvSpPr>
          <p:cNvPr id="15" name="矩形 14"/>
          <p:cNvSpPr>
            <a:spLocks noGrp="1"/>
          </p:cNvSpPr>
          <p:nvPr/>
        </p:nvSpPr>
        <p:spPr>
          <a:xfrm>
            <a:off x="857250" y="1562100"/>
            <a:ext cx="55626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B9D9EF"/>
                </a:solidFill>
                <a:latin typeface="Lato"/>
                <a:ea typeface="Lato"/>
                <a:cs typeface="Lato"/>
              </a:defRPr>
            </a:pPr>
            <a:r>
              <a:rPr sz="750" b="1">
                <a:solidFill>
                  <a:srgbClr val="B9D9EF"/>
                </a:solidFill>
                <a:latin typeface="Lato"/>
                <a:ea typeface="Lato"/>
                <a:cs typeface="Lato"/>
              </a:rPr>
              <a:t>BACKEND SETTINGS</a:t>
            </a:r>
          </a:p>
        </p:txBody>
      </p:sp>
      <p:sp>
        <p:nvSpPr>
          <p:cNvPr id="16" name="矩形 15"/>
          <p:cNvSpPr>
            <a:spLocks noGrp="1"/>
          </p:cNvSpPr>
          <p:nvPr/>
        </p:nvSpPr>
        <p:spPr>
          <a:xfrm>
            <a:off x="857250" y="1828800"/>
            <a:ext cx="5562600" cy="1847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F1F6FA"/>
                </a:solidFill>
                <a:latin typeface="Monaco"/>
                <a:ea typeface="Monaco"/>
                <a:cs typeface="Monaco"/>
              </a:defRPr>
            </a:pPr>
            <a:r>
              <a:rPr sz="1275" b="0">
                <a:solidFill>
                  <a:srgbClr val="7893A6"/>
                </a:solidFill>
                <a:latin typeface="Monaco"/>
                <a:ea typeface="Monaco"/>
                <a:cs typeface="Monaco"/>
              </a:rPr>
              <a:t># Railway environment variable</a:t>
            </a:r>
          </a:p>
          <a:p>
            <a:pPr algn="l">
              <a:buNone/>
              <a:defRPr sz="1275" b="0">
                <a:solidFill>
                  <a:srgbClr val="F1F6FA"/>
                </a:solidFill>
                <a:latin typeface="Monaco"/>
                <a:ea typeface="Monaco"/>
                <a:cs typeface="Monaco"/>
              </a:defRPr>
            </a:pPr>
            <a:r>
              <a:rPr sz="1275" b="0">
                <a:solidFill>
                  <a:srgbClr val="A7E3A1"/>
                </a:solidFill>
                <a:latin typeface="Monaco"/>
                <a:ea typeface="Monaco"/>
                <a:cs typeface="Monaco"/>
              </a:rPr>
              <a:t>ALLOWED_ORIGINS</a:t>
            </a:r>
            <a:r>
              <a:rPr sz="1275" b="0">
                <a:solidFill>
                  <a:srgbClr val="F1F6FA"/>
                </a:solidFill>
                <a:latin typeface="Monaco"/>
                <a:ea typeface="Monaco"/>
                <a:cs typeface="Monaco"/>
              </a:rPr>
              <a:t>=http://localhost:</a:t>
            </a:r>
            <a:r>
              <a:rPr sz="1275" b="0">
                <a:solidFill>
                  <a:srgbClr val="A7E3A1"/>
                </a:solidFill>
                <a:latin typeface="Monaco"/>
                <a:ea typeface="Monaco"/>
                <a:cs typeface="Monaco"/>
              </a:rPr>
              <a:t>5173</a:t>
            </a:r>
            <a:r>
              <a:rPr sz="1275" b="0">
                <a:solidFill>
                  <a:srgbClr val="F1F6FA"/>
                </a:solidFill>
                <a:latin typeface="Monaco"/>
                <a:ea typeface="Monaco"/>
                <a:cs typeface="Monaco"/>
              </a:rPr>
              <a:t>,https://&lt;your-vercel-app&gt;.vercel.app</a:t>
            </a:r>
          </a:p>
          <a:p>
            <a:endParaRPr sz="1275"/>
          </a:p>
          <a:p>
            <a:pPr algn="l">
              <a:buNone/>
              <a:defRPr sz="1275" b="0">
                <a:solidFill>
                  <a:srgbClr val="F1F6FA"/>
                </a:solidFill>
                <a:latin typeface="Monaco"/>
                <a:ea typeface="Monaco"/>
                <a:cs typeface="Monaco"/>
              </a:defRPr>
            </a:pPr>
            <a:r>
              <a:rPr sz="1275" b="0">
                <a:solidFill>
                  <a:srgbClr val="7893A6"/>
                </a:solidFill>
                <a:latin typeface="Monaco"/>
                <a:ea typeface="Monaco"/>
                <a:cs typeface="Monaco"/>
              </a:rPr>
              <a:t># Use the origin only, without a path</a:t>
            </a:r>
          </a:p>
          <a:p>
            <a:pPr algn="l">
              <a:buNone/>
              <a:defRPr sz="1275" b="0">
                <a:solidFill>
                  <a:srgbClr val="F1F6FA"/>
                </a:solidFill>
                <a:latin typeface="Monaco"/>
                <a:ea typeface="Monaco"/>
                <a:cs typeface="Monaco"/>
              </a:defRPr>
            </a:pPr>
            <a:r>
              <a:rPr sz="1275" b="0">
                <a:solidFill>
                  <a:srgbClr val="7893A6"/>
                </a:solidFill>
                <a:latin typeface="Monaco"/>
                <a:ea typeface="Monaco"/>
                <a:cs typeface="Monaco"/>
              </a:rPr>
              <a:t># ✓ https://app.vercel.app</a:t>
            </a:r>
          </a:p>
          <a:p>
            <a:pPr algn="l">
              <a:buNone/>
              <a:defRPr sz="1275" b="0">
                <a:solidFill>
                  <a:srgbClr val="F1F6FA"/>
                </a:solidFill>
                <a:latin typeface="Monaco"/>
                <a:ea typeface="Monaco"/>
                <a:cs typeface="Monaco"/>
              </a:defRPr>
            </a:pPr>
            <a:r>
              <a:rPr sz="1275" b="0">
                <a:solidFill>
                  <a:srgbClr val="7893A6"/>
                </a:solidFill>
                <a:latin typeface="Monaco"/>
                <a:ea typeface="Monaco"/>
                <a:cs typeface="Monaco"/>
              </a:rPr>
              <a:t># ✗ https://app.vercel.app/upload</a:t>
            </a:r>
          </a:p>
        </p:txBody>
      </p:sp>
      <p:sp>
        <p:nvSpPr>
          <p:cNvPr id="17" name="圆角矩形 16"/>
          <p:cNvSpPr>
            <a:spLocks noGrp="1"/>
          </p:cNvSpPr>
          <p:nvPr/>
        </p:nvSpPr>
        <p:spPr>
          <a:xfrm>
            <a:off x="6972300" y="1428750"/>
            <a:ext cx="1866900" cy="1009650"/>
          </a:xfrm>
          <a:prstGeom prst="roundRect">
            <a:avLst>
              <a:gd name="adj" fmla="val 7547"/>
            </a:avLst>
          </a:prstGeom>
          <a:solidFill>
            <a:srgbClr val="FFFFFF"/>
          </a:solidFill>
          <a:ln w="9525">
            <a:solidFill>
              <a:srgbClr val="0070C0"/>
            </a:solidFill>
            <a:prstDash val="solid"/>
          </a:ln>
        </p:spPr>
        <p:txBody>
          <a:bodyPr/>
          <a:lstStyle/>
          <a:p>
            <a:endParaRPr/>
          </a:p>
        </p:txBody>
      </p:sp>
      <p:sp>
        <p:nvSpPr>
          <p:cNvPr id="18" name="矩形 17"/>
          <p:cNvSpPr>
            <a:spLocks noGrp="1"/>
          </p:cNvSpPr>
          <p:nvPr/>
        </p:nvSpPr>
        <p:spPr>
          <a:xfrm>
            <a:off x="7181850" y="1590675"/>
            <a:ext cx="14478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1 · SAVE THE VARIABLE</a:t>
            </a:r>
          </a:p>
        </p:txBody>
      </p:sp>
      <p:sp>
        <p:nvSpPr>
          <p:cNvPr id="19" name="矩形 18"/>
          <p:cNvSpPr>
            <a:spLocks noGrp="1"/>
          </p:cNvSpPr>
          <p:nvPr/>
        </p:nvSpPr>
        <p:spPr>
          <a:xfrm>
            <a:off x="7181850" y="1981200"/>
            <a:ext cx="14478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The backend restarts</a:t>
            </a:r>
          </a:p>
        </p:txBody>
      </p:sp>
      <p:sp>
        <p:nvSpPr>
          <p:cNvPr id="20" name="圆角矩形 19"/>
          <p:cNvSpPr>
            <a:spLocks noGrp="1"/>
          </p:cNvSpPr>
          <p:nvPr/>
        </p:nvSpPr>
        <p:spPr>
          <a:xfrm>
            <a:off x="9010650" y="1428750"/>
            <a:ext cx="1866900" cy="1009650"/>
          </a:xfrm>
          <a:prstGeom prst="roundRect">
            <a:avLst>
              <a:gd name="adj" fmla="val 7547"/>
            </a:avLst>
          </a:prstGeom>
          <a:solidFill>
            <a:srgbClr val="FFFFFF"/>
          </a:solidFill>
          <a:ln w="9525">
            <a:solidFill>
              <a:srgbClr val="0070C0"/>
            </a:solidFill>
            <a:prstDash val="solid"/>
          </a:ln>
        </p:spPr>
        <p:txBody>
          <a:bodyPr/>
          <a:lstStyle/>
          <a:p>
            <a:endParaRPr/>
          </a:p>
        </p:txBody>
      </p:sp>
      <p:sp>
        <p:nvSpPr>
          <p:cNvPr id="21" name="矩形 20"/>
          <p:cNvSpPr>
            <a:spLocks noGrp="1"/>
          </p:cNvSpPr>
          <p:nvPr/>
        </p:nvSpPr>
        <p:spPr>
          <a:xfrm>
            <a:off x="9220200" y="1590675"/>
            <a:ext cx="1447800" cy="2857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2 · WAIT FOR /HEALTH</a:t>
            </a:r>
          </a:p>
        </p:txBody>
      </p:sp>
      <p:sp>
        <p:nvSpPr>
          <p:cNvPr id="22" name="矩形 21"/>
          <p:cNvSpPr>
            <a:spLocks noGrp="1"/>
          </p:cNvSpPr>
          <p:nvPr/>
        </p:nvSpPr>
        <p:spPr>
          <a:xfrm>
            <a:off x="9220200" y="1981200"/>
            <a:ext cx="14478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Confirm 200 again</a:t>
            </a:r>
          </a:p>
        </p:txBody>
      </p:sp>
      <p:sp>
        <p:nvSpPr>
          <p:cNvPr id="23" name="圆角矩形 22"/>
          <p:cNvSpPr>
            <a:spLocks noGrp="1"/>
          </p:cNvSpPr>
          <p:nvPr/>
        </p:nvSpPr>
        <p:spPr>
          <a:xfrm>
            <a:off x="6972300" y="2647950"/>
            <a:ext cx="1866900" cy="1009650"/>
          </a:xfrm>
          <a:prstGeom prst="roundRect">
            <a:avLst>
              <a:gd name="adj" fmla="val 7547"/>
            </a:avLst>
          </a:prstGeom>
          <a:solidFill>
            <a:srgbClr val="FFFFFF"/>
          </a:solidFill>
          <a:ln w="9525">
            <a:solidFill>
              <a:srgbClr val="0070C0"/>
            </a:solidFill>
            <a:prstDash val="solid"/>
          </a:ln>
        </p:spPr>
        <p:txBody>
          <a:bodyPr/>
          <a:lstStyle/>
          <a:p>
            <a:endParaRPr/>
          </a:p>
        </p:txBody>
      </p:sp>
      <p:sp>
        <p:nvSpPr>
          <p:cNvPr id="24" name="矩形 23"/>
          <p:cNvSpPr>
            <a:spLocks noGrp="1"/>
          </p:cNvSpPr>
          <p:nvPr/>
        </p:nvSpPr>
        <p:spPr>
          <a:xfrm>
            <a:off x="7181850" y="2809875"/>
            <a:ext cx="1447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3 · UPLOAD AGAIN</a:t>
            </a:r>
          </a:p>
        </p:txBody>
      </p:sp>
      <p:sp>
        <p:nvSpPr>
          <p:cNvPr id="25" name="矩形 24"/>
          <p:cNvSpPr>
            <a:spLocks noGrp="1"/>
          </p:cNvSpPr>
          <p:nvPr/>
        </p:nvSpPr>
        <p:spPr>
          <a:xfrm>
            <a:off x="7181850" y="3200400"/>
            <a:ext cx="14478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In-memory documents may have been cleared</a:t>
            </a:r>
          </a:p>
        </p:txBody>
      </p:sp>
      <p:sp>
        <p:nvSpPr>
          <p:cNvPr id="26" name="圆角矩形 25"/>
          <p:cNvSpPr>
            <a:spLocks noGrp="1"/>
          </p:cNvSpPr>
          <p:nvPr/>
        </p:nvSpPr>
        <p:spPr>
          <a:xfrm>
            <a:off x="9010650" y="2647950"/>
            <a:ext cx="1866900" cy="1009650"/>
          </a:xfrm>
          <a:prstGeom prst="roundRect">
            <a:avLst>
              <a:gd name="adj" fmla="val 7547"/>
            </a:avLst>
          </a:prstGeom>
          <a:solidFill>
            <a:srgbClr val="EEF7EE"/>
          </a:solidFill>
          <a:ln w="9525">
            <a:solidFill>
              <a:srgbClr val="39825B"/>
            </a:solidFill>
            <a:prstDash val="solid"/>
          </a:ln>
        </p:spPr>
        <p:txBody>
          <a:bodyPr/>
          <a:lstStyle/>
          <a:p>
            <a:endParaRPr/>
          </a:p>
        </p:txBody>
      </p:sp>
      <p:sp>
        <p:nvSpPr>
          <p:cNvPr id="27" name="矩形 26"/>
          <p:cNvSpPr>
            <a:spLocks noGrp="1"/>
          </p:cNvSpPr>
          <p:nvPr/>
        </p:nvSpPr>
        <p:spPr>
          <a:xfrm>
            <a:off x="9220200" y="2809875"/>
            <a:ext cx="1447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4 · ASK AGAIN</a:t>
            </a:r>
          </a:p>
        </p:txBody>
      </p:sp>
      <p:sp>
        <p:nvSpPr>
          <p:cNvPr id="28" name="矩形 27"/>
          <p:cNvSpPr>
            <a:spLocks noGrp="1"/>
          </p:cNvSpPr>
          <p:nvPr/>
        </p:nvSpPr>
        <p:spPr>
          <a:xfrm>
            <a:off x="9220200" y="3200400"/>
            <a:ext cx="144780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Confirm 200 in Network</a:t>
            </a:r>
          </a:p>
        </p:txBody>
      </p:sp>
      <p:sp>
        <p:nvSpPr>
          <p:cNvPr id="29" name="圆角矩形 28"/>
          <p:cNvSpPr>
            <a:spLocks noGrp="1"/>
          </p:cNvSpPr>
          <p:nvPr/>
        </p:nvSpPr>
        <p:spPr>
          <a:xfrm>
            <a:off x="685800" y="4095750"/>
            <a:ext cx="10287000" cy="819150"/>
          </a:xfrm>
          <a:prstGeom prst="roundRect">
            <a:avLst>
              <a:gd name="adj" fmla="val 9302"/>
            </a:avLst>
          </a:prstGeom>
          <a:solidFill>
            <a:srgbClr val="F1F6FA"/>
          </a:solidFill>
          <a:ln w="9525">
            <a:solidFill>
              <a:srgbClr val="1F5284"/>
            </a:solidFill>
            <a:prstDash val="solid"/>
          </a:ln>
        </p:spPr>
        <p:txBody>
          <a:bodyPr/>
          <a:lstStyle/>
          <a:p>
            <a:endParaRPr/>
          </a:p>
        </p:txBody>
      </p:sp>
      <p:sp>
        <p:nvSpPr>
          <p:cNvPr id="30" name="矩形 29"/>
          <p:cNvSpPr>
            <a:spLocks noGrp="1"/>
          </p:cNvSpPr>
          <p:nvPr/>
        </p:nvSpPr>
        <p:spPr>
          <a:xfrm>
            <a:off x="895350" y="4181475"/>
            <a:ext cx="98679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HOW DO YOU KNOW IT IS CORS, NOT A BROKEN BACKEND?</a:t>
            </a:r>
          </a:p>
        </p:txBody>
      </p:sp>
      <p:sp>
        <p:nvSpPr>
          <p:cNvPr id="31" name="矩形 30"/>
          <p:cNvSpPr>
            <a:spLocks noGrp="1"/>
          </p:cNvSpPr>
          <p:nvPr/>
        </p:nvSpPr>
        <p:spPr>
          <a:xfrm>
            <a:off x="895350" y="4419600"/>
            <a:ext cx="9867900" cy="4191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First check whether /health opens directly, then check whether browser Network/Console says blocked by CORS policy.</a:t>
            </a:r>
          </a:p>
        </p:txBody>
      </p:sp>
      <p:sp>
        <p:nvSpPr>
          <p:cNvPr id="32" name="圆角矩形 31"/>
          <p:cNvSpPr>
            <a:spLocks noGrp="1"/>
          </p:cNvSpPr>
          <p:nvPr/>
        </p:nvSpPr>
        <p:spPr>
          <a:xfrm>
            <a:off x="7048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3" name="矩形 32"/>
          <p:cNvSpPr>
            <a:spLocks noGrp="1"/>
          </p:cNvSpPr>
          <p:nvPr/>
        </p:nvSpPr>
        <p:spPr>
          <a:xfrm>
            <a:off x="8382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TA LAB STEP</a:t>
            </a:r>
          </a:p>
        </p:txBody>
      </p:sp>
      <p:sp>
        <p:nvSpPr>
          <p:cNvPr id="34" name="矩形 33"/>
          <p:cNvSpPr>
            <a:spLocks noGrp="1"/>
          </p:cNvSpPr>
          <p:nvPr/>
        </p:nvSpPr>
        <p:spPr>
          <a:xfrm>
            <a:off x="15430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Upload again from Vercel + ask a question</a:t>
            </a:r>
          </a:p>
        </p:txBody>
      </p:sp>
      <p:sp>
        <p:nvSpPr>
          <p:cNvPr id="35" name="圆角矩形 34"/>
          <p:cNvSpPr>
            <a:spLocks noGrp="1"/>
          </p:cNvSpPr>
          <p:nvPr/>
        </p:nvSpPr>
        <p:spPr>
          <a:xfrm>
            <a:off x="438150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6" name="矩形 35"/>
          <p:cNvSpPr>
            <a:spLocks noGrp="1"/>
          </p:cNvSpPr>
          <p:nvPr/>
        </p:nvSpPr>
        <p:spPr>
          <a:xfrm>
            <a:off x="451485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ACCEPTANCE EVIDENCE</a:t>
            </a:r>
          </a:p>
        </p:txBody>
      </p:sp>
      <p:sp>
        <p:nvSpPr>
          <p:cNvPr id="37" name="矩形 36"/>
          <p:cNvSpPr>
            <a:spLocks noGrp="1"/>
          </p:cNvSpPr>
          <p:nvPr/>
        </p:nvSpPr>
        <p:spPr>
          <a:xfrm>
            <a:off x="521970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Two 200 responses in Network</a:t>
            </a:r>
          </a:p>
        </p:txBody>
      </p:sp>
      <p:sp>
        <p:nvSpPr>
          <p:cNvPr id="38" name="圆角矩形 37"/>
          <p:cNvSpPr>
            <a:spLocks noGrp="1"/>
          </p:cNvSpPr>
          <p:nvPr/>
        </p:nvSpPr>
        <p:spPr>
          <a:xfrm>
            <a:off x="8058150" y="5219700"/>
            <a:ext cx="3409950" cy="609600"/>
          </a:xfrm>
          <a:prstGeom prst="roundRect">
            <a:avLst>
              <a:gd name="adj" fmla="val 12500"/>
            </a:avLst>
          </a:prstGeom>
          <a:solidFill>
            <a:srgbClr val="FFFFFF"/>
          </a:solidFill>
          <a:ln w="9525">
            <a:solidFill>
              <a:srgbClr val="A7B8C8"/>
            </a:solidFill>
            <a:prstDash val="solid"/>
          </a:ln>
        </p:spPr>
        <p:txBody>
          <a:bodyPr/>
          <a:lstStyle/>
          <a:p>
            <a:endParaRPr/>
          </a:p>
        </p:txBody>
      </p:sp>
      <p:sp>
        <p:nvSpPr>
          <p:cNvPr id="39" name="矩形 38"/>
          <p:cNvSpPr>
            <a:spLocks noGrp="1"/>
          </p:cNvSpPr>
          <p:nvPr/>
        </p:nvSpPr>
        <p:spPr>
          <a:xfrm>
            <a:off x="8191500" y="5334000"/>
            <a:ext cx="685800" cy="17145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20000"/>
          </a:bodyPr>
          <a:lstStyle/>
          <a:p>
            <a:pPr algn="l">
              <a:buNone/>
              <a:defRPr sz="750" b="1">
                <a:solidFill>
                  <a:srgbClr val="C85A4E"/>
                </a:solidFill>
                <a:latin typeface="Lato"/>
                <a:ea typeface="Lato"/>
                <a:cs typeface="Lato"/>
              </a:defRPr>
            </a:pPr>
            <a:r>
              <a:rPr sz="750" b="1">
                <a:solidFill>
                  <a:srgbClr val="C85A4E"/>
                </a:solidFill>
                <a:latin typeface="Lato"/>
                <a:ea typeface="Lato"/>
                <a:cs typeface="Lato"/>
              </a:rPr>
              <a:t>CHECK FIRST IF BLOCKED</a:t>
            </a:r>
          </a:p>
        </p:txBody>
      </p:sp>
      <p:sp>
        <p:nvSpPr>
          <p:cNvPr id="40" name="矩形 39"/>
          <p:cNvSpPr>
            <a:spLocks noGrp="1"/>
          </p:cNvSpPr>
          <p:nvPr/>
        </p:nvSpPr>
        <p:spPr>
          <a:xfrm>
            <a:off x="8896350" y="5314950"/>
            <a:ext cx="2400300" cy="400050"/>
          </a:xfrm>
          <a:prstGeom prst="rect">
            <a:avLst/>
          </a:prstGeom>
          <a:solidFill>
            <a:srgbClr val="FFFFFF">
              <a:alpha val="0"/>
            </a:srgbClr>
          </a:solidFill>
          <a:ln w="0">
            <a:solidFill>
              <a:srgbClr val="000000">
                <a:alpha val="0"/>
              </a:srgbClr>
            </a:solidFill>
            <a:prstDash val="solid"/>
          </a:ln>
        </p:spPr>
        <p:txBody>
          <a:bodyPr lIns="0" tIns="0" rIns="0" bIns="0" anchor="ctr">
            <a:normAutofit/>
          </a:bodyPr>
          <a:lstStyle/>
          <a:p>
            <a:pPr algn="l">
              <a:buNone/>
              <a:defRPr sz="1050" b="0">
                <a:solidFill>
                  <a:srgbClr val="163F68"/>
                </a:solidFill>
                <a:latin typeface="Lato"/>
                <a:ea typeface="Lato"/>
                <a:cs typeface="Lato"/>
              </a:defRPr>
            </a:pPr>
            <a:r>
              <a:rPr sz="1050" b="0">
                <a:solidFill>
                  <a:srgbClr val="163F68"/>
                </a:solidFill>
                <a:latin typeface="Lato"/>
                <a:ea typeface="Lato"/>
                <a:cs typeface="Lato"/>
              </a:rPr>
              <a:t>CORS → verify the complete origin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矩形 40"/>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TA CHECKPOINT C</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TA checkpoint C: a peer starts again from the entry point</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CHECKPOINT C</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0070C0"/>
          </a:solidFill>
          <a:ln w="9525">
            <a:solidFill>
              <a:srgbClr val="0070C0"/>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A7B8C8"/>
          </a:solidFill>
          <a:ln w="9525">
            <a:solidFill>
              <a:srgbClr val="A7B8C8"/>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VERIFY ON ANOTHER DEVICE OR IN AN INCOGNITO WINDOW</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40</a:t>
            </a:r>
          </a:p>
        </p:txBody>
      </p:sp>
      <p:pic>
        <p:nvPicPr>
          <p:cNvPr id="57" name="图片 54"/>
          <p:cNvPicPr>
            <a:picLocks noChangeAspect="1"/>
          </p:cNvPicPr>
          <p:nvPr/>
        </p:nvPicPr>
        <p:blipFill>
          <a:blip r:embed="rId3"/>
          <a:srcRect t="2162" b="2162"/>
          <a:stretch>
            <a:fillRect/>
          </a:stretch>
        </p:blipFill>
        <p:spPr>
          <a:xfrm>
            <a:off x="685800" y="1428750"/>
            <a:ext cx="6191250" cy="3333750"/>
          </a:xfrm>
          <a:prstGeom prst="rect">
            <a:avLst/>
          </a:prstGeom>
        </p:spPr>
      </p:pic>
      <p:sp>
        <p:nvSpPr>
          <p:cNvPr id="16" name="圆角矩形 15"/>
          <p:cNvSpPr>
            <a:spLocks noGrp="1"/>
          </p:cNvSpPr>
          <p:nvPr/>
        </p:nvSpPr>
        <p:spPr>
          <a:xfrm>
            <a:off x="7181850" y="1428750"/>
            <a:ext cx="3829050" cy="723900"/>
          </a:xfrm>
          <a:prstGeom prst="roundRect">
            <a:avLst>
              <a:gd name="adj" fmla="val 10526"/>
            </a:avLst>
          </a:prstGeom>
          <a:solidFill>
            <a:srgbClr val="FFFFFF"/>
          </a:solidFill>
          <a:ln w="9525">
            <a:solidFill>
              <a:srgbClr val="0070C0"/>
            </a:solidFill>
            <a:prstDash val="solid"/>
          </a:ln>
        </p:spPr>
        <p:txBody>
          <a:bodyPr/>
          <a:lstStyle/>
          <a:p>
            <a:endParaRPr/>
          </a:p>
        </p:txBody>
      </p:sp>
      <p:sp>
        <p:nvSpPr>
          <p:cNvPr id="17" name="矩形 16"/>
          <p:cNvSpPr>
            <a:spLocks noGrp="1"/>
          </p:cNvSpPr>
          <p:nvPr/>
        </p:nvSpPr>
        <p:spPr>
          <a:xfrm>
            <a:off x="7391400" y="1514475"/>
            <a:ext cx="34099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01 · OPEN FROM SCRATCH</a:t>
            </a:r>
          </a:p>
        </p:txBody>
      </p:sp>
      <p:sp>
        <p:nvSpPr>
          <p:cNvPr id="18" name="矩形 17"/>
          <p:cNvSpPr>
            <a:spLocks noGrp="1"/>
          </p:cNvSpPr>
          <p:nvPr/>
        </p:nvSpPr>
        <p:spPr>
          <a:xfrm>
            <a:off x="7391400" y="1752600"/>
            <a:ext cx="340995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Let a peer begin without your help</a:t>
            </a:r>
          </a:p>
        </p:txBody>
      </p:sp>
      <p:sp>
        <p:nvSpPr>
          <p:cNvPr id="19" name="圆角矩形 18"/>
          <p:cNvSpPr>
            <a:spLocks noGrp="1"/>
          </p:cNvSpPr>
          <p:nvPr/>
        </p:nvSpPr>
        <p:spPr>
          <a:xfrm>
            <a:off x="7181850" y="2324100"/>
            <a:ext cx="3829050" cy="723900"/>
          </a:xfrm>
          <a:prstGeom prst="roundRect">
            <a:avLst>
              <a:gd name="adj" fmla="val 10526"/>
            </a:avLst>
          </a:prstGeom>
          <a:solidFill>
            <a:srgbClr val="FFFFFF"/>
          </a:solidFill>
          <a:ln w="9525">
            <a:solidFill>
              <a:srgbClr val="0070C0"/>
            </a:solidFill>
            <a:prstDash val="solid"/>
          </a:ln>
        </p:spPr>
        <p:txBody>
          <a:bodyPr/>
          <a:lstStyle/>
          <a:p>
            <a:endParaRPr/>
          </a:p>
        </p:txBody>
      </p:sp>
      <p:sp>
        <p:nvSpPr>
          <p:cNvPr id="20" name="矩形 19"/>
          <p:cNvSpPr>
            <a:spLocks noGrp="1"/>
          </p:cNvSpPr>
          <p:nvPr/>
        </p:nvSpPr>
        <p:spPr>
          <a:xfrm>
            <a:off x="7391400" y="2409825"/>
            <a:ext cx="34099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02 · UPLOAD THE MATERIAL</a:t>
            </a:r>
          </a:p>
        </p:txBody>
      </p:sp>
      <p:sp>
        <p:nvSpPr>
          <p:cNvPr id="21" name="矩形 20"/>
          <p:cNvSpPr>
            <a:spLocks noGrp="1"/>
          </p:cNvSpPr>
          <p:nvPr/>
        </p:nvSpPr>
        <p:spPr>
          <a:xfrm>
            <a:off x="7391400" y="2647950"/>
            <a:ext cx="340995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Upload the PDF used in today's exercise</a:t>
            </a:r>
          </a:p>
        </p:txBody>
      </p:sp>
      <p:sp>
        <p:nvSpPr>
          <p:cNvPr id="22" name="圆角矩形 21"/>
          <p:cNvSpPr>
            <a:spLocks noGrp="1"/>
          </p:cNvSpPr>
          <p:nvPr/>
        </p:nvSpPr>
        <p:spPr>
          <a:xfrm>
            <a:off x="7181850" y="3219450"/>
            <a:ext cx="3829050" cy="723900"/>
          </a:xfrm>
          <a:prstGeom prst="roundRect">
            <a:avLst>
              <a:gd name="adj" fmla="val 10526"/>
            </a:avLst>
          </a:prstGeom>
          <a:solidFill>
            <a:srgbClr val="FFFFFF"/>
          </a:solidFill>
          <a:ln w="9525">
            <a:solidFill>
              <a:srgbClr val="0070C0"/>
            </a:solidFill>
            <a:prstDash val="solid"/>
          </a:ln>
        </p:spPr>
        <p:txBody>
          <a:bodyPr/>
          <a:lstStyle/>
          <a:p>
            <a:endParaRPr/>
          </a:p>
        </p:txBody>
      </p:sp>
      <p:sp>
        <p:nvSpPr>
          <p:cNvPr id="23" name="矩形 22"/>
          <p:cNvSpPr>
            <a:spLocks noGrp="1"/>
          </p:cNvSpPr>
          <p:nvPr/>
        </p:nvSpPr>
        <p:spPr>
          <a:xfrm>
            <a:off x="7391400" y="3305175"/>
            <a:ext cx="34099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03 · VERIFY TWO TYPES OF ANSWERS</a:t>
            </a:r>
          </a:p>
        </p:txBody>
      </p:sp>
      <p:sp>
        <p:nvSpPr>
          <p:cNvPr id="24" name="矩形 23"/>
          <p:cNvSpPr>
            <a:spLocks noGrp="1"/>
          </p:cNvSpPr>
          <p:nvPr/>
        </p:nvSpPr>
        <p:spPr>
          <a:xfrm>
            <a:off x="7391400" y="3543300"/>
            <a:ext cx="340995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One locatable question and one question not answered by the document</a:t>
            </a:r>
          </a:p>
        </p:txBody>
      </p:sp>
      <p:sp>
        <p:nvSpPr>
          <p:cNvPr id="25" name="圆角矩形 24"/>
          <p:cNvSpPr>
            <a:spLocks noGrp="1"/>
          </p:cNvSpPr>
          <p:nvPr/>
        </p:nvSpPr>
        <p:spPr>
          <a:xfrm>
            <a:off x="7181850" y="4114800"/>
            <a:ext cx="3829050" cy="723900"/>
          </a:xfrm>
          <a:prstGeom prst="roundRect">
            <a:avLst>
              <a:gd name="adj" fmla="val 10526"/>
            </a:avLst>
          </a:prstGeom>
          <a:solidFill>
            <a:srgbClr val="EEF7EE"/>
          </a:solidFill>
          <a:ln w="9525">
            <a:solidFill>
              <a:srgbClr val="39825B"/>
            </a:solidFill>
            <a:prstDash val="solid"/>
          </a:ln>
        </p:spPr>
        <p:txBody>
          <a:bodyPr/>
          <a:lstStyle/>
          <a:p>
            <a:endParaRPr/>
          </a:p>
        </p:txBody>
      </p:sp>
      <p:sp>
        <p:nvSpPr>
          <p:cNvPr id="26" name="矩形 25"/>
          <p:cNvSpPr>
            <a:spLocks noGrp="1"/>
          </p:cNvSpPr>
          <p:nvPr/>
        </p:nvSpPr>
        <p:spPr>
          <a:xfrm>
            <a:off x="7391400" y="4200525"/>
            <a:ext cx="34099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1">
                <a:solidFill>
                  <a:srgbClr val="163F68"/>
                </a:solidFill>
                <a:latin typeface="Lato"/>
                <a:ea typeface="Lato"/>
                <a:cs typeface="Lato"/>
              </a:defRPr>
            </a:pPr>
            <a:r>
              <a:rPr sz="1125" b="1">
                <a:solidFill>
                  <a:srgbClr val="163F68"/>
                </a:solidFill>
                <a:latin typeface="Lato"/>
                <a:ea typeface="Lato"/>
                <a:cs typeface="Lato"/>
              </a:rPr>
              <a:t>04 · RECORD OBSERVATIONS</a:t>
            </a:r>
          </a:p>
        </p:txBody>
      </p:sp>
      <p:sp>
        <p:nvSpPr>
          <p:cNvPr id="27" name="矩形 26"/>
          <p:cNvSpPr>
            <a:spLocks noGrp="1"/>
          </p:cNvSpPr>
          <p:nvPr/>
        </p:nvSpPr>
        <p:spPr>
          <a:xfrm>
            <a:off x="7391400" y="4438650"/>
            <a:ext cx="3409950" cy="3238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Record the observed result and one blocker</a:t>
            </a:r>
          </a:p>
        </p:txBody>
      </p:sp>
      <p:sp>
        <p:nvSpPr>
          <p:cNvPr id="28" name="矩形 27"/>
          <p:cNvSpPr>
            <a:spLocks noGrp="1"/>
          </p:cNvSpPr>
          <p:nvPr/>
        </p:nvSpPr>
        <p:spPr>
          <a:xfrm>
            <a:off x="7181850" y="4914900"/>
            <a:ext cx="3829050" cy="2667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lnSpcReduction="10000"/>
          </a:bodyPr>
          <a:lstStyle/>
          <a:p>
            <a:pPr algn="l">
              <a:buNone/>
              <a:defRPr sz="975" b="1">
                <a:solidFill>
                  <a:srgbClr val="C85A4E"/>
                </a:solidFill>
                <a:latin typeface="Lato"/>
                <a:ea typeface="Lato"/>
                <a:cs typeface="Lato"/>
              </a:defRPr>
            </a:pPr>
            <a:r>
              <a:rPr sz="975" b="1">
                <a:solidFill>
                  <a:srgbClr val="C85A4E"/>
                </a:solidFill>
                <a:latin typeface="Lato"/>
                <a:ea typeface="Lato"/>
                <a:cs typeface="Lato"/>
              </a:rPr>
              <a:t>If blocked, preserve the local pass and record the first error.</a:t>
            </a:r>
          </a:p>
        </p:txBody>
      </p:sp>
      <p:sp>
        <p:nvSpPr>
          <p:cNvPr id="29" name="圆角矩形 28"/>
          <p:cNvSpPr>
            <a:spLocks noGrp="1"/>
          </p:cNvSpPr>
          <p:nvPr/>
        </p:nvSpPr>
        <p:spPr>
          <a:xfrm>
            <a:off x="704850" y="5162550"/>
            <a:ext cx="2476500" cy="685800"/>
          </a:xfrm>
          <a:prstGeom prst="roundRect">
            <a:avLst>
              <a:gd name="adj" fmla="val 11111"/>
            </a:avLst>
          </a:prstGeom>
          <a:solidFill>
            <a:srgbClr val="F1F6FA"/>
          </a:solidFill>
          <a:ln w="9525">
            <a:solidFill>
              <a:srgbClr val="1F5284"/>
            </a:solidFill>
            <a:prstDash val="solid"/>
          </a:ln>
        </p:spPr>
        <p:txBody>
          <a:bodyPr/>
          <a:lstStyle/>
          <a:p>
            <a:endParaRPr/>
          </a:p>
        </p:txBody>
      </p:sp>
      <p:sp>
        <p:nvSpPr>
          <p:cNvPr id="30" name="矩形 29"/>
          <p:cNvSpPr>
            <a:spLocks noGrp="1"/>
          </p:cNvSpPr>
          <p:nvPr/>
        </p:nvSpPr>
        <p:spPr>
          <a:xfrm>
            <a:off x="838200" y="52578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85000" lnSpcReduction="10000"/>
          </a:bodyPr>
          <a:lstStyle/>
          <a:p>
            <a:pPr algn="l">
              <a:buNone/>
              <a:defRPr sz="750" b="1">
                <a:solidFill>
                  <a:srgbClr val="1F5284"/>
                </a:solidFill>
                <a:latin typeface="Lato"/>
                <a:ea typeface="Lato"/>
                <a:cs typeface="Lato"/>
              </a:defRPr>
            </a:pPr>
            <a:r>
              <a:rPr sz="750" b="1">
                <a:solidFill>
                  <a:srgbClr val="1F5284"/>
                </a:solidFill>
                <a:latin typeface="Lato"/>
                <a:ea typeface="Lato"/>
                <a:cs typeface="Lato"/>
              </a:rPr>
              <a:t>YOU ALREADY HAVE</a:t>
            </a:r>
          </a:p>
        </p:txBody>
      </p:sp>
      <p:sp>
        <p:nvSpPr>
          <p:cNvPr id="31" name="矩形 30"/>
          <p:cNvSpPr>
            <a:spLocks noGrp="1"/>
          </p:cNvSpPr>
          <p:nvPr/>
        </p:nvSpPr>
        <p:spPr>
          <a:xfrm>
            <a:off x="838200" y="54578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A Classroom PDF</a:t>
            </a:r>
          </a:p>
        </p:txBody>
      </p:sp>
      <p:sp>
        <p:nvSpPr>
          <p:cNvPr id="32" name="圆角矩形 31"/>
          <p:cNvSpPr>
            <a:spLocks noGrp="1"/>
          </p:cNvSpPr>
          <p:nvPr/>
        </p:nvSpPr>
        <p:spPr>
          <a:xfrm>
            <a:off x="3352800" y="5162550"/>
            <a:ext cx="2476500" cy="685800"/>
          </a:xfrm>
          <a:prstGeom prst="roundRect">
            <a:avLst>
              <a:gd name="adj" fmla="val 11111"/>
            </a:avLst>
          </a:prstGeom>
          <a:solidFill>
            <a:srgbClr val="FFFFFF"/>
          </a:solidFill>
          <a:ln w="9525">
            <a:solidFill>
              <a:srgbClr val="0070C0"/>
            </a:solidFill>
            <a:prstDash val="solid"/>
          </a:ln>
        </p:spPr>
        <p:txBody>
          <a:bodyPr/>
          <a:lstStyle/>
          <a:p>
            <a:endParaRPr/>
          </a:p>
        </p:txBody>
      </p:sp>
      <p:sp>
        <p:nvSpPr>
          <p:cNvPr id="33" name="矩形 32"/>
          <p:cNvSpPr>
            <a:spLocks noGrp="1"/>
          </p:cNvSpPr>
          <p:nvPr/>
        </p:nvSpPr>
        <p:spPr>
          <a:xfrm>
            <a:off x="3486150" y="52578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0070C0"/>
                </a:solidFill>
                <a:latin typeface="Lato"/>
                <a:ea typeface="Lato"/>
                <a:cs typeface="Lato"/>
              </a:defRPr>
            </a:pPr>
            <a:r>
              <a:rPr sz="750" b="1">
                <a:solidFill>
                  <a:srgbClr val="0070C0"/>
                </a:solidFill>
                <a:latin typeface="Lato"/>
                <a:ea typeface="Lato"/>
                <a:cs typeface="Lato"/>
              </a:rPr>
              <a:t>GOAL</a:t>
            </a:r>
          </a:p>
        </p:txBody>
      </p:sp>
      <p:sp>
        <p:nvSpPr>
          <p:cNvPr id="34" name="矩形 33"/>
          <p:cNvSpPr>
            <a:spLocks noGrp="1"/>
          </p:cNvSpPr>
          <p:nvPr/>
        </p:nvSpPr>
        <p:spPr>
          <a:xfrm>
            <a:off x="3486150" y="54578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A Peer Can Operate Independently</a:t>
            </a:r>
          </a:p>
        </p:txBody>
      </p:sp>
      <p:sp>
        <p:nvSpPr>
          <p:cNvPr id="35" name="圆角矩形 34"/>
          <p:cNvSpPr>
            <a:spLocks noGrp="1"/>
          </p:cNvSpPr>
          <p:nvPr/>
        </p:nvSpPr>
        <p:spPr>
          <a:xfrm>
            <a:off x="6000750" y="5162550"/>
            <a:ext cx="2476500" cy="685800"/>
          </a:xfrm>
          <a:prstGeom prst="roundRect">
            <a:avLst>
              <a:gd name="adj" fmla="val 11111"/>
            </a:avLst>
          </a:prstGeom>
          <a:solidFill>
            <a:srgbClr val="EEF7EE"/>
          </a:solidFill>
          <a:ln w="9525">
            <a:solidFill>
              <a:srgbClr val="39825B"/>
            </a:solidFill>
            <a:prstDash val="solid"/>
          </a:ln>
        </p:spPr>
        <p:txBody>
          <a:bodyPr/>
          <a:lstStyle/>
          <a:p>
            <a:endParaRPr/>
          </a:p>
        </p:txBody>
      </p:sp>
      <p:sp>
        <p:nvSpPr>
          <p:cNvPr id="36" name="矩形 35"/>
          <p:cNvSpPr>
            <a:spLocks noGrp="1"/>
          </p:cNvSpPr>
          <p:nvPr/>
        </p:nvSpPr>
        <p:spPr>
          <a:xfrm>
            <a:off x="6134100" y="52578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750" b="1">
                <a:solidFill>
                  <a:srgbClr val="39825B"/>
                </a:solidFill>
                <a:latin typeface="Lato"/>
                <a:ea typeface="Lato"/>
                <a:cs typeface="Lato"/>
              </a:defRPr>
            </a:pPr>
            <a:r>
              <a:rPr sz="750" b="1">
                <a:solidFill>
                  <a:srgbClr val="39825B"/>
                </a:solidFill>
                <a:latin typeface="Lato"/>
                <a:ea typeface="Lato"/>
                <a:cs typeface="Lato"/>
              </a:rPr>
              <a:t>VERIFY THIS WAY</a:t>
            </a:r>
          </a:p>
        </p:txBody>
      </p:sp>
      <p:sp>
        <p:nvSpPr>
          <p:cNvPr id="37" name="矩形 36"/>
          <p:cNvSpPr>
            <a:spLocks noGrp="1"/>
          </p:cNvSpPr>
          <p:nvPr/>
        </p:nvSpPr>
        <p:spPr>
          <a:xfrm>
            <a:off x="6134100" y="54578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Record Actual Observations</a:t>
            </a:r>
          </a:p>
        </p:txBody>
      </p:sp>
      <p:sp>
        <p:nvSpPr>
          <p:cNvPr id="38" name="圆角矩形 37"/>
          <p:cNvSpPr>
            <a:spLocks noGrp="1"/>
          </p:cNvSpPr>
          <p:nvPr/>
        </p:nvSpPr>
        <p:spPr>
          <a:xfrm>
            <a:off x="8648700" y="5162550"/>
            <a:ext cx="2476500" cy="685800"/>
          </a:xfrm>
          <a:prstGeom prst="roundRect">
            <a:avLst>
              <a:gd name="adj" fmla="val 11111"/>
            </a:avLst>
          </a:prstGeom>
          <a:solidFill>
            <a:srgbClr val="FFF8E6"/>
          </a:solidFill>
          <a:ln w="9525">
            <a:solidFill>
              <a:srgbClr val="D4A72C"/>
            </a:solidFill>
            <a:prstDash val="solid"/>
          </a:ln>
        </p:spPr>
        <p:txBody>
          <a:bodyPr/>
          <a:lstStyle/>
          <a:p>
            <a:endParaRPr/>
          </a:p>
        </p:txBody>
      </p:sp>
      <p:sp>
        <p:nvSpPr>
          <p:cNvPr id="39" name="矩形 38"/>
          <p:cNvSpPr>
            <a:spLocks noGrp="1"/>
          </p:cNvSpPr>
          <p:nvPr/>
        </p:nvSpPr>
        <p:spPr>
          <a:xfrm>
            <a:off x="8782050" y="5257800"/>
            <a:ext cx="781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750" b="1">
                <a:solidFill>
                  <a:srgbClr val="D4A72C"/>
                </a:solidFill>
                <a:latin typeface="Lato"/>
                <a:ea typeface="Lato"/>
                <a:cs typeface="Lato"/>
              </a:defRPr>
            </a:pPr>
            <a:r>
              <a:rPr sz="750" b="1">
                <a:solidFill>
                  <a:srgbClr val="D4A72C"/>
                </a:solidFill>
                <a:latin typeface="Lato"/>
                <a:ea typeface="Lato"/>
                <a:cs typeface="Lato"/>
              </a:rPr>
              <a:t>IF INCOMPLETE</a:t>
            </a:r>
          </a:p>
        </p:txBody>
      </p:sp>
      <p:sp>
        <p:nvSpPr>
          <p:cNvPr id="40" name="矩形 39"/>
          <p:cNvSpPr>
            <a:spLocks noGrp="1"/>
          </p:cNvSpPr>
          <p:nvPr/>
        </p:nvSpPr>
        <p:spPr>
          <a:xfrm>
            <a:off x="8782050" y="5457825"/>
            <a:ext cx="2209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163F68"/>
                </a:solidFill>
                <a:latin typeface="Lato"/>
                <a:ea typeface="Lato"/>
                <a:cs typeface="Lato"/>
              </a:defRPr>
            </a:pPr>
            <a:r>
              <a:rPr sz="1050" b="1">
                <a:solidFill>
                  <a:srgbClr val="163F68"/>
                </a:solidFill>
                <a:latin typeface="Lato"/>
                <a:ea typeface="Lato"/>
                <a:cs typeface="Lato"/>
              </a:rPr>
              <a:t>Record the Blocking Step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矩形 31"/>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HOW TO DIAGNOSE SIX COMMON ERRORS</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Error detective: do not change three things at once</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TA LAB C · DEPLOY</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39825B"/>
          </a:solidFill>
          <a:ln w="9525">
            <a:solidFill>
              <a:srgbClr val="39825B"/>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0070C0"/>
          </a:solidFill>
          <a:ln w="9525">
            <a:solidFill>
              <a:srgbClr val="0070C0"/>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41</a:t>
            </a:r>
          </a:p>
        </p:txBody>
      </p:sp>
      <p:sp>
        <p:nvSpPr>
          <p:cNvPr id="14" name="圆角矩形 13"/>
          <p:cNvSpPr>
            <a:spLocks noGrp="1"/>
          </p:cNvSpPr>
          <p:nvPr/>
        </p:nvSpPr>
        <p:spPr>
          <a:xfrm>
            <a:off x="723900" y="1409700"/>
            <a:ext cx="5143500" cy="1123950"/>
          </a:xfrm>
          <a:prstGeom prst="roundRect">
            <a:avLst>
              <a:gd name="adj" fmla="val 6780"/>
            </a:avLst>
          </a:prstGeom>
          <a:solidFill>
            <a:srgbClr val="FFF1EE"/>
          </a:solidFill>
          <a:ln w="9525">
            <a:solidFill>
              <a:srgbClr val="C85A4E"/>
            </a:solidFill>
            <a:prstDash val="solid"/>
          </a:ln>
        </p:spPr>
        <p:txBody>
          <a:bodyPr/>
          <a:lstStyle/>
          <a:p>
            <a:endParaRPr/>
          </a:p>
        </p:txBody>
      </p:sp>
      <p:sp>
        <p:nvSpPr>
          <p:cNvPr id="15" name="矩形 14"/>
          <p:cNvSpPr>
            <a:spLocks noGrp="1"/>
          </p:cNvSpPr>
          <p:nvPr/>
        </p:nvSpPr>
        <p:spPr>
          <a:xfrm>
            <a:off x="933450" y="15716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PAGE WILL NOT OPEN</a:t>
            </a:r>
          </a:p>
        </p:txBody>
      </p:sp>
      <p:sp>
        <p:nvSpPr>
          <p:cNvPr id="16" name="矩形 15"/>
          <p:cNvSpPr>
            <a:spLocks noGrp="1"/>
          </p:cNvSpPr>
          <p:nvPr/>
        </p:nvSpPr>
        <p:spPr>
          <a:xfrm>
            <a:off x="933450" y="19621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Frontend did not start correctly</a:t>
            </a:r>
          </a:p>
          <a:p>
            <a:pPr algn="l">
              <a:buNone/>
              <a:defRPr sz="1125" b="0">
                <a:solidFill>
                  <a:srgbClr val="637788"/>
                </a:solidFill>
                <a:latin typeface="Lato"/>
                <a:ea typeface="Lato"/>
                <a:cs typeface="Lato"/>
              </a:defRPr>
            </a:pPr>
            <a:r>
              <a:rPr sz="1125" b="0">
                <a:solidFill>
                  <a:srgbClr val="637788"/>
                </a:solidFill>
                <a:latin typeface="Lato"/>
                <a:ea typeface="Lato"/>
                <a:cs typeface="Lato"/>
              </a:rPr>
              <a:t>→ Read the first error in the frontend terminal</a:t>
            </a:r>
          </a:p>
        </p:txBody>
      </p:sp>
      <p:sp>
        <p:nvSpPr>
          <p:cNvPr id="17" name="圆角矩形 16"/>
          <p:cNvSpPr>
            <a:spLocks noGrp="1"/>
          </p:cNvSpPr>
          <p:nvPr/>
        </p:nvSpPr>
        <p:spPr>
          <a:xfrm>
            <a:off x="6153150" y="1409700"/>
            <a:ext cx="5143500" cy="1123950"/>
          </a:xfrm>
          <a:prstGeom prst="roundRect">
            <a:avLst>
              <a:gd name="adj" fmla="val 6780"/>
            </a:avLst>
          </a:prstGeom>
          <a:solidFill>
            <a:srgbClr val="FFF1EE"/>
          </a:solidFill>
          <a:ln w="9525">
            <a:solidFill>
              <a:srgbClr val="C85A4E"/>
            </a:solidFill>
            <a:prstDash val="solid"/>
          </a:ln>
        </p:spPr>
        <p:txBody>
          <a:bodyPr/>
          <a:lstStyle/>
          <a:p>
            <a:endParaRPr/>
          </a:p>
        </p:txBody>
      </p:sp>
      <p:sp>
        <p:nvSpPr>
          <p:cNvPr id="18" name="矩形 17"/>
          <p:cNvSpPr>
            <a:spLocks noGrp="1"/>
          </p:cNvSpPr>
          <p:nvPr/>
        </p:nvSpPr>
        <p:spPr>
          <a:xfrm>
            <a:off x="6362700" y="15716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NOTHING HAPPENS AFTER CLICKING</a:t>
            </a:r>
          </a:p>
        </p:txBody>
      </p:sp>
      <p:sp>
        <p:nvSpPr>
          <p:cNvPr id="19" name="矩形 18"/>
          <p:cNvSpPr>
            <a:spLocks noGrp="1"/>
          </p:cNvSpPr>
          <p:nvPr/>
        </p:nvSpPr>
        <p:spPr>
          <a:xfrm>
            <a:off x="6362700" y="19621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Request was not sent as expected</a:t>
            </a:r>
          </a:p>
          <a:p>
            <a:pPr algn="l">
              <a:buNone/>
              <a:defRPr sz="1125" b="0">
                <a:solidFill>
                  <a:srgbClr val="637788"/>
                </a:solidFill>
                <a:latin typeface="Lato"/>
                <a:ea typeface="Lato"/>
                <a:cs typeface="Lato"/>
              </a:defRPr>
            </a:pPr>
            <a:r>
              <a:rPr sz="1125" b="0">
                <a:solidFill>
                  <a:srgbClr val="637788"/>
                </a:solidFill>
                <a:latin typeface="Lato"/>
                <a:ea typeface="Lato"/>
                <a:cs typeface="Lato"/>
              </a:rPr>
              <a:t>→ Check browser Network first</a:t>
            </a:r>
          </a:p>
        </p:txBody>
      </p:sp>
      <p:sp>
        <p:nvSpPr>
          <p:cNvPr id="20" name="圆角矩形 19"/>
          <p:cNvSpPr>
            <a:spLocks noGrp="1"/>
          </p:cNvSpPr>
          <p:nvPr/>
        </p:nvSpPr>
        <p:spPr>
          <a:xfrm>
            <a:off x="723900" y="2743200"/>
            <a:ext cx="5143500" cy="1123950"/>
          </a:xfrm>
          <a:prstGeom prst="roundRect">
            <a:avLst>
              <a:gd name="adj" fmla="val 6780"/>
            </a:avLst>
          </a:prstGeom>
          <a:solidFill>
            <a:srgbClr val="FFFFFF"/>
          </a:solidFill>
          <a:ln w="9525">
            <a:solidFill>
              <a:srgbClr val="D4A72C"/>
            </a:solidFill>
            <a:prstDash val="solid"/>
          </a:ln>
        </p:spPr>
        <p:txBody>
          <a:bodyPr/>
          <a:lstStyle/>
          <a:p>
            <a:endParaRPr/>
          </a:p>
        </p:txBody>
      </p:sp>
      <p:sp>
        <p:nvSpPr>
          <p:cNvPr id="21" name="矩形 20"/>
          <p:cNvSpPr>
            <a:spLocks noGrp="1"/>
          </p:cNvSpPr>
          <p:nvPr/>
        </p:nvSpPr>
        <p:spPr>
          <a:xfrm>
            <a:off x="933450" y="29051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BROWSER BLOCKS THE REQUEST</a:t>
            </a:r>
          </a:p>
        </p:txBody>
      </p:sp>
      <p:sp>
        <p:nvSpPr>
          <p:cNvPr id="22" name="矩形 21"/>
          <p:cNvSpPr>
            <a:spLocks noGrp="1"/>
          </p:cNvSpPr>
          <p:nvPr/>
        </p:nvSpPr>
        <p:spPr>
          <a:xfrm>
            <a:off x="933450" y="32956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The UI origin is not allowed</a:t>
            </a:r>
          </a:p>
          <a:p>
            <a:pPr algn="l">
              <a:buNone/>
              <a:defRPr sz="1125" b="0">
                <a:solidFill>
                  <a:srgbClr val="637788"/>
                </a:solidFill>
                <a:latin typeface="Lato"/>
                <a:ea typeface="Lato"/>
                <a:cs typeface="Lato"/>
              </a:defRPr>
            </a:pPr>
            <a:r>
              <a:rPr sz="1125" b="0">
                <a:solidFill>
                  <a:srgbClr val="637788"/>
                </a:solidFill>
                <a:latin typeface="Lato"/>
                <a:ea typeface="Lato"/>
                <a:cs typeface="Lato"/>
              </a:rPr>
              <a:t>→ Check CORS and the request URL first</a:t>
            </a:r>
          </a:p>
        </p:txBody>
      </p:sp>
      <p:sp>
        <p:nvSpPr>
          <p:cNvPr id="23" name="圆角矩形 22"/>
          <p:cNvSpPr>
            <a:spLocks noGrp="1"/>
          </p:cNvSpPr>
          <p:nvPr/>
        </p:nvSpPr>
        <p:spPr>
          <a:xfrm>
            <a:off x="6153150" y="2743200"/>
            <a:ext cx="5143500" cy="1123950"/>
          </a:xfrm>
          <a:prstGeom prst="roundRect">
            <a:avLst>
              <a:gd name="adj" fmla="val 6780"/>
            </a:avLst>
          </a:prstGeom>
          <a:solidFill>
            <a:srgbClr val="FFFFFF"/>
          </a:solidFill>
          <a:ln w="9525">
            <a:solidFill>
              <a:srgbClr val="D4A72C"/>
            </a:solidFill>
            <a:prstDash val="solid"/>
          </a:ln>
        </p:spPr>
        <p:txBody>
          <a:bodyPr/>
          <a:lstStyle/>
          <a:p>
            <a:endParaRPr/>
          </a:p>
        </p:txBody>
      </p:sp>
      <p:sp>
        <p:nvSpPr>
          <p:cNvPr id="24" name="矩形 23"/>
          <p:cNvSpPr>
            <a:spLocks noGrp="1"/>
          </p:cNvSpPr>
          <p:nvPr/>
        </p:nvSpPr>
        <p:spPr>
          <a:xfrm>
            <a:off x="6362700" y="29051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BACKEND CANNOT ANSWER</a:t>
            </a:r>
          </a:p>
        </p:txBody>
      </p:sp>
      <p:sp>
        <p:nvSpPr>
          <p:cNvPr id="25" name="矩形 24"/>
          <p:cNvSpPr>
            <a:spLocks noGrp="1"/>
          </p:cNvSpPr>
          <p:nvPr/>
        </p:nvSpPr>
        <p:spPr>
          <a:xfrm>
            <a:off x="6362700" y="32956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The pages, message, chat_id, or AI service has a problem</a:t>
            </a:r>
          </a:p>
          <a:p>
            <a:pPr algn="l">
              <a:buNone/>
              <a:defRPr sz="1125" b="0">
                <a:solidFill>
                  <a:srgbClr val="637788"/>
                </a:solidFill>
                <a:latin typeface="Lato"/>
                <a:ea typeface="Lato"/>
                <a:cs typeface="Lato"/>
              </a:defRPr>
            </a:pPr>
            <a:r>
              <a:rPr sz="1125" b="0">
                <a:solidFill>
                  <a:srgbClr val="637788"/>
                </a:solidFill>
                <a:latin typeface="Lato"/>
                <a:ea typeface="Lato"/>
                <a:cs typeface="Lato"/>
              </a:rPr>
              <a:t>→ Read the first error in the backend terminal</a:t>
            </a:r>
          </a:p>
        </p:txBody>
      </p:sp>
      <p:sp>
        <p:nvSpPr>
          <p:cNvPr id="26" name="圆角矩形 25"/>
          <p:cNvSpPr>
            <a:spLocks noGrp="1"/>
          </p:cNvSpPr>
          <p:nvPr/>
        </p:nvSpPr>
        <p:spPr>
          <a:xfrm>
            <a:off x="723900" y="4076700"/>
            <a:ext cx="5143500" cy="1123950"/>
          </a:xfrm>
          <a:prstGeom prst="roundRect">
            <a:avLst>
              <a:gd name="adj" fmla="val 6780"/>
            </a:avLst>
          </a:prstGeom>
          <a:solidFill>
            <a:srgbClr val="FFFFFF"/>
          </a:solidFill>
          <a:ln w="9525">
            <a:solidFill>
              <a:srgbClr val="D4A72C"/>
            </a:solidFill>
            <a:prstDash val="solid"/>
          </a:ln>
        </p:spPr>
        <p:txBody>
          <a:bodyPr/>
          <a:lstStyle/>
          <a:p>
            <a:endParaRPr/>
          </a:p>
        </p:txBody>
      </p:sp>
      <p:sp>
        <p:nvSpPr>
          <p:cNvPr id="27" name="矩形 26"/>
          <p:cNvSpPr>
            <a:spLocks noGrp="1"/>
          </p:cNvSpPr>
          <p:nvPr/>
        </p:nvSpPr>
        <p:spPr>
          <a:xfrm>
            <a:off x="933450" y="42386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ANSWER HAS NO PAGE NUMBER</a:t>
            </a:r>
          </a:p>
        </p:txBody>
      </p:sp>
      <p:sp>
        <p:nvSpPr>
          <p:cNvPr id="28" name="矩形 27"/>
          <p:cNvSpPr>
            <a:spLocks noGrp="1"/>
          </p:cNvSpPr>
          <p:nvPr/>
        </p:nvSpPr>
        <p:spPr>
          <a:xfrm>
            <a:off x="933450" y="46291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The document was not passed with page numbers</a:t>
            </a:r>
          </a:p>
          <a:p>
            <a:pPr algn="l">
              <a:buNone/>
              <a:defRPr sz="1125" b="0">
                <a:solidFill>
                  <a:srgbClr val="637788"/>
                </a:solidFill>
                <a:latin typeface="Lato"/>
                <a:ea typeface="Lato"/>
                <a:cs typeface="Lato"/>
              </a:defRPr>
            </a:pPr>
            <a:r>
              <a:rPr sz="1125" b="0">
                <a:solidFill>
                  <a:srgbClr val="637788"/>
                </a:solidFill>
                <a:latin typeface="Lato"/>
                <a:ea typeface="Lato"/>
                <a:cs typeface="Lato"/>
              </a:rPr>
              <a:t>→ Return to the PDF parsing and answer logic</a:t>
            </a:r>
          </a:p>
        </p:txBody>
      </p:sp>
      <p:sp>
        <p:nvSpPr>
          <p:cNvPr id="29" name="圆角矩形 28"/>
          <p:cNvSpPr>
            <a:spLocks noGrp="1"/>
          </p:cNvSpPr>
          <p:nvPr/>
        </p:nvSpPr>
        <p:spPr>
          <a:xfrm>
            <a:off x="6153150" y="4076700"/>
            <a:ext cx="5143500" cy="1123950"/>
          </a:xfrm>
          <a:prstGeom prst="roundRect">
            <a:avLst>
              <a:gd name="adj" fmla="val 6780"/>
            </a:avLst>
          </a:prstGeom>
          <a:solidFill>
            <a:srgbClr val="FFFFFF"/>
          </a:solidFill>
          <a:ln w="9525">
            <a:solidFill>
              <a:srgbClr val="D4A72C"/>
            </a:solidFill>
            <a:prstDash val="solid"/>
          </a:ln>
        </p:spPr>
        <p:txBody>
          <a:bodyPr/>
          <a:lstStyle/>
          <a:p>
            <a:endParaRPr/>
          </a:p>
        </p:txBody>
      </p:sp>
      <p:sp>
        <p:nvSpPr>
          <p:cNvPr id="30" name="矩形 29"/>
          <p:cNvSpPr>
            <a:spLocks noGrp="1"/>
          </p:cNvSpPr>
          <p:nvPr/>
        </p:nvSpPr>
        <p:spPr>
          <a:xfrm>
            <a:off x="6362700" y="4238625"/>
            <a:ext cx="47244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00" b="1">
                <a:solidFill>
                  <a:srgbClr val="163F68"/>
                </a:solidFill>
                <a:latin typeface="Lato"/>
                <a:ea typeface="Lato"/>
                <a:cs typeface="Lato"/>
              </a:defRPr>
            </a:pPr>
            <a:r>
              <a:rPr sz="1200" b="1">
                <a:solidFill>
                  <a:srgbClr val="163F68"/>
                </a:solidFill>
                <a:latin typeface="Lato"/>
                <a:ea typeface="Lato"/>
                <a:cs typeface="Lato"/>
              </a:rPr>
              <a:t>WORKS LOCALLY, BUT OTHERS CANNOT OPEN IT</a:t>
            </a:r>
          </a:p>
        </p:txBody>
      </p:sp>
      <p:sp>
        <p:nvSpPr>
          <p:cNvPr id="31" name="矩形 30"/>
          <p:cNvSpPr>
            <a:spLocks noGrp="1"/>
          </p:cNvSpPr>
          <p:nvPr/>
        </p:nvSpPr>
        <p:spPr>
          <a:xfrm>
            <a:off x="6362700" y="4629150"/>
            <a:ext cx="4724400" cy="4381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The two services cannot find each other</a:t>
            </a:r>
          </a:p>
          <a:p>
            <a:pPr algn="l">
              <a:buNone/>
              <a:defRPr sz="1125" b="0">
                <a:solidFill>
                  <a:srgbClr val="637788"/>
                </a:solidFill>
                <a:latin typeface="Lato"/>
                <a:ea typeface="Lato"/>
                <a:cs typeface="Lato"/>
              </a:defRPr>
            </a:pPr>
            <a:r>
              <a:rPr sz="1125" b="0">
                <a:solidFill>
                  <a:srgbClr val="637788"/>
                </a:solidFill>
                <a:latin typeface="Lato"/>
                <a:ea typeface="Lato"/>
                <a:cs typeface="Lato"/>
              </a:rPr>
              <a:t>→ Check the frontend and backend URLs separately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矩形 24"/>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WHAT WILL WE UPGRADE TOMORROW?</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1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Day 3: retrieve first, then answer as documents grow</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STUDENT SELF-READ</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39825B"/>
          </a:solidFill>
          <a:ln w="9525">
            <a:solidFill>
              <a:srgbClr val="39825B"/>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0070C0"/>
          </a:solidFill>
          <a:ln w="9525">
            <a:solidFill>
              <a:srgbClr val="0070C0"/>
            </a:solidFill>
            <a:prstDash val="solid"/>
          </a:ln>
        </p:spPr>
        <p:txBody>
          <a:bodyPr/>
          <a:lstStyle/>
          <a:p>
            <a:endParaRPr/>
          </a:p>
        </p:txBody>
      </p:sp>
      <p:sp>
        <p:nvSpPr>
          <p:cNvPr id="10" name="矩形 9"/>
          <p:cNvSpPr>
            <a:spLocks noGrp="1"/>
          </p:cNvSpPr>
          <p:nvPr/>
        </p:nvSpPr>
        <p:spPr>
          <a:xfrm>
            <a:off x="781050" y="5867400"/>
            <a:ext cx="102870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1">
                <a:solidFill>
                  <a:srgbClr val="39825B"/>
                </a:solidFill>
                <a:latin typeface="Lato"/>
                <a:ea typeface="Lato"/>
                <a:cs typeface="Lato"/>
              </a:defRPr>
            </a:pPr>
            <a:r>
              <a:rPr sz="1050" b="1">
                <a:solidFill>
                  <a:srgbClr val="39825B"/>
                </a:solidFill>
                <a:latin typeface="Lato"/>
                <a:ea typeface="Lato"/>
                <a:cs typeface="Lato"/>
              </a:rPr>
              <a:t>ON DAY 3, USE CHUNKING, EMBEDDINGS, AND FAISS TO RETRIEVE FROM LARGE DOCUMENTS BEFORE ANSWERING</a:t>
            </a: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42</a:t>
            </a:r>
          </a:p>
        </p:txBody>
      </p:sp>
      <p:pic>
        <p:nvPicPr>
          <p:cNvPr id="41" name="图片 38"/>
          <p:cNvPicPr>
            <a:picLocks noChangeAspect="1"/>
          </p:cNvPicPr>
          <p:nvPr/>
        </p:nvPicPr>
        <p:blipFill>
          <a:blip r:embed="rId3"/>
          <a:srcRect t="3802" b="3802"/>
          <a:stretch>
            <a:fillRect/>
          </a:stretch>
        </p:blipFill>
        <p:spPr>
          <a:xfrm>
            <a:off x="666750" y="1428750"/>
            <a:ext cx="7143750" cy="3714750"/>
          </a:xfrm>
          <a:prstGeom prst="rect">
            <a:avLst/>
          </a:prstGeom>
        </p:spPr>
      </p:pic>
      <p:sp>
        <p:nvSpPr>
          <p:cNvPr id="16" name="圆角矩形 15"/>
          <p:cNvSpPr>
            <a:spLocks noGrp="1"/>
          </p:cNvSpPr>
          <p:nvPr/>
        </p:nvSpPr>
        <p:spPr>
          <a:xfrm>
            <a:off x="8115300" y="1466850"/>
            <a:ext cx="3009900" cy="1200150"/>
          </a:xfrm>
          <a:prstGeom prst="roundRect">
            <a:avLst>
              <a:gd name="adj" fmla="val 6349"/>
            </a:avLst>
          </a:prstGeom>
          <a:solidFill>
            <a:srgbClr val="FFF8E6"/>
          </a:solidFill>
          <a:ln w="9525">
            <a:solidFill>
              <a:srgbClr val="D4A72C"/>
            </a:solidFill>
            <a:prstDash val="solid"/>
          </a:ln>
        </p:spPr>
        <p:txBody>
          <a:bodyPr/>
          <a:lstStyle/>
          <a:p>
            <a:endParaRPr/>
          </a:p>
        </p:txBody>
      </p:sp>
      <p:sp>
        <p:nvSpPr>
          <p:cNvPr id="17" name="矩形 16"/>
          <p:cNvSpPr>
            <a:spLocks noGrp="1"/>
          </p:cNvSpPr>
          <p:nvPr/>
        </p:nvSpPr>
        <p:spPr>
          <a:xfrm>
            <a:off x="8324850" y="1628775"/>
            <a:ext cx="2590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Day 2: Full Text in the Prompt</a:t>
            </a:r>
          </a:p>
        </p:txBody>
      </p:sp>
      <p:sp>
        <p:nvSpPr>
          <p:cNvPr id="18" name="矩形 17"/>
          <p:cNvSpPr>
            <a:spLocks noGrp="1"/>
          </p:cNvSpPr>
          <p:nvPr/>
        </p:nvSpPr>
        <p:spPr>
          <a:xfrm>
            <a:off x="8324850" y="2019300"/>
            <a:ext cx="2590800" cy="5143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050" b="0">
                <a:solidFill>
                  <a:srgbClr val="637788"/>
                </a:solidFill>
                <a:latin typeface="Lato"/>
                <a:ea typeface="Lato"/>
                <a:cs typeface="Lato"/>
              </a:defRPr>
            </a:pPr>
            <a:r>
              <a:rPr sz="1050" b="0">
                <a:solidFill>
                  <a:srgbClr val="637788"/>
                </a:solidFill>
                <a:latin typeface="Lato"/>
                <a:ea typeface="Lato"/>
                <a:cs typeface="Lato"/>
              </a:rPr>
              <a:t>This is intuitive for documents up to 30 pages; larger documents become slow and introduce noise.</a:t>
            </a:r>
          </a:p>
        </p:txBody>
      </p:sp>
      <p:sp>
        <p:nvSpPr>
          <p:cNvPr id="19" name="圆角矩形 18"/>
          <p:cNvSpPr>
            <a:spLocks noGrp="1"/>
          </p:cNvSpPr>
          <p:nvPr/>
        </p:nvSpPr>
        <p:spPr>
          <a:xfrm>
            <a:off x="8115300" y="2876550"/>
            <a:ext cx="3009900" cy="1352550"/>
          </a:xfrm>
          <a:prstGeom prst="roundRect">
            <a:avLst>
              <a:gd name="adj" fmla="val 5634"/>
            </a:avLst>
          </a:prstGeom>
          <a:solidFill>
            <a:srgbClr val="F1F6FA"/>
          </a:solidFill>
          <a:ln w="9525">
            <a:solidFill>
              <a:srgbClr val="0070C0"/>
            </a:solidFill>
            <a:prstDash val="solid"/>
          </a:ln>
        </p:spPr>
        <p:txBody>
          <a:bodyPr/>
          <a:lstStyle/>
          <a:p>
            <a:endParaRPr/>
          </a:p>
        </p:txBody>
      </p:sp>
      <p:sp>
        <p:nvSpPr>
          <p:cNvPr id="20" name="矩形 19"/>
          <p:cNvSpPr>
            <a:spLocks noGrp="1"/>
          </p:cNvSpPr>
          <p:nvPr/>
        </p:nvSpPr>
        <p:spPr>
          <a:xfrm>
            <a:off x="8324850" y="3038475"/>
            <a:ext cx="2590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Day 3: RAG Retrieval</a:t>
            </a:r>
          </a:p>
        </p:txBody>
      </p:sp>
      <p:sp>
        <p:nvSpPr>
          <p:cNvPr id="21" name="矩形 20"/>
          <p:cNvSpPr>
            <a:spLocks noGrp="1"/>
          </p:cNvSpPr>
          <p:nvPr/>
        </p:nvSpPr>
        <p:spPr>
          <a:xfrm>
            <a:off x="8324850" y="3429000"/>
            <a:ext cx="2590800" cy="666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Chunking → embeddings → FAISS → retrieve the most relevant passages → answer with citations.</a:t>
            </a:r>
          </a:p>
        </p:txBody>
      </p:sp>
      <p:sp>
        <p:nvSpPr>
          <p:cNvPr id="22" name="圆角矩形 21"/>
          <p:cNvSpPr>
            <a:spLocks noGrp="1"/>
          </p:cNvSpPr>
          <p:nvPr/>
        </p:nvSpPr>
        <p:spPr>
          <a:xfrm>
            <a:off x="8115300" y="4438650"/>
            <a:ext cx="3009900" cy="895350"/>
          </a:xfrm>
          <a:prstGeom prst="roundRect">
            <a:avLst>
              <a:gd name="adj" fmla="val 8511"/>
            </a:avLst>
          </a:prstGeom>
          <a:solidFill>
            <a:srgbClr val="EEF7EE"/>
          </a:solidFill>
          <a:ln w="9525">
            <a:solidFill>
              <a:srgbClr val="39825B"/>
            </a:solidFill>
            <a:prstDash val="solid"/>
          </a:ln>
        </p:spPr>
        <p:txBody>
          <a:bodyPr/>
          <a:lstStyle/>
          <a:p>
            <a:endParaRPr/>
          </a:p>
        </p:txBody>
      </p:sp>
      <p:sp>
        <p:nvSpPr>
          <p:cNvPr id="23" name="矩形 22"/>
          <p:cNvSpPr>
            <a:spLocks noGrp="1"/>
          </p:cNvSpPr>
          <p:nvPr/>
        </p:nvSpPr>
        <p:spPr>
          <a:xfrm>
            <a:off x="8324850" y="4600575"/>
            <a:ext cx="259080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163F68"/>
                </a:solidFill>
                <a:latin typeface="Lato"/>
                <a:ea typeface="Lato"/>
                <a:cs typeface="Lato"/>
              </a:defRPr>
            </a:pPr>
            <a:r>
              <a:rPr sz="1500" b="1">
                <a:solidFill>
                  <a:srgbClr val="163F68"/>
                </a:solidFill>
                <a:latin typeface="Lato"/>
                <a:ea typeface="Lato"/>
                <a:cs typeface="Lato"/>
              </a:rPr>
              <a:t>Day 3 Deliverables</a:t>
            </a:r>
          </a:p>
        </p:txBody>
      </p:sp>
      <p:sp>
        <p:nvSpPr>
          <p:cNvPr id="24" name="矩形 23"/>
          <p:cNvSpPr>
            <a:spLocks noGrp="1"/>
          </p:cNvSpPr>
          <p:nvPr/>
        </p:nvSpPr>
        <p:spPr>
          <a:xfrm>
            <a:off x="8324850" y="4991100"/>
            <a:ext cx="2590800" cy="209550"/>
          </a:xfrm>
          <a:prstGeom prst="rect">
            <a:avLst/>
          </a:prstGeom>
          <a:solidFill>
            <a:srgbClr val="FFFFFF">
              <a:alpha val="0"/>
            </a:srgbClr>
          </a:solidFill>
          <a:ln w="0">
            <a:solidFill>
              <a:srgbClr val="000000">
                <a:alpha val="0"/>
              </a:srgbClr>
            </a:solidFill>
            <a:prstDash val="solid"/>
          </a:ln>
        </p:spPr>
        <p:txBody>
          <a:bodyPr lIns="0" tIns="0" rIns="0" bIns="0" anchor="t">
            <a:normAutofit fontScale="83704" lnSpcReduction="20000"/>
          </a:bodyPr>
          <a:lstStyle/>
          <a:p>
            <a:pPr algn="l">
              <a:buNone/>
              <a:defRPr sz="975" b="0">
                <a:solidFill>
                  <a:srgbClr val="637788"/>
                </a:solidFill>
                <a:latin typeface="Lato"/>
                <a:ea typeface="Lato"/>
                <a:cs typeface="Lato"/>
              </a:defRPr>
            </a:pPr>
            <a:r>
              <a:rPr sz="975" b="0">
                <a:solidFill>
                  <a:srgbClr val="637788"/>
                </a:solidFill>
                <a:latin typeface="Lato"/>
                <a:ea typeface="Lato"/>
                <a:cs typeface="Lato"/>
              </a:rPr>
              <a:t>Clickable citations, multi-turn conversation, evaluation examples, a demo video, and slides.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矩形 37"/>
          <p:cNvSpPr>
            <a:spLocks noGrp="1"/>
          </p:cNvSpPr>
          <p:nvPr/>
        </p:nvSpPr>
        <p:spPr>
          <a:xfrm>
            <a:off x="0" y="0"/>
            <a:ext cx="12192000" cy="6858000"/>
          </a:xfrm>
          <a:prstGeom prst="rect">
            <a:avLst/>
          </a:prstGeom>
          <a:solidFill>
            <a:srgbClr val="FFFFFF"/>
          </a:solidFill>
          <a:ln w="9525">
            <a:solidFill>
              <a:srgbClr val="FFFFFF"/>
            </a:solidFill>
            <a:prstDash val="solid"/>
          </a:ln>
        </p:spPr>
        <p:txBody>
          <a:bodyPr/>
          <a:lstStyle/>
          <a:p>
            <a:endParaRPr/>
          </a:p>
        </p:txBody>
      </p:sp>
      <p:sp>
        <p:nvSpPr>
          <p:cNvPr id="2" name="矩形 1"/>
          <p:cNvSpPr>
            <a:spLocks noGrp="1"/>
          </p:cNvSpPr>
          <p:nvPr/>
        </p:nvSpPr>
        <p:spPr>
          <a:xfrm>
            <a:off x="781050" y="40005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1F5284"/>
                </a:solidFill>
                <a:latin typeface="Lato"/>
                <a:ea typeface="Lato"/>
                <a:cs typeface="Lato"/>
              </a:defRPr>
            </a:pPr>
            <a:r>
              <a:rPr sz="975" b="1">
                <a:solidFill>
                  <a:srgbClr val="1F5284"/>
                </a:solidFill>
                <a:latin typeface="Lato"/>
                <a:ea typeface="Lato"/>
                <a:cs typeface="Lato"/>
              </a:rPr>
              <a:t>EXIT TICKET PREVIEW</a:t>
            </a:r>
          </a:p>
        </p:txBody>
      </p:sp>
      <p:sp>
        <p:nvSpPr>
          <p:cNvPr id="3" name="矩形 2"/>
          <p:cNvSpPr>
            <a:spLocks noGrp="1"/>
          </p:cNvSpPr>
          <p:nvPr/>
        </p:nvSpPr>
        <p:spPr>
          <a:xfrm>
            <a:off x="781050" y="781050"/>
            <a:ext cx="9982200" cy="533400"/>
          </a:xfrm>
          <a:prstGeom prst="rect">
            <a:avLst/>
          </a:prstGeom>
          <a:solidFill>
            <a:srgbClr val="FFFFFF">
              <a:alpha val="0"/>
            </a:srgbClr>
          </a:solidFill>
          <a:ln w="0">
            <a:solidFill>
              <a:srgbClr val="000000">
                <a:alpha val="0"/>
              </a:srgbClr>
            </a:solidFill>
            <a:prstDash val="solid"/>
          </a:ln>
        </p:spPr>
        <p:txBody>
          <a:bodyPr lIns="0" tIns="0" rIns="0" bIns="0" anchor="t">
            <a:normAutofit lnSpcReduction="20000"/>
          </a:bodyPr>
          <a:lstStyle/>
          <a:p>
            <a:pPr algn="l">
              <a:buNone/>
              <a:defRPr sz="2925" b="1">
                <a:solidFill>
                  <a:srgbClr val="163F68"/>
                </a:solidFill>
                <a:latin typeface="Lato"/>
                <a:ea typeface="Lato"/>
                <a:cs typeface="Lato"/>
              </a:defRPr>
            </a:pPr>
            <a:r>
              <a:rPr sz="2925" b="1">
                <a:solidFill>
                  <a:srgbClr val="163F68"/>
                </a:solidFill>
                <a:latin typeface="Lato"/>
                <a:ea typeface="Lato"/>
                <a:cs typeface="Lato"/>
              </a:rPr>
              <a:t>Return to this learning receipt after the final TA lab</a:t>
            </a:r>
          </a:p>
        </p:txBody>
      </p:sp>
      <p:sp>
        <p:nvSpPr>
          <p:cNvPr id="4" name="矩形 3"/>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1F5284"/>
                </a:solidFill>
                <a:latin typeface="Lato"/>
                <a:ea typeface="Lato"/>
                <a:cs typeface="Lato"/>
              </a:defRPr>
            </a:pPr>
            <a:r>
              <a:rPr sz="825" b="1">
                <a:solidFill>
                  <a:srgbClr val="1F5284"/>
                </a:solidFill>
                <a:latin typeface="Lato"/>
                <a:ea typeface="Lato"/>
                <a:cs typeface="Lato"/>
              </a:rPr>
              <a:t>STUDENT SELF-READ</a:t>
            </a:r>
          </a:p>
        </p:txBody>
      </p:sp>
      <p:sp>
        <p:nvSpPr>
          <p:cNvPr id="5" name="矩形 4"/>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6" name="矩形 5"/>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10153650" y="647700"/>
            <a:ext cx="400050" cy="28575"/>
          </a:xfrm>
          <a:prstGeom prst="rect">
            <a:avLst/>
          </a:prstGeom>
          <a:solidFill>
            <a:srgbClr val="39825B"/>
          </a:solidFill>
          <a:ln w="9525">
            <a:solidFill>
              <a:srgbClr val="39825B"/>
            </a:solidFill>
            <a:prstDash val="solid"/>
          </a:ln>
        </p:spPr>
        <p:txBody>
          <a:bodyPr/>
          <a:lstStyle/>
          <a:p>
            <a:endParaRPr/>
          </a:p>
        </p:txBody>
      </p:sp>
      <p:sp>
        <p:nvSpPr>
          <p:cNvPr id="9" name="矩形 8"/>
          <p:cNvSpPr>
            <a:spLocks noGrp="1"/>
          </p:cNvSpPr>
          <p:nvPr/>
        </p:nvSpPr>
        <p:spPr>
          <a:xfrm>
            <a:off x="10648950" y="647700"/>
            <a:ext cx="400050" cy="28575"/>
          </a:xfrm>
          <a:prstGeom prst="rect">
            <a:avLst/>
          </a:prstGeom>
          <a:solidFill>
            <a:srgbClr val="0070C0"/>
          </a:solidFill>
          <a:ln w="9525">
            <a:solidFill>
              <a:srgbClr val="0070C0"/>
            </a:solidFill>
            <a:prstDash val="solid"/>
          </a:ln>
        </p:spPr>
        <p:txBody>
          <a:bodyPr/>
          <a:lstStyle/>
          <a:p>
            <a:endParaRPr/>
          </a:p>
        </p:txBody>
      </p:sp>
      <p:sp>
        <p:nvSpPr>
          <p:cNvPr id="10" name="矩形 9"/>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1" name="矩形 10"/>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2" name="矩形 11"/>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3" name="矩形 12"/>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43</a:t>
            </a:r>
          </a:p>
        </p:txBody>
      </p:sp>
      <p:sp>
        <p:nvSpPr>
          <p:cNvPr id="14" name="圆角矩形 13"/>
          <p:cNvSpPr>
            <a:spLocks noGrp="1"/>
          </p:cNvSpPr>
          <p:nvPr/>
        </p:nvSpPr>
        <p:spPr>
          <a:xfrm>
            <a:off x="742950" y="1390650"/>
            <a:ext cx="4953000" cy="1028700"/>
          </a:xfrm>
          <a:prstGeom prst="roundRect">
            <a:avLst>
              <a:gd name="adj" fmla="val 7407"/>
            </a:avLst>
          </a:prstGeom>
          <a:solidFill>
            <a:srgbClr val="FFFFFF"/>
          </a:solidFill>
          <a:ln w="9525">
            <a:solidFill>
              <a:srgbClr val="A7B8C8"/>
            </a:solidFill>
            <a:prstDash val="solid"/>
          </a:ln>
        </p:spPr>
        <p:txBody>
          <a:bodyPr/>
          <a:lstStyle/>
          <a:p>
            <a:endParaRPr/>
          </a:p>
        </p:txBody>
      </p:sp>
      <p:sp>
        <p:nvSpPr>
          <p:cNvPr id="15" name="矩形 14"/>
          <p:cNvSpPr>
            <a:spLocks noGrp="1"/>
          </p:cNvSpPr>
          <p:nvPr/>
        </p:nvSpPr>
        <p:spPr>
          <a:xfrm>
            <a:off x="952500" y="1676400"/>
            <a:ext cx="5143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550" b="1">
                <a:solidFill>
                  <a:srgbClr val="0070C0"/>
                </a:solidFill>
                <a:latin typeface="Lato"/>
                <a:ea typeface="Lato"/>
                <a:cs typeface="Lato"/>
              </a:defRPr>
            </a:pPr>
            <a:r>
              <a:rPr sz="2550" b="1">
                <a:solidFill>
                  <a:srgbClr val="0070C0"/>
                </a:solidFill>
                <a:latin typeface="Lato"/>
                <a:ea typeface="Lato"/>
                <a:cs typeface="Lato"/>
              </a:rPr>
              <a:t>1</a:t>
            </a:r>
          </a:p>
        </p:txBody>
      </p:sp>
      <p:sp>
        <p:nvSpPr>
          <p:cNvPr id="16" name="矩形 15"/>
          <p:cNvSpPr>
            <a:spLocks noGrp="1"/>
          </p:cNvSpPr>
          <p:nvPr/>
        </p:nvSpPr>
        <p:spPr>
          <a:xfrm>
            <a:off x="1619250" y="1562100"/>
            <a:ext cx="38100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A FLOW I CAN EXPLAIN</a:t>
            </a:r>
          </a:p>
        </p:txBody>
      </p:sp>
      <p:sp>
        <p:nvSpPr>
          <p:cNvPr id="17" name="矩形 16"/>
          <p:cNvSpPr>
            <a:spLocks noGrp="1"/>
          </p:cNvSpPr>
          <p:nvPr/>
        </p:nvSpPr>
        <p:spPr>
          <a:xfrm>
            <a:off x="1619250" y="1924050"/>
            <a:ext cx="38100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Which step from upload to answer is now clear?</a:t>
            </a:r>
          </a:p>
        </p:txBody>
      </p:sp>
      <p:sp>
        <p:nvSpPr>
          <p:cNvPr id="18" name="圆角矩形 17"/>
          <p:cNvSpPr>
            <a:spLocks noGrp="1"/>
          </p:cNvSpPr>
          <p:nvPr/>
        </p:nvSpPr>
        <p:spPr>
          <a:xfrm>
            <a:off x="5981700" y="1390650"/>
            <a:ext cx="4953000" cy="1028700"/>
          </a:xfrm>
          <a:prstGeom prst="roundRect">
            <a:avLst>
              <a:gd name="adj" fmla="val 7407"/>
            </a:avLst>
          </a:prstGeom>
          <a:solidFill>
            <a:srgbClr val="FFFFFF"/>
          </a:solidFill>
          <a:ln w="9525">
            <a:solidFill>
              <a:srgbClr val="A7B8C8"/>
            </a:solidFill>
            <a:prstDash val="solid"/>
          </a:ln>
        </p:spPr>
        <p:txBody>
          <a:bodyPr/>
          <a:lstStyle/>
          <a:p>
            <a:endParaRPr/>
          </a:p>
        </p:txBody>
      </p:sp>
      <p:sp>
        <p:nvSpPr>
          <p:cNvPr id="19" name="矩形 18"/>
          <p:cNvSpPr>
            <a:spLocks noGrp="1"/>
          </p:cNvSpPr>
          <p:nvPr/>
        </p:nvSpPr>
        <p:spPr>
          <a:xfrm>
            <a:off x="6191250" y="1676400"/>
            <a:ext cx="5143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550" b="1">
                <a:solidFill>
                  <a:srgbClr val="0070C0"/>
                </a:solidFill>
                <a:latin typeface="Lato"/>
                <a:ea typeface="Lato"/>
                <a:cs typeface="Lato"/>
              </a:defRPr>
            </a:pPr>
            <a:r>
              <a:rPr sz="2550" b="1">
                <a:solidFill>
                  <a:srgbClr val="0070C0"/>
                </a:solidFill>
                <a:latin typeface="Lato"/>
                <a:ea typeface="Lato"/>
                <a:cs typeface="Lato"/>
              </a:rPr>
              <a:t>2</a:t>
            </a:r>
          </a:p>
        </p:txBody>
      </p:sp>
      <p:sp>
        <p:nvSpPr>
          <p:cNvPr id="20" name="矩形 19"/>
          <p:cNvSpPr>
            <a:spLocks noGrp="1"/>
          </p:cNvSpPr>
          <p:nvPr/>
        </p:nvSpPr>
        <p:spPr>
          <a:xfrm>
            <a:off x="6858000" y="1562100"/>
            <a:ext cx="38100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ONE EVIDENCE OBSERVATION</a:t>
            </a:r>
          </a:p>
        </p:txBody>
      </p:sp>
      <p:sp>
        <p:nvSpPr>
          <p:cNvPr id="21" name="矩形 20"/>
          <p:cNvSpPr>
            <a:spLocks noGrp="1"/>
          </p:cNvSpPr>
          <p:nvPr/>
        </p:nvSpPr>
        <p:spPr>
          <a:xfrm>
            <a:off x="6858000" y="1924050"/>
            <a:ext cx="38100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Which answer can be traced to a page number?</a:t>
            </a:r>
          </a:p>
        </p:txBody>
      </p:sp>
      <p:sp>
        <p:nvSpPr>
          <p:cNvPr id="22" name="圆角矩形 21"/>
          <p:cNvSpPr>
            <a:spLocks noGrp="1"/>
          </p:cNvSpPr>
          <p:nvPr/>
        </p:nvSpPr>
        <p:spPr>
          <a:xfrm>
            <a:off x="742950" y="2590800"/>
            <a:ext cx="4953000" cy="1028700"/>
          </a:xfrm>
          <a:prstGeom prst="roundRect">
            <a:avLst>
              <a:gd name="adj" fmla="val 7407"/>
            </a:avLst>
          </a:prstGeom>
          <a:solidFill>
            <a:srgbClr val="FFFFFF"/>
          </a:solidFill>
          <a:ln w="9525">
            <a:solidFill>
              <a:srgbClr val="A7B8C8"/>
            </a:solidFill>
            <a:prstDash val="solid"/>
          </a:ln>
        </p:spPr>
        <p:txBody>
          <a:bodyPr/>
          <a:lstStyle/>
          <a:p>
            <a:endParaRPr/>
          </a:p>
        </p:txBody>
      </p:sp>
      <p:sp>
        <p:nvSpPr>
          <p:cNvPr id="23" name="矩形 22"/>
          <p:cNvSpPr>
            <a:spLocks noGrp="1"/>
          </p:cNvSpPr>
          <p:nvPr/>
        </p:nvSpPr>
        <p:spPr>
          <a:xfrm>
            <a:off x="952500" y="2876550"/>
            <a:ext cx="5143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550" b="1">
                <a:solidFill>
                  <a:srgbClr val="0070C0"/>
                </a:solidFill>
                <a:latin typeface="Lato"/>
                <a:ea typeface="Lato"/>
                <a:cs typeface="Lato"/>
              </a:defRPr>
            </a:pPr>
            <a:r>
              <a:rPr sz="2550" b="1">
                <a:solidFill>
                  <a:srgbClr val="0070C0"/>
                </a:solidFill>
                <a:latin typeface="Lato"/>
                <a:ea typeface="Lato"/>
                <a:cs typeface="Lato"/>
              </a:rPr>
              <a:t>3</a:t>
            </a:r>
          </a:p>
        </p:txBody>
      </p:sp>
      <p:sp>
        <p:nvSpPr>
          <p:cNvPr id="24" name="矩形 23"/>
          <p:cNvSpPr>
            <a:spLocks noGrp="1"/>
          </p:cNvSpPr>
          <p:nvPr/>
        </p:nvSpPr>
        <p:spPr>
          <a:xfrm>
            <a:off x="1619250" y="2762250"/>
            <a:ext cx="38100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ONE HONEST DELIVERY</a:t>
            </a:r>
          </a:p>
        </p:txBody>
      </p:sp>
      <p:sp>
        <p:nvSpPr>
          <p:cNvPr id="25" name="矩形 24"/>
          <p:cNvSpPr>
            <a:spLocks noGrp="1"/>
          </p:cNvSpPr>
          <p:nvPr/>
        </p:nvSpPr>
        <p:spPr>
          <a:xfrm>
            <a:off x="1619250" y="3124200"/>
            <a:ext cx="3810000" cy="304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Record a commit, PR, URL, or real blocker.</a:t>
            </a:r>
          </a:p>
        </p:txBody>
      </p:sp>
      <p:sp>
        <p:nvSpPr>
          <p:cNvPr id="26" name="圆角矩形 25"/>
          <p:cNvSpPr>
            <a:spLocks noGrp="1"/>
          </p:cNvSpPr>
          <p:nvPr/>
        </p:nvSpPr>
        <p:spPr>
          <a:xfrm>
            <a:off x="5981700" y="2590800"/>
            <a:ext cx="4953000" cy="1028700"/>
          </a:xfrm>
          <a:prstGeom prst="roundRect">
            <a:avLst>
              <a:gd name="adj" fmla="val 7407"/>
            </a:avLst>
          </a:prstGeom>
          <a:solidFill>
            <a:srgbClr val="FFFFFF"/>
          </a:solidFill>
          <a:ln w="9525">
            <a:solidFill>
              <a:srgbClr val="A7B8C8"/>
            </a:solidFill>
            <a:prstDash val="solid"/>
          </a:ln>
        </p:spPr>
        <p:txBody>
          <a:bodyPr/>
          <a:lstStyle/>
          <a:p>
            <a:endParaRPr/>
          </a:p>
        </p:txBody>
      </p:sp>
      <p:sp>
        <p:nvSpPr>
          <p:cNvPr id="27" name="矩形 26"/>
          <p:cNvSpPr>
            <a:spLocks noGrp="1"/>
          </p:cNvSpPr>
          <p:nvPr/>
        </p:nvSpPr>
        <p:spPr>
          <a:xfrm>
            <a:off x="6191250" y="2876550"/>
            <a:ext cx="514350" cy="4000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2550" b="1">
                <a:solidFill>
                  <a:srgbClr val="0070C0"/>
                </a:solidFill>
                <a:latin typeface="Lato"/>
                <a:ea typeface="Lato"/>
                <a:cs typeface="Lato"/>
              </a:defRPr>
            </a:pPr>
            <a:r>
              <a:rPr sz="2550" b="1">
                <a:solidFill>
                  <a:srgbClr val="0070C0"/>
                </a:solidFill>
                <a:latin typeface="Lato"/>
                <a:ea typeface="Lato"/>
                <a:cs typeface="Lato"/>
              </a:rPr>
              <a:t>4</a:t>
            </a:r>
          </a:p>
        </p:txBody>
      </p:sp>
      <p:sp>
        <p:nvSpPr>
          <p:cNvPr id="28" name="矩形 27"/>
          <p:cNvSpPr>
            <a:spLocks noGrp="1"/>
          </p:cNvSpPr>
          <p:nvPr/>
        </p:nvSpPr>
        <p:spPr>
          <a:xfrm>
            <a:off x="6858000" y="2762250"/>
            <a:ext cx="3810000" cy="2476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350" b="1">
                <a:solidFill>
                  <a:srgbClr val="163F68"/>
                </a:solidFill>
                <a:latin typeface="Lato"/>
                <a:ea typeface="Lato"/>
                <a:cs typeface="Lato"/>
              </a:defRPr>
            </a:pPr>
            <a:r>
              <a:rPr sz="1350" b="1">
                <a:solidFill>
                  <a:srgbClr val="163F68"/>
                </a:solidFill>
                <a:latin typeface="Lato"/>
                <a:ea typeface="Lato"/>
                <a:cs typeface="Lato"/>
              </a:rPr>
              <a:t>TRY ANOTHER DOCUMENT</a:t>
            </a:r>
          </a:p>
        </p:txBody>
      </p:sp>
      <p:sp>
        <p:nvSpPr>
          <p:cNvPr id="29" name="矩形 28"/>
          <p:cNvSpPr>
            <a:spLocks noGrp="1"/>
          </p:cNvSpPr>
          <p:nvPr/>
        </p:nvSpPr>
        <p:spPr>
          <a:xfrm>
            <a:off x="6858000" y="3124200"/>
            <a:ext cx="3810000" cy="304800"/>
          </a:xfrm>
          <a:prstGeom prst="rect">
            <a:avLst/>
          </a:prstGeom>
          <a:solidFill>
            <a:srgbClr val="FFFFFF">
              <a:alpha val="0"/>
            </a:srgbClr>
          </a:solidFill>
          <a:ln w="0">
            <a:solidFill>
              <a:srgbClr val="000000">
                <a:alpha val="0"/>
              </a:srgbClr>
            </a:solidFill>
            <a:prstDash val="solid"/>
          </a:ln>
        </p:spPr>
        <p:txBody>
          <a:bodyPr lIns="0" tIns="0" rIns="0" bIns="0" anchor="t">
            <a:normAutofit fontScale="92500"/>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After creating your own question, can a peer still complete the flow independently?</a:t>
            </a:r>
          </a:p>
        </p:txBody>
      </p:sp>
      <p:sp>
        <p:nvSpPr>
          <p:cNvPr id="30" name="圆角矩形 29"/>
          <p:cNvSpPr>
            <a:spLocks noGrp="1"/>
          </p:cNvSpPr>
          <p:nvPr/>
        </p:nvSpPr>
        <p:spPr>
          <a:xfrm>
            <a:off x="742950" y="3905250"/>
            <a:ext cx="10191750" cy="742950"/>
          </a:xfrm>
          <a:prstGeom prst="roundRect">
            <a:avLst>
              <a:gd name="adj" fmla="val 10256"/>
            </a:avLst>
          </a:prstGeom>
          <a:solidFill>
            <a:srgbClr val="EEF7EE"/>
          </a:solidFill>
          <a:ln w="9525">
            <a:solidFill>
              <a:srgbClr val="39825B"/>
            </a:solidFill>
            <a:prstDash val="solid"/>
          </a:ln>
        </p:spPr>
        <p:txBody>
          <a:bodyPr/>
          <a:lstStyle/>
          <a:p>
            <a:endParaRPr/>
          </a:p>
        </p:txBody>
      </p:sp>
      <p:sp>
        <p:nvSpPr>
          <p:cNvPr id="31" name="矩形 30"/>
          <p:cNvSpPr>
            <a:spLocks noGrp="1"/>
          </p:cNvSpPr>
          <p:nvPr/>
        </p:nvSpPr>
        <p:spPr>
          <a:xfrm>
            <a:off x="952500" y="3990975"/>
            <a:ext cx="97726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RECORD ONLY WHAT ACTUALLY HAPPENED</a:t>
            </a:r>
          </a:p>
        </p:txBody>
      </p:sp>
      <p:sp>
        <p:nvSpPr>
          <p:cNvPr id="32" name="矩形 31"/>
          <p:cNvSpPr>
            <a:spLocks noGrp="1"/>
          </p:cNvSpPr>
          <p:nvPr/>
        </p:nvSpPr>
        <p:spPr>
          <a:xfrm>
            <a:off x="952500" y="4229100"/>
            <a:ext cx="9772650" cy="3429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Record only actual commits, PRs, frontend URLs, backend /health results, and peer observations. If incomplete, write down the first error and blocker.</a:t>
            </a:r>
          </a:p>
        </p:txBody>
      </p:sp>
      <p:sp>
        <p:nvSpPr>
          <p:cNvPr id="33" name="圆角矩形 32"/>
          <p:cNvSpPr>
            <a:spLocks noGrp="1"/>
          </p:cNvSpPr>
          <p:nvPr/>
        </p:nvSpPr>
        <p:spPr>
          <a:xfrm>
            <a:off x="742950" y="4857750"/>
            <a:ext cx="10191750" cy="685800"/>
          </a:xfrm>
          <a:prstGeom prst="roundRect">
            <a:avLst>
              <a:gd name="adj" fmla="val 11111"/>
            </a:avLst>
          </a:prstGeom>
          <a:solidFill>
            <a:srgbClr val="F1F6FA"/>
          </a:solidFill>
          <a:ln w="9525">
            <a:solidFill>
              <a:srgbClr val="1F5284"/>
            </a:solidFill>
            <a:prstDash val="solid"/>
          </a:ln>
        </p:spPr>
        <p:txBody>
          <a:bodyPr/>
          <a:lstStyle/>
          <a:p>
            <a:endParaRPr/>
          </a:p>
        </p:txBody>
      </p:sp>
      <p:sp>
        <p:nvSpPr>
          <p:cNvPr id="34" name="矩形 33"/>
          <p:cNvSpPr>
            <a:spLocks noGrp="1"/>
          </p:cNvSpPr>
          <p:nvPr/>
        </p:nvSpPr>
        <p:spPr>
          <a:xfrm>
            <a:off x="952500" y="4943475"/>
            <a:ext cx="97726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1">
                <a:solidFill>
                  <a:srgbClr val="163F68"/>
                </a:solidFill>
                <a:latin typeface="Lato"/>
                <a:ea typeface="Lato"/>
                <a:cs typeface="Lato"/>
              </a:defRPr>
            </a:pPr>
            <a:r>
              <a:rPr sz="1275" b="1">
                <a:solidFill>
                  <a:srgbClr val="163F68"/>
                </a:solidFill>
                <a:latin typeface="Lato"/>
                <a:ea typeface="Lato"/>
                <a:cs typeface="Lato"/>
              </a:rPr>
              <a:t>TRY THE TRANSFER CHALLENGE AFTER THE SHARED QUESTIONS WORK</a:t>
            </a:r>
          </a:p>
        </p:txBody>
      </p:sp>
      <p:sp>
        <p:nvSpPr>
          <p:cNvPr id="35" name="矩形 34"/>
          <p:cNvSpPr>
            <a:spLocks noGrp="1"/>
          </p:cNvSpPr>
          <p:nvPr/>
        </p:nvSpPr>
        <p:spPr>
          <a:xfrm>
            <a:off x="952500" y="5181600"/>
            <a:ext cx="97726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125" b="0">
                <a:solidFill>
                  <a:srgbClr val="637788"/>
                </a:solidFill>
                <a:latin typeface="Lato"/>
                <a:ea typeface="Lato"/>
                <a:cs typeface="Lato"/>
              </a:defRPr>
            </a:pPr>
            <a:r>
              <a:rPr sz="1125" b="0">
                <a:solidFill>
                  <a:srgbClr val="637788"/>
                </a:solidFill>
                <a:latin typeface="Lato"/>
                <a:ea typeface="Lato"/>
                <a:cs typeface="Lato"/>
              </a:rPr>
              <a:t>Use a non-sensitive, text-based PDF of at most 30 pages. Design one locatable question and one question outside the document.</a:t>
            </a:r>
          </a:p>
        </p:txBody>
      </p:sp>
      <p:sp>
        <p:nvSpPr>
          <p:cNvPr id="36" name="圆角矩形 35"/>
          <p:cNvSpPr>
            <a:spLocks noGrp="1"/>
          </p:cNvSpPr>
          <p:nvPr/>
        </p:nvSpPr>
        <p:spPr>
          <a:xfrm>
            <a:off x="742950" y="5791200"/>
            <a:ext cx="10191750" cy="323850"/>
          </a:xfrm>
          <a:prstGeom prst="roundRect">
            <a:avLst>
              <a:gd name="adj" fmla="val 23529"/>
            </a:avLst>
          </a:prstGeom>
          <a:solidFill>
            <a:srgbClr val="003B74"/>
          </a:solidFill>
          <a:ln w="9525">
            <a:solidFill>
              <a:srgbClr val="003B74"/>
            </a:solidFill>
            <a:prstDash val="solid"/>
          </a:ln>
        </p:spPr>
        <p:txBody>
          <a:bodyPr/>
          <a:lstStyle/>
          <a:p>
            <a:endParaRPr/>
          </a:p>
        </p:txBody>
      </p:sp>
      <p:sp>
        <p:nvSpPr>
          <p:cNvPr id="37" name="矩形 36"/>
          <p:cNvSpPr>
            <a:spLocks noGrp="1"/>
          </p:cNvSpPr>
          <p:nvPr/>
        </p:nvSpPr>
        <p:spPr>
          <a:xfrm>
            <a:off x="914400" y="5857875"/>
            <a:ext cx="9848850" cy="1905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ctr">
              <a:buNone/>
              <a:defRPr sz="1125" b="1">
                <a:solidFill>
                  <a:srgbClr val="FFFFFF"/>
                </a:solidFill>
                <a:latin typeface="Lato"/>
                <a:ea typeface="Lato"/>
                <a:cs typeface="Lato"/>
              </a:defRPr>
            </a:pPr>
            <a:r>
              <a:rPr sz="1125" b="1">
                <a:solidFill>
                  <a:srgbClr val="FFFFFF"/>
                </a:solidFill>
                <a:latin typeface="Lato"/>
                <a:ea typeface="Lato"/>
                <a:cs typeface="Lato"/>
              </a:rPr>
              <a:t>Make small-document Q&amp;A clear today; use RAG for longer documents tomorrow.</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3B74"/>
        </a:solidFill>
        <a:effectLst/>
      </p:bgPr>
    </p:bg>
    <p:spTree>
      <p:nvGrpSpPr>
        <p:cNvPr id="1" name=""/>
        <p:cNvGrpSpPr/>
        <p:nvPr/>
      </p:nvGrpSpPr>
      <p:grpSpPr>
        <a:xfrm>
          <a:off x="0" y="0"/>
          <a:ext cx="0" cy="0"/>
          <a:chOff x="0" y="0"/>
          <a:chExt cx="0" cy="0"/>
        </a:xfrm>
      </p:grpSpPr>
      <p:sp>
        <p:nvSpPr>
          <p:cNvPr id="21" name="矩形 20"/>
          <p:cNvSpPr>
            <a:spLocks noGrp="1"/>
          </p:cNvSpPr>
          <p:nvPr/>
        </p:nvSpPr>
        <p:spPr>
          <a:xfrm>
            <a:off x="0" y="0"/>
            <a:ext cx="12192000" cy="6858000"/>
          </a:xfrm>
          <a:prstGeom prst="rect">
            <a:avLst/>
          </a:prstGeom>
          <a:solidFill>
            <a:srgbClr val="003B74"/>
          </a:solidFill>
          <a:ln w="9525">
            <a:solidFill>
              <a:srgbClr val="003B74"/>
            </a:solidFill>
            <a:prstDash val="solid"/>
          </a:ln>
        </p:spPr>
        <p:txBody>
          <a:bodyPr/>
          <a:lstStyle/>
          <a:p>
            <a:endParaRPr/>
          </a:p>
        </p:txBody>
      </p:sp>
      <p:sp>
        <p:nvSpPr>
          <p:cNvPr id="2" name="矩形 1"/>
          <p:cNvSpPr>
            <a:spLocks noGrp="1"/>
          </p:cNvSpPr>
          <p:nvPr/>
        </p:nvSpPr>
        <p:spPr>
          <a:xfrm>
            <a:off x="0" y="2571750"/>
            <a:ext cx="190500" cy="1143000"/>
          </a:xfrm>
          <a:prstGeom prst="rect">
            <a:avLst/>
          </a:prstGeom>
          <a:solidFill>
            <a:srgbClr val="00467F"/>
          </a:solidFill>
          <a:ln w="9525">
            <a:solidFill>
              <a:srgbClr val="00467F"/>
            </a:solidFill>
            <a:prstDash val="solid"/>
          </a:ln>
        </p:spPr>
        <p:txBody>
          <a:bodyPr/>
          <a:lstStyle/>
          <a:p>
            <a:endParaRPr/>
          </a:p>
        </p:txBody>
      </p:sp>
      <p:sp>
        <p:nvSpPr>
          <p:cNvPr id="3" name="矩形 2"/>
          <p:cNvSpPr>
            <a:spLocks noGrp="1"/>
          </p:cNvSpPr>
          <p:nvPr/>
        </p:nvSpPr>
        <p:spPr>
          <a:xfrm>
            <a:off x="781050" y="2209800"/>
            <a:ext cx="619125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1">
                <a:solidFill>
                  <a:srgbClr val="D8E6EF"/>
                </a:solidFill>
                <a:latin typeface="Lato"/>
                <a:ea typeface="Lato"/>
                <a:cs typeface="Lato"/>
              </a:defRPr>
            </a:pPr>
            <a:r>
              <a:rPr sz="975" b="1">
                <a:solidFill>
                  <a:srgbClr val="D8E6EF"/>
                </a:solidFill>
                <a:latin typeface="Lato"/>
                <a:ea typeface="Lato"/>
                <a:cs typeface="Lato"/>
              </a:rPr>
              <a:t>TEACHER → TA HANDOFF</a:t>
            </a:r>
          </a:p>
        </p:txBody>
      </p:sp>
      <p:sp>
        <p:nvSpPr>
          <p:cNvPr id="4" name="矩形 3"/>
          <p:cNvSpPr>
            <a:spLocks noGrp="1"/>
          </p:cNvSpPr>
          <p:nvPr/>
        </p:nvSpPr>
        <p:spPr>
          <a:xfrm>
            <a:off x="781050" y="2647950"/>
            <a:ext cx="9982200" cy="10668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3300" b="1">
                <a:solidFill>
                  <a:srgbClr val="FFFFFF"/>
                </a:solidFill>
                <a:latin typeface="Lato"/>
                <a:ea typeface="Lato"/>
                <a:cs typeface="Lato"/>
              </a:defRPr>
            </a:pPr>
            <a:r>
              <a:rPr sz="3300" b="1">
                <a:solidFill>
                  <a:srgbClr val="FFFFFF"/>
                </a:solidFill>
                <a:latin typeface="Lato"/>
                <a:ea typeface="Lato"/>
                <a:cs typeface="Lato"/>
              </a:rPr>
              <a:t>End of the teacher briefing: start Lab A with one shared map</a:t>
            </a:r>
          </a:p>
        </p:txBody>
      </p:sp>
      <p:sp>
        <p:nvSpPr>
          <p:cNvPr id="5" name="矩形 4"/>
          <p:cNvSpPr>
            <a:spLocks noGrp="1"/>
          </p:cNvSpPr>
          <p:nvPr/>
        </p:nvSpPr>
        <p:spPr>
          <a:xfrm>
            <a:off x="8420100" y="400050"/>
            <a:ext cx="28194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825" b="1">
                <a:solidFill>
                  <a:srgbClr val="D8E6EF"/>
                </a:solidFill>
                <a:latin typeface="Lato"/>
                <a:ea typeface="Lato"/>
                <a:cs typeface="Lato"/>
              </a:defRPr>
            </a:pPr>
            <a:r>
              <a:rPr sz="825" b="1">
                <a:solidFill>
                  <a:srgbClr val="D8E6EF"/>
                </a:solidFill>
                <a:latin typeface="Lato"/>
                <a:ea typeface="Lato"/>
                <a:cs typeface="Lato"/>
              </a:rPr>
              <a:t>TEACHER CORE · 58–60 MIN</a:t>
            </a:r>
          </a:p>
        </p:txBody>
      </p:sp>
      <p:sp>
        <p:nvSpPr>
          <p:cNvPr id="6" name="矩形 5"/>
          <p:cNvSpPr>
            <a:spLocks noGrp="1"/>
          </p:cNvSpPr>
          <p:nvPr/>
        </p:nvSpPr>
        <p:spPr>
          <a:xfrm>
            <a:off x="8667750" y="647700"/>
            <a:ext cx="400050" cy="28575"/>
          </a:xfrm>
          <a:prstGeom prst="rect">
            <a:avLst/>
          </a:prstGeom>
          <a:solidFill>
            <a:srgbClr val="39825B"/>
          </a:solidFill>
          <a:ln w="9525">
            <a:solidFill>
              <a:srgbClr val="39825B"/>
            </a:solidFill>
            <a:prstDash val="solid"/>
          </a:ln>
        </p:spPr>
        <p:txBody>
          <a:bodyPr/>
          <a:lstStyle/>
          <a:p>
            <a:endParaRPr/>
          </a:p>
        </p:txBody>
      </p:sp>
      <p:sp>
        <p:nvSpPr>
          <p:cNvPr id="7" name="矩形 6"/>
          <p:cNvSpPr>
            <a:spLocks noGrp="1"/>
          </p:cNvSpPr>
          <p:nvPr/>
        </p:nvSpPr>
        <p:spPr>
          <a:xfrm>
            <a:off x="9163050" y="647700"/>
            <a:ext cx="400050" cy="28575"/>
          </a:xfrm>
          <a:prstGeom prst="rect">
            <a:avLst/>
          </a:prstGeom>
          <a:solidFill>
            <a:srgbClr val="39825B"/>
          </a:solidFill>
          <a:ln w="9525">
            <a:solidFill>
              <a:srgbClr val="39825B"/>
            </a:solidFill>
            <a:prstDash val="solid"/>
          </a:ln>
        </p:spPr>
        <p:txBody>
          <a:bodyPr/>
          <a:lstStyle/>
          <a:p>
            <a:endParaRPr/>
          </a:p>
        </p:txBody>
      </p:sp>
      <p:sp>
        <p:nvSpPr>
          <p:cNvPr id="8" name="矩形 7"/>
          <p:cNvSpPr>
            <a:spLocks noGrp="1"/>
          </p:cNvSpPr>
          <p:nvPr/>
        </p:nvSpPr>
        <p:spPr>
          <a:xfrm>
            <a:off x="9658350" y="647700"/>
            <a:ext cx="400050" cy="28575"/>
          </a:xfrm>
          <a:prstGeom prst="rect">
            <a:avLst/>
          </a:prstGeom>
          <a:solidFill>
            <a:srgbClr val="39825B"/>
          </a:solidFill>
          <a:ln w="9525">
            <a:solidFill>
              <a:srgbClr val="39825B"/>
            </a:solidFill>
            <a:prstDash val="solid"/>
          </a:ln>
        </p:spPr>
        <p:txBody>
          <a:bodyPr/>
          <a:lstStyle/>
          <a:p>
            <a:endParaRPr/>
          </a:p>
        </p:txBody>
      </p:sp>
      <p:sp>
        <p:nvSpPr>
          <p:cNvPr id="9" name="矩形 8"/>
          <p:cNvSpPr>
            <a:spLocks noGrp="1"/>
          </p:cNvSpPr>
          <p:nvPr/>
        </p:nvSpPr>
        <p:spPr>
          <a:xfrm>
            <a:off x="10153650" y="647700"/>
            <a:ext cx="400050" cy="28575"/>
          </a:xfrm>
          <a:prstGeom prst="rect">
            <a:avLst/>
          </a:prstGeom>
          <a:solidFill>
            <a:srgbClr val="39825B"/>
          </a:solidFill>
          <a:ln w="9525">
            <a:solidFill>
              <a:srgbClr val="39825B"/>
            </a:solidFill>
            <a:prstDash val="solid"/>
          </a:ln>
        </p:spPr>
        <p:txBody>
          <a:bodyPr/>
          <a:lstStyle/>
          <a:p>
            <a:endParaRPr/>
          </a:p>
        </p:txBody>
      </p:sp>
      <p:sp>
        <p:nvSpPr>
          <p:cNvPr id="10" name="矩形 9"/>
          <p:cNvSpPr>
            <a:spLocks noGrp="1"/>
          </p:cNvSpPr>
          <p:nvPr/>
        </p:nvSpPr>
        <p:spPr>
          <a:xfrm>
            <a:off x="10648950" y="647700"/>
            <a:ext cx="400050" cy="28575"/>
          </a:xfrm>
          <a:prstGeom prst="rect">
            <a:avLst/>
          </a:prstGeom>
          <a:solidFill>
            <a:srgbClr val="0070C0"/>
          </a:solidFill>
          <a:ln w="9525">
            <a:solidFill>
              <a:srgbClr val="0070C0"/>
            </a:solidFill>
            <a:prstDash val="solid"/>
          </a:ln>
        </p:spPr>
        <p:txBody>
          <a:bodyPr/>
          <a:lstStyle/>
          <a:p>
            <a:endParaRPr/>
          </a:p>
        </p:txBody>
      </p:sp>
      <p:sp>
        <p:nvSpPr>
          <p:cNvPr id="11" name="矩形 10"/>
          <p:cNvSpPr>
            <a:spLocks noGrp="1"/>
          </p:cNvSpPr>
          <p:nvPr/>
        </p:nvSpPr>
        <p:spPr>
          <a:xfrm>
            <a:off x="0" y="6305550"/>
            <a:ext cx="12192000" cy="552450"/>
          </a:xfrm>
          <a:prstGeom prst="rect">
            <a:avLst/>
          </a:prstGeom>
          <a:solidFill>
            <a:srgbClr val="003B74"/>
          </a:solidFill>
          <a:ln w="9525">
            <a:solidFill>
              <a:srgbClr val="003B74"/>
            </a:solidFill>
            <a:prstDash val="solid"/>
          </a:ln>
        </p:spPr>
        <p:txBody>
          <a:bodyPr/>
          <a:lstStyle/>
          <a:p>
            <a:endParaRPr/>
          </a:p>
        </p:txBody>
      </p:sp>
      <p:sp>
        <p:nvSpPr>
          <p:cNvPr id="12" name="矩形 11"/>
          <p:cNvSpPr>
            <a:spLocks noGrp="1"/>
          </p:cNvSpPr>
          <p:nvPr/>
        </p:nvSpPr>
        <p:spPr>
          <a:xfrm>
            <a:off x="400050" y="6438900"/>
            <a:ext cx="1162050" cy="1524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00" b="1">
                <a:solidFill>
                  <a:srgbClr val="FFFFFF"/>
                </a:solidFill>
                <a:latin typeface="Lato"/>
                <a:ea typeface="Lato"/>
                <a:cs typeface="Lato"/>
              </a:defRPr>
            </a:pPr>
            <a:r>
              <a:rPr sz="900" b="1">
                <a:solidFill>
                  <a:srgbClr val="FFFFFF"/>
                </a:solidFill>
                <a:latin typeface="Lato"/>
                <a:ea typeface="Lato"/>
                <a:cs typeface="Lato"/>
              </a:rPr>
              <a:t>HKUST(GZ)</a:t>
            </a:r>
          </a:p>
        </p:txBody>
      </p:sp>
      <p:sp>
        <p:nvSpPr>
          <p:cNvPr id="13" name="矩形 12"/>
          <p:cNvSpPr>
            <a:spLocks noGrp="1"/>
          </p:cNvSpPr>
          <p:nvPr/>
        </p:nvSpPr>
        <p:spPr>
          <a:xfrm>
            <a:off x="400050" y="6610350"/>
            <a:ext cx="2247900" cy="104775"/>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600" b="1">
                <a:solidFill>
                  <a:srgbClr val="D6E6F3"/>
                </a:solidFill>
                <a:latin typeface="Lato"/>
                <a:ea typeface="Lato"/>
                <a:cs typeface="Lato"/>
              </a:defRPr>
            </a:pPr>
            <a:r>
              <a:rPr sz="600" b="1">
                <a:solidFill>
                  <a:srgbClr val="D6E6F3"/>
                </a:solidFill>
                <a:latin typeface="Lato"/>
                <a:ea typeface="Lato"/>
                <a:cs typeface="Lato"/>
              </a:rPr>
              <a:t>DATA SCIENCE AND ANALYTICS THRUST</a:t>
            </a:r>
          </a:p>
        </p:txBody>
      </p:sp>
      <p:sp>
        <p:nvSpPr>
          <p:cNvPr id="14" name="矩形 13"/>
          <p:cNvSpPr>
            <a:spLocks noGrp="1"/>
          </p:cNvSpPr>
          <p:nvPr/>
        </p:nvSpPr>
        <p:spPr>
          <a:xfrm>
            <a:off x="11277600" y="6477000"/>
            <a:ext cx="495300" cy="2095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r">
              <a:buNone/>
              <a:defRPr sz="975" b="1">
                <a:solidFill>
                  <a:srgbClr val="FFFFFF"/>
                </a:solidFill>
                <a:latin typeface="Lato"/>
                <a:ea typeface="Lato"/>
                <a:cs typeface="Lato"/>
              </a:defRPr>
            </a:pPr>
            <a:r>
              <a:rPr sz="975" b="1">
                <a:solidFill>
                  <a:srgbClr val="FFFFFF"/>
                </a:solidFill>
                <a:latin typeface="Lato"/>
                <a:ea typeface="Lato"/>
                <a:cs typeface="Lato"/>
              </a:rPr>
              <a:t>44</a:t>
            </a:r>
          </a:p>
        </p:txBody>
      </p:sp>
      <p:sp>
        <p:nvSpPr>
          <p:cNvPr id="15" name="矩形 14"/>
          <p:cNvSpPr>
            <a:spLocks noGrp="1"/>
          </p:cNvSpPr>
          <p:nvPr/>
        </p:nvSpPr>
        <p:spPr>
          <a:xfrm>
            <a:off x="685800" y="3924300"/>
            <a:ext cx="9810750" cy="2857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725" b="0">
                <a:solidFill>
                  <a:srgbClr val="C5D4DE"/>
                </a:solidFill>
                <a:latin typeface="Lato"/>
                <a:ea typeface="Lato"/>
                <a:cs typeface="Lato"/>
              </a:defRPr>
            </a:pPr>
            <a:r>
              <a:rPr sz="1725" b="0">
                <a:solidFill>
                  <a:srgbClr val="C5D4DE"/>
                </a:solidFill>
                <a:latin typeface="Lato"/>
                <a:ea typeface="Lato"/>
                <a:cs typeface="Lato"/>
              </a:rPr>
              <a:t>You should now be able to explain the entire flow. Run it in the same order with the TAs:</a:t>
            </a:r>
          </a:p>
        </p:txBody>
      </p:sp>
      <p:sp>
        <p:nvSpPr>
          <p:cNvPr id="16" name="矩形 15"/>
          <p:cNvSpPr>
            <a:spLocks noGrp="1"/>
          </p:cNvSpPr>
          <p:nvPr/>
        </p:nvSpPr>
        <p:spPr>
          <a:xfrm>
            <a:off x="685800" y="4286250"/>
            <a:ext cx="10287000" cy="361950"/>
          </a:xfrm>
          <a:prstGeom prst="rect">
            <a:avLst/>
          </a:prstGeom>
          <a:solidFill>
            <a:srgbClr val="FFFFFF">
              <a:alpha val="0"/>
            </a:srgbClr>
          </a:solidFill>
          <a:ln w="0">
            <a:solidFill>
              <a:srgbClr val="000000">
                <a:alpha val="0"/>
              </a:srgbClr>
            </a:solidFill>
            <a:prstDash val="solid"/>
          </a:ln>
        </p:spPr>
        <p:txBody>
          <a:bodyPr lIns="0" tIns="0" rIns="0" bIns="0" anchor="t">
            <a:normAutofit fontScale="82454" lnSpcReduction="20000"/>
          </a:bodyPr>
          <a:lstStyle/>
          <a:p>
            <a:pPr algn="l">
              <a:buNone/>
              <a:defRPr sz="1875" b="1">
                <a:solidFill>
                  <a:srgbClr val="FFFFFF"/>
                </a:solidFill>
                <a:latin typeface="Lato"/>
                <a:ea typeface="Lato"/>
                <a:cs typeface="Lato"/>
              </a:defRPr>
            </a:pPr>
            <a:r>
              <a:rPr sz="1875" b="1">
                <a:solidFill>
                  <a:srgbClr val="FFFFFF"/>
                </a:solidFill>
                <a:latin typeface="Lato"/>
                <a:ea typeface="Lato"/>
                <a:cs typeface="Lato"/>
              </a:rPr>
              <a:t>Understand Requests  →  Track Page Numbers  →  Predict State  →  Explain Deployment  →  Verify each step in TA labs</a:t>
            </a:r>
          </a:p>
        </p:txBody>
      </p:sp>
      <p:sp>
        <p:nvSpPr>
          <p:cNvPr id="17" name="矩形 16"/>
          <p:cNvSpPr>
            <a:spLocks noGrp="1"/>
          </p:cNvSpPr>
          <p:nvPr/>
        </p:nvSpPr>
        <p:spPr>
          <a:xfrm>
            <a:off x="685800" y="4933950"/>
            <a:ext cx="10287000" cy="28575"/>
          </a:xfrm>
          <a:prstGeom prst="rect">
            <a:avLst/>
          </a:prstGeom>
          <a:solidFill>
            <a:srgbClr val="0070C0"/>
          </a:solidFill>
          <a:ln w="9525">
            <a:solidFill>
              <a:srgbClr val="0070C0"/>
            </a:solidFill>
            <a:prstDash val="solid"/>
          </a:ln>
        </p:spPr>
        <p:txBody>
          <a:bodyPr/>
          <a:lstStyle/>
          <a:p>
            <a:endParaRPr/>
          </a:p>
        </p:txBody>
      </p:sp>
      <p:sp>
        <p:nvSpPr>
          <p:cNvPr id="18" name="矩形 17"/>
          <p:cNvSpPr>
            <a:spLocks noGrp="1"/>
          </p:cNvSpPr>
          <p:nvPr/>
        </p:nvSpPr>
        <p:spPr>
          <a:xfrm>
            <a:off x="685800" y="5181600"/>
            <a:ext cx="9810750" cy="4953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500" b="1">
                <a:solidFill>
                  <a:srgbClr val="72AD47"/>
                </a:solidFill>
                <a:latin typeface="Lato"/>
                <a:ea typeface="Lato"/>
                <a:cs typeface="Lato"/>
              </a:defRPr>
            </a:pPr>
            <a:r>
              <a:rPr sz="1500" b="1">
                <a:solidFill>
                  <a:srgbClr val="D8F5DF"/>
                </a:solidFill>
                <a:latin typeface="Lato"/>
                <a:ea typeface="Lato"/>
                <a:cs typeface="Lato"/>
              </a:rPr>
              <a:t>Prove it with real evidence in the TA labs. After the shared questions work, try another document.</a:t>
            </a:r>
          </a:p>
          <a:p>
            <a:pPr algn="l">
              <a:buNone/>
              <a:defRPr sz="1500" b="1">
                <a:solidFill>
                  <a:srgbClr val="72AD47"/>
                </a:solidFill>
                <a:latin typeface="Lato"/>
                <a:ea typeface="Lato"/>
                <a:cs typeface="Lato"/>
              </a:defRPr>
            </a:pPr>
            <a:r>
              <a:rPr sz="1500" b="1">
                <a:solidFill>
                  <a:srgbClr val="D8F5DF"/>
                </a:solidFill>
                <a:latin typeface="Lato"/>
                <a:ea typeface="Lato"/>
                <a:cs typeface="Lato"/>
              </a:rPr>
              <a:t>If blocked, record the first clue; never mark an outcome as complete if it did not happen.</a:t>
            </a:r>
          </a:p>
        </p:txBody>
      </p:sp>
      <p:sp>
        <p:nvSpPr>
          <p:cNvPr id="19" name="矩形 18"/>
          <p:cNvSpPr>
            <a:spLocks noGrp="1"/>
          </p:cNvSpPr>
          <p:nvPr/>
        </p:nvSpPr>
        <p:spPr>
          <a:xfrm>
            <a:off x="685800" y="5753100"/>
            <a:ext cx="9334500" cy="22860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1275" b="0">
                <a:solidFill>
                  <a:srgbClr val="BFD1DC"/>
                </a:solidFill>
                <a:latin typeface="Lato"/>
                <a:ea typeface="Lato"/>
                <a:cs typeface="Lato"/>
              </a:defRPr>
            </a:pPr>
            <a:r>
              <a:rPr sz="1275" b="0">
                <a:solidFill>
                  <a:srgbClr val="BFD1DC"/>
                </a:solidFill>
                <a:latin typeface="Lato"/>
                <a:ea typeface="Lato"/>
                <a:cs typeface="Lato"/>
              </a:rPr>
              <a:t>Tomorrow: use chunking, embeddings, and FAISS so the system retrieves before answering.</a:t>
            </a:r>
          </a:p>
        </p:txBody>
      </p:sp>
      <p:sp>
        <p:nvSpPr>
          <p:cNvPr id="20" name="矩形 19"/>
          <p:cNvSpPr>
            <a:spLocks noGrp="1"/>
          </p:cNvSpPr>
          <p:nvPr/>
        </p:nvSpPr>
        <p:spPr>
          <a:xfrm>
            <a:off x="685800" y="6057900"/>
            <a:ext cx="7239000" cy="171450"/>
          </a:xfrm>
          <a:prstGeom prst="rect">
            <a:avLst/>
          </a:prstGeom>
          <a:solidFill>
            <a:srgbClr val="FFFFFF">
              <a:alpha val="0"/>
            </a:srgbClr>
          </a:solidFill>
          <a:ln w="0">
            <a:solidFill>
              <a:srgbClr val="000000">
                <a:alpha val="0"/>
              </a:srgbClr>
            </a:solidFill>
            <a:prstDash val="solid"/>
          </a:ln>
        </p:spPr>
        <p:txBody>
          <a:bodyPr lIns="0" tIns="0" rIns="0" bIns="0" anchor="t">
            <a:normAutofit/>
          </a:bodyPr>
          <a:lstStyle/>
          <a:p>
            <a:pPr algn="l">
              <a:buNone/>
              <a:defRPr sz="975" b="0">
                <a:solidFill>
                  <a:srgbClr val="89A6B8"/>
                </a:solidFill>
                <a:latin typeface="Lato"/>
                <a:ea typeface="Lato"/>
                <a:cs typeface="Lato"/>
              </a:defRPr>
            </a:pPr>
            <a:r>
              <a:rPr sz="975" b="0">
                <a:solidFill>
                  <a:srgbClr val="89A6B8"/>
                </a:solidFill>
                <a:latin typeface="Lato"/>
                <a:ea typeface="Lato"/>
                <a:cs typeface="Lato"/>
              </a:rPr>
              <a:t>Yao SHU · AI Thrust, The Hong Kong University of Science and Technology (Guangzhou)</a:t>
            </a:r>
          </a:p>
        </p:txBody>
      </p:sp>
      <p:sp>
        <p:nvSpPr>
          <p:cNvPr id="22" name="矩形 21"/>
          <p:cNvSpPr>
            <a:spLocks noGrp="1"/>
          </p:cNvSpPr>
          <p:nvPr/>
        </p:nvSpPr>
        <p:spPr>
          <a:xfrm>
            <a:off x="0" y="1028700"/>
            <a:ext cx="12192000" cy="5276850"/>
          </a:xfrm>
          <a:prstGeom prst="rect">
            <a:avLst/>
          </a:prstGeom>
          <a:solidFill>
            <a:srgbClr val="084579"/>
          </a:solidFill>
          <a:ln w="0">
            <a:solidFill>
              <a:srgbClr val="084579"/>
            </a:solidFill>
            <a:prstDash val="solid"/>
          </a:ln>
        </p:spPr>
        <p:txBody>
          <a:bodyPr/>
          <a:lstStyle/>
          <a:p>
            <a:endParaRPr lang="zh-CN" altLang="en-US"/>
          </a:p>
        </p:txBody>
      </p:sp>
      <p:sp>
        <p:nvSpPr>
          <p:cNvPr id="23" name="矩形 22"/>
          <p:cNvSpPr>
            <a:spLocks noGrp="1"/>
          </p:cNvSpPr>
          <p:nvPr/>
        </p:nvSpPr>
        <p:spPr>
          <a:xfrm>
            <a:off x="781050" y="1295400"/>
            <a:ext cx="3714750" cy="2667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l">
              <a:buNone/>
              <a:defRPr sz="1200" b="1">
                <a:solidFill>
                  <a:srgbClr val="B9D7F0"/>
                </a:solidFill>
                <a:latin typeface="Aptos"/>
                <a:ea typeface="Aptos"/>
                <a:cs typeface="Aptos"/>
              </a:defRPr>
            </a:pPr>
            <a:r>
              <a:rPr sz="1200" b="1">
                <a:solidFill>
                  <a:srgbClr val="B9D7F0"/>
                </a:solidFill>
                <a:latin typeface="Aptos"/>
                <a:ea typeface="Aptos"/>
                <a:cs typeface="Aptos"/>
              </a:rPr>
              <a:t>TEACHER → TA HANDOFF</a:t>
            </a:r>
          </a:p>
        </p:txBody>
      </p:sp>
      <p:sp>
        <p:nvSpPr>
          <p:cNvPr id="24" name="矩形 23"/>
          <p:cNvSpPr>
            <a:spLocks noGrp="1"/>
          </p:cNvSpPr>
          <p:nvPr/>
        </p:nvSpPr>
        <p:spPr>
          <a:xfrm>
            <a:off x="781050" y="1676400"/>
            <a:ext cx="4191000" cy="704850"/>
          </a:xfrm>
          <a:prstGeom prst="rect">
            <a:avLst/>
          </a:prstGeom>
          <a:solidFill>
            <a:srgbClr val="FFFFFF">
              <a:alpha val="0"/>
            </a:srgbClr>
          </a:solidFill>
          <a:ln w="0">
            <a:solidFill>
              <a:srgbClr val="FFFFFF">
                <a:alpha val="0"/>
              </a:srgbClr>
            </a:solidFill>
            <a:prstDash val="solid"/>
          </a:ln>
        </p:spPr>
        <p:txBody>
          <a:bodyPr lIns="0" tIns="0" rIns="0" bIns="0" anchor="t">
            <a:normAutofit fontScale="86079"/>
          </a:bodyPr>
          <a:lstStyle/>
          <a:p>
            <a:pPr algn="l">
              <a:buNone/>
              <a:defRPr sz="3000" b="1">
                <a:solidFill>
                  <a:srgbClr val="FFFFFF"/>
                </a:solidFill>
                <a:latin typeface="Aptos"/>
                <a:ea typeface="Aptos"/>
                <a:cs typeface="Aptos"/>
              </a:defRPr>
            </a:pPr>
            <a:r>
              <a:rPr sz="3000" b="1">
                <a:solidFill>
                  <a:srgbClr val="FFFFFF"/>
                </a:solidFill>
                <a:latin typeface="Aptos"/>
                <a:ea typeface="Aptos"/>
                <a:cs typeface="Aptos"/>
              </a:rPr>
              <a:t>One shared map is enough</a:t>
            </a:r>
          </a:p>
        </p:txBody>
      </p:sp>
      <p:sp>
        <p:nvSpPr>
          <p:cNvPr id="25" name="矩形 24"/>
          <p:cNvSpPr>
            <a:spLocks noGrp="1"/>
          </p:cNvSpPr>
          <p:nvPr/>
        </p:nvSpPr>
        <p:spPr>
          <a:xfrm>
            <a:off x="781050" y="2552700"/>
            <a:ext cx="4267200" cy="876300"/>
          </a:xfrm>
          <a:prstGeom prst="rect">
            <a:avLst/>
          </a:prstGeom>
          <a:solidFill>
            <a:srgbClr val="FFFFFF">
              <a:alpha val="0"/>
            </a:srgbClr>
          </a:solidFill>
          <a:ln w="0">
            <a:solidFill>
              <a:srgbClr val="FFFFFF">
                <a:alpha val="0"/>
              </a:srgbClr>
            </a:solidFill>
            <a:prstDash val="solid"/>
          </a:ln>
        </p:spPr>
        <p:txBody>
          <a:bodyPr lIns="0" tIns="0" rIns="0" bIns="0" anchor="t">
            <a:normAutofit/>
          </a:bodyPr>
          <a:lstStyle/>
          <a:p>
            <a:pPr algn="l">
              <a:buNone/>
              <a:defRPr sz="1725" b="1">
                <a:solidFill>
                  <a:srgbClr val="FFFFFF"/>
                </a:solidFill>
                <a:latin typeface="Aptos"/>
                <a:ea typeface="Aptos"/>
                <a:cs typeface="Aptos"/>
              </a:defRPr>
            </a:pPr>
            <a:r>
              <a:rPr sz="1725" b="1">
                <a:solidFill>
                  <a:srgbClr val="FFFFFF"/>
                </a:solidFill>
                <a:latin typeface="Aptos"/>
                <a:ea typeface="Aptos"/>
                <a:cs typeface="Aptos"/>
              </a:rPr>
              <a:t>Upload → ask → verify the page → see the state → deploy → peer test</a:t>
            </a:r>
          </a:p>
        </p:txBody>
      </p:sp>
      <p:sp>
        <p:nvSpPr>
          <p:cNvPr id="26" name="圆角矩形 25"/>
          <p:cNvSpPr>
            <a:spLocks noGrp="1"/>
          </p:cNvSpPr>
          <p:nvPr/>
        </p:nvSpPr>
        <p:spPr>
          <a:xfrm>
            <a:off x="5219700" y="1257300"/>
            <a:ext cx="6019800" cy="3143250"/>
          </a:xfrm>
          <a:prstGeom prst="roundRect">
            <a:avLst>
              <a:gd name="adj" fmla="val 2424"/>
            </a:avLst>
          </a:prstGeom>
          <a:solidFill>
            <a:srgbClr val="FFFFFF"/>
          </a:solidFill>
          <a:ln w="0">
            <a:solidFill>
              <a:srgbClr val="FFFFFF"/>
            </a:solidFill>
            <a:prstDash val="solid"/>
          </a:ln>
        </p:spPr>
        <p:txBody>
          <a:bodyPr/>
          <a:lstStyle/>
          <a:p>
            <a:endParaRPr lang="zh-CN" altLang="en-US"/>
          </a:p>
        </p:txBody>
      </p:sp>
      <p:pic>
        <p:nvPicPr>
          <p:cNvPr id="63" name="图片 62"/>
          <p:cNvPicPr>
            <a:picLocks noChangeAspect="1"/>
          </p:cNvPicPr>
          <p:nvPr/>
        </p:nvPicPr>
        <p:blipFill>
          <a:blip r:embed="rId3"/>
          <a:stretch>
            <a:fillRect/>
          </a:stretch>
        </p:blipFill>
        <p:spPr>
          <a:xfrm>
            <a:off x="5437085" y="1257300"/>
            <a:ext cx="5585031" cy="3143250"/>
          </a:xfrm>
          <a:prstGeom prst="rect">
            <a:avLst/>
          </a:prstGeom>
        </p:spPr>
      </p:pic>
      <p:sp>
        <p:nvSpPr>
          <p:cNvPr id="28" name="圆角矩形 27"/>
          <p:cNvSpPr>
            <a:spLocks noGrp="1"/>
          </p:cNvSpPr>
          <p:nvPr/>
        </p:nvSpPr>
        <p:spPr>
          <a:xfrm>
            <a:off x="781050" y="4686300"/>
            <a:ext cx="10458450" cy="419100"/>
          </a:xfrm>
          <a:prstGeom prst="roundRect">
            <a:avLst>
              <a:gd name="adj" fmla="val 18182"/>
            </a:avLst>
          </a:prstGeom>
          <a:solidFill>
            <a:srgbClr val="3A8B61"/>
          </a:solidFill>
          <a:ln w="10478">
            <a:solidFill>
              <a:srgbClr val="3A8B61"/>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Start Lab A now</a:t>
            </a:r>
          </a:p>
        </p:txBody>
      </p:sp>
      <p:sp>
        <p:nvSpPr>
          <p:cNvPr id="29" name="矩形 28"/>
          <p:cNvSpPr>
            <a:spLocks noGrp="1"/>
          </p:cNvSpPr>
          <p:nvPr/>
        </p:nvSpPr>
        <p:spPr>
          <a:xfrm>
            <a:off x="781050" y="5162550"/>
            <a:ext cx="10458450" cy="40005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500" b="1">
                <a:solidFill>
                  <a:srgbClr val="FFFFFF"/>
                </a:solidFill>
                <a:latin typeface="Aptos"/>
                <a:ea typeface="Aptos"/>
                <a:cs typeface="Aptos"/>
              </a:defRPr>
            </a:pPr>
            <a:r>
              <a:rPr sz="1500" b="1">
                <a:solidFill>
                  <a:srgbClr val="FFFFFF"/>
                </a:solidFill>
                <a:latin typeface="Aptos"/>
                <a:ea typeface="Aptos"/>
                <a:cs typeface="Aptos"/>
              </a:rPr>
              <a:t>Open your fork → run /health → keep chat_id = day2-demo</a:t>
            </a:r>
          </a:p>
        </p:txBody>
      </p:sp>
      <p:sp>
        <p:nvSpPr>
          <p:cNvPr id="30" name="圆角矩形 29"/>
          <p:cNvSpPr>
            <a:spLocks noGrp="1"/>
          </p:cNvSpPr>
          <p:nvPr/>
        </p:nvSpPr>
        <p:spPr>
          <a:xfrm>
            <a:off x="781050" y="5734050"/>
            <a:ext cx="2305050" cy="361950"/>
          </a:xfrm>
          <a:prstGeom prst="roundRect">
            <a:avLst>
              <a:gd name="adj" fmla="val 21053"/>
            </a:avLst>
          </a:prstGeom>
          <a:solidFill>
            <a:srgbClr val="F59E0B"/>
          </a:solidFill>
          <a:ln w="10478">
            <a:solidFill>
              <a:srgbClr val="F59E0B"/>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Request</a:t>
            </a:r>
          </a:p>
        </p:txBody>
      </p:sp>
      <p:sp>
        <p:nvSpPr>
          <p:cNvPr id="31" name="矩形 30"/>
          <p:cNvSpPr>
            <a:spLocks noGrp="1"/>
          </p:cNvSpPr>
          <p:nvPr/>
        </p:nvSpPr>
        <p:spPr>
          <a:xfrm>
            <a:off x="3124200" y="57626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a:t>
            </a:r>
          </a:p>
        </p:txBody>
      </p:sp>
      <p:sp>
        <p:nvSpPr>
          <p:cNvPr id="32" name="圆角矩形 31"/>
          <p:cNvSpPr>
            <a:spLocks noGrp="1"/>
          </p:cNvSpPr>
          <p:nvPr/>
        </p:nvSpPr>
        <p:spPr>
          <a:xfrm>
            <a:off x="3429000" y="5734050"/>
            <a:ext cx="2305050" cy="361950"/>
          </a:xfrm>
          <a:prstGeom prst="roundRect">
            <a:avLst>
              <a:gd name="adj" fmla="val 21053"/>
            </a:avLst>
          </a:prstGeom>
          <a:solidFill>
            <a:srgbClr val="00A7A0"/>
          </a:solidFill>
          <a:ln w="10478">
            <a:solidFill>
              <a:srgbClr val="00A7A0"/>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Evidence</a:t>
            </a:r>
          </a:p>
        </p:txBody>
      </p:sp>
      <p:sp>
        <p:nvSpPr>
          <p:cNvPr id="33" name="矩形 32"/>
          <p:cNvSpPr>
            <a:spLocks noGrp="1"/>
          </p:cNvSpPr>
          <p:nvPr/>
        </p:nvSpPr>
        <p:spPr>
          <a:xfrm>
            <a:off x="5772150" y="57626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a:t>
            </a:r>
          </a:p>
        </p:txBody>
      </p:sp>
      <p:sp>
        <p:nvSpPr>
          <p:cNvPr id="34" name="圆角矩形 33"/>
          <p:cNvSpPr>
            <a:spLocks noGrp="1"/>
          </p:cNvSpPr>
          <p:nvPr/>
        </p:nvSpPr>
        <p:spPr>
          <a:xfrm>
            <a:off x="6076950" y="5734050"/>
            <a:ext cx="2305050" cy="361950"/>
          </a:xfrm>
          <a:prstGeom prst="roundRect">
            <a:avLst>
              <a:gd name="adj" fmla="val 21053"/>
            </a:avLst>
          </a:prstGeom>
          <a:solidFill>
            <a:srgbClr val="7557C8"/>
          </a:solidFill>
          <a:ln w="10478">
            <a:solidFill>
              <a:srgbClr val="7557C8"/>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React state</a:t>
            </a:r>
          </a:p>
        </p:txBody>
      </p:sp>
      <p:sp>
        <p:nvSpPr>
          <p:cNvPr id="35" name="矩形 34"/>
          <p:cNvSpPr>
            <a:spLocks noGrp="1"/>
          </p:cNvSpPr>
          <p:nvPr/>
        </p:nvSpPr>
        <p:spPr>
          <a:xfrm>
            <a:off x="8420100" y="5762625"/>
            <a:ext cx="266700" cy="304800"/>
          </a:xfrm>
          <a:prstGeom prst="rect">
            <a:avLst/>
          </a:prstGeom>
          <a:solidFill>
            <a:srgbClr val="FFFFFF">
              <a:alpha val="0"/>
            </a:srgbClr>
          </a:solidFill>
          <a:ln w="0">
            <a:solidFill>
              <a:srgbClr val="FFFFFF">
                <a:alpha val="0"/>
              </a:srgbClr>
            </a:solidFill>
            <a:prstDash val="solid"/>
          </a:ln>
        </p:spPr>
        <p:txBody>
          <a:bodyPr lIns="0" tIns="0" rIns="0" bIns="0" anchor="ctr">
            <a:normAutofit/>
          </a:bodyPr>
          <a:lstStyle/>
          <a:p>
            <a:pPr algn="ctr">
              <a:buNone/>
              <a:defRPr sz="1650" b="1">
                <a:solidFill>
                  <a:srgbClr val="FFFFFF"/>
                </a:solidFill>
                <a:latin typeface="Aptos"/>
                <a:ea typeface="Aptos"/>
                <a:cs typeface="Aptos"/>
              </a:defRPr>
            </a:pPr>
            <a:r>
              <a:rPr sz="1650" b="1">
                <a:solidFill>
                  <a:srgbClr val="FFFFFF"/>
                </a:solidFill>
                <a:latin typeface="Aptos"/>
                <a:ea typeface="Aptos"/>
                <a:cs typeface="Aptos"/>
              </a:rPr>
              <a:t>→</a:t>
            </a:r>
          </a:p>
        </p:txBody>
      </p:sp>
      <p:sp>
        <p:nvSpPr>
          <p:cNvPr id="36" name="圆角矩形 35"/>
          <p:cNvSpPr>
            <a:spLocks noGrp="1"/>
          </p:cNvSpPr>
          <p:nvPr/>
        </p:nvSpPr>
        <p:spPr>
          <a:xfrm>
            <a:off x="8724900" y="5734050"/>
            <a:ext cx="2305050" cy="361950"/>
          </a:xfrm>
          <a:prstGeom prst="roundRect">
            <a:avLst>
              <a:gd name="adj" fmla="val 21053"/>
            </a:avLst>
          </a:prstGeom>
          <a:solidFill>
            <a:srgbClr val="3A8B61"/>
          </a:solidFill>
          <a:ln w="10478">
            <a:solidFill>
              <a:srgbClr val="3A8B61"/>
            </a:solidFill>
            <a:prstDash val="solid"/>
          </a:ln>
        </p:spPr>
        <p:txBody>
          <a:bodyPr lIns="57150" tIns="57150" rIns="57150" bIns="57150" anchor="ctr">
            <a:normAutofit/>
          </a:bodyPr>
          <a:lstStyle/>
          <a:p>
            <a:pPr algn="ctr">
              <a:buNone/>
              <a:defRPr sz="1200" b="1">
                <a:solidFill>
                  <a:srgbClr val="FFFFFF"/>
                </a:solidFill>
                <a:latin typeface="Aptos"/>
                <a:ea typeface="Aptos"/>
                <a:cs typeface="Aptos"/>
              </a:defRPr>
            </a:pPr>
            <a:r>
              <a:rPr sz="1200" b="1">
                <a:solidFill>
                  <a:srgbClr val="FFFFFF"/>
                </a:solidFill>
                <a:latin typeface="Aptos"/>
                <a:ea typeface="Aptos"/>
                <a:cs typeface="Aptos"/>
              </a:rPr>
              <a:t>Delivery</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13540</Words>
  <Application>Microsoft Macintosh PowerPoint</Application>
  <PresentationFormat>宽屏</PresentationFormat>
  <Paragraphs>1410</Paragraphs>
  <Slides>44</Slides>
  <Notes>44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44</vt:i4>
      </vt:variant>
    </vt:vector>
  </HeadingPairs>
  <TitlesOfParts>
    <vt:vector size="50" baseType="lpstr">
      <vt:lpstr>Aptos</vt:lpstr>
      <vt:lpstr>Calibri</vt:lpstr>
      <vt:lpstr>Consolas</vt:lpstr>
      <vt:lpstr>Lato</vt:lpstr>
      <vt:lpstr>Monaco</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HaoLiu</cp:lastModifiedBy>
  <cp:revision>2</cp:revision>
  <dcterms:created xsi:type="dcterms:W3CDTF">2026-07-23T08:22:45Z</dcterms:created>
  <dcterms:modified xsi:type="dcterms:W3CDTF">2026-07-27T02:34:02Z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86A520E602AF147455CF616A5B953506_43</vt:lpwstr>
  </property>
  <property fmtid="{D5CDD505-2E9C-101B-9397-08002B2CF9AE}" pid="3" name="KSOProductBuildVer">
    <vt:lpwstr>2052-12.1.24031.24031</vt:lpwstr>
  </property>
</Properties>
</file>